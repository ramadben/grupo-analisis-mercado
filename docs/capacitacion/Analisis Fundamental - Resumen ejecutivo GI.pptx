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00DC82"/>
                </a:solidFill>
                <a:latin typeface="Segoe UI"/>
              </a:rPr>
              <a:t>RESUMEN EJECUTIVO · EQUIPO COMERCIAL E 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Análisis
Fundamental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611880"/>
            <a:ext cx="1463040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A9A5B4"/>
                </a:solidFill>
                <a:latin typeface="Segoe UI"/>
              </a:rPr>
              <a:t>Lo esencial en 19 láminas: cómo leer un dato económico y </a:t>
            </a:r>
            <a:r>
              <a:rPr sz="1600" b="1">
                <a:solidFill>
                  <a:srgbClr val="FFFFFF"/>
                </a:solidFill>
                <a:latin typeface="Segoe UI"/>
              </a:rPr>
              <a:t>qué debería hacer el precio</a:t>
            </a:r>
            <a:r>
              <a:rPr sz="1600" b="0">
                <a:solidFill>
                  <a:srgbClr val="A9A5B4"/>
                </a:solidFill>
                <a:latin typeface="Segoe UI"/>
              </a:rPr>
              <a:t>. Versión corta de la capacitación completa.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590288"/>
            <a:ext cx="10874959" cy="12700"/>
          </a:xfrm>
          <a:prstGeom prst="rect">
            <a:avLst/>
          </a:prstGeom>
          <a:solidFill>
            <a:srgbClr val="1E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i_retrato_WhatsApp Image 2026-07-02 at 20.34.23_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64608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5065776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ELABORADO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528523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Benjamín Ignacio Bravo Soza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5559552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9A5B4"/>
                </a:solidFill>
                <a:latin typeface="Segoe UI"/>
              </a:rPr>
              <a:t>Ingeniero en Finanzas · Diplomado en Gestión de Riesgos bajo estándar PMI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751576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9A5B4"/>
                </a:solidFill>
                <a:latin typeface="Segoe UI"/>
              </a:rPr>
              <a:t>Operador Acreditado CMV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94360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9A5B4"/>
                </a:solidFill>
                <a:latin typeface="Segoe UI"/>
              </a:rPr>
              <a:t>Área de Estudios y Post-Venta · Grupo de Análisis de Mercado — 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5065776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FECHA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8" y="526694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31 de julio de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563270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NATURALEZA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583387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Material educativo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Qué te llevas, y qué 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Esta versión es un tercio del material completo. Conviene saber </a:t>
            </a:r>
            <a:r>
              <a:rPr sz="1350" b="1">
                <a:solidFill>
                  <a:srgbClr val="00DC82"/>
                </a:solidFill>
                <a:latin typeface="Segoe UI"/>
              </a:rPr>
              <a:t>exactamente</a:t>
            </a:r>
            <a:r>
              <a:rPr sz="1350" b="0">
                <a:solidFill>
                  <a:srgbClr val="A9A5B4"/>
                </a:solidFill>
                <a:latin typeface="Segoe UI"/>
              </a:rPr>
              <a:t> qué se dejó fuera.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✓ El mecanismo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Por qué se mueve el precio cuando sale un dato, de principio a fin. Es lo único que no se puede recortar.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✓ Los indicadores que mandan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Inflación, empleo y actividad en Estados Unidos; los cuatro que mueven el dólar en Chile.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✓ Qué debería hacer cada activo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06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Una tabla de síntesis para el dólar, el oro, el Nasdaq y el USD/CLP.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✓ Cómo decírselo al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La estructura de tres líneas y el límite entre explicar y recomendar.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✗ La caja de herramientas conceptual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Efecto base, ajuste estacional, revisiones, índices de difusión. Sin eso </a:t>
            </a:r>
            <a:r>
              <a:rPr sz="1250" b="1">
                <a:solidFill>
                  <a:srgbClr val="00DC82"/>
                </a:solidFill>
                <a:latin typeface="Segoe UI"/>
              </a:rPr>
              <a:t>no vas a poder leer un dato que no esté acá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✗ El detalle de cada indicador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4306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Cómo se construye, qué deja fuera y sus sub-lecturas. Y los complementarios: vacantes, ADP, confianza, bienes durables.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7947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147947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429425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DÓNDE ESTÁ LO QUE FALTA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86859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En la capacitación completa, de 55 láminas, y en la guía rápida de consulta. Este resumen sirve para </a:t>
            </a:r>
            <a:r>
              <a:rPr sz="1250" b="1">
                <a:solidFill>
                  <a:srgbClr val="FFFFFF"/>
                </a:solidFill>
                <a:latin typeface="Segoe UI"/>
              </a:rPr>
              <a:t>entender el mecanismo</a:t>
            </a:r>
            <a:r>
              <a:rPr sz="1250" b="0">
                <a:solidFill>
                  <a:srgbClr val="A9A5B4"/>
                </a:solidFill>
                <a:latin typeface="Segoe UI"/>
              </a:rPr>
              <a:t>; para </a:t>
            </a:r>
            <a:r>
              <a:rPr sz="1250" b="1">
                <a:solidFill>
                  <a:srgbClr val="FFFFFF"/>
                </a:solidFill>
                <a:latin typeface="Segoe UI"/>
              </a:rPr>
              <a:t>resolver un caso nuevo</a:t>
            </a:r>
            <a:r>
              <a:rPr sz="1250" b="0">
                <a:solidFill>
                  <a:srgbClr val="A9A5B4"/>
                </a:solidFill>
                <a:latin typeface="Segoe UI"/>
              </a:rPr>
              <a:t> hace falta el material completo. Cuando aparezca una duda que este documento no cubra, la respuesta está en el área.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 única regla que hay que memorizar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Si te quedas con una sola idea de toda la capacitación, que sea esta. Todo lo demás se deduce.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20755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CIFRA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3088538" cy="1138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valor de la publicación pasada.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Sirve para ver la </a:t>
            </a:r>
            <a:r>
              <a:rPr sz="1150" b="1">
                <a:solidFill>
                  <a:srgbClr val="A9A5B4"/>
                </a:solidFill>
                <a:latin typeface="Segoe UI"/>
              </a:rPr>
              <a:t>tendencia</a:t>
            </a:r>
            <a:r>
              <a:rPr sz="1150" b="0">
                <a:solidFill>
                  <a:srgbClr val="A9A5B4"/>
                </a:solidFill>
                <a:latin typeface="Segoe UI"/>
              </a:rPr>
              <a:t>: si el dato viene acelerando o desacelerando.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20755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CIFRA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Esperado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88489"/>
            <a:ext cx="3088538" cy="1138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Lo que el mercado creía que iba a salir.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Ya está incorporado en el precio.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el dato sale igual al esperado, en teoría no debería pasar nada.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20755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CIFRA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Efectivo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388489"/>
            <a:ext cx="3088538" cy="1138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Lo que realmente salió.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Por sí solo no dice nada: solo significa algo </a:t>
            </a:r>
            <a:r>
              <a:rPr sz="1150" b="1">
                <a:solidFill>
                  <a:srgbClr val="00DC82"/>
                </a:solidFill>
                <a:latin typeface="Segoe UI"/>
              </a:rPr>
              <a:t>comparado con el esperado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La resta entre ambos es </a:t>
            </a:r>
            <a:r>
              <a:rPr sz="1150" b="1">
                <a:solidFill>
                  <a:srgbClr val="00DC82"/>
                </a:solidFill>
                <a:latin typeface="Segoe UI"/>
              </a:rPr>
              <a:t>la sorpresa</a:t>
            </a:r>
            <a:r>
              <a:rPr sz="1150" b="0">
                <a:solidFill>
                  <a:srgbClr val="A9A5B4"/>
                </a:solidFill>
                <a:latin typeface="Segoe UI"/>
              </a:rPr>
              <a:t>, y es lo único que mueve el precio.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9255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389255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03885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CONSECUENCIA QUE DESCOLOCA A TODOS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3146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Un número «bueno» puede hacer </a:t>
            </a:r>
            <a:r>
              <a:rPr sz="1200" b="1">
                <a:solidFill>
                  <a:srgbClr val="FFFFFF"/>
                </a:solidFill>
                <a:latin typeface="Segoe UI"/>
              </a:rPr>
              <a:t>caer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precio y uno «malo» puede hacerlo </a:t>
            </a:r>
            <a:r>
              <a:rPr sz="1200" b="1">
                <a:solidFill>
                  <a:srgbClr val="FFFFFF"/>
                </a:solidFill>
                <a:latin typeface="Segoe UI"/>
              </a:rPr>
              <a:t>subir</a:t>
            </a:r>
            <a:r>
              <a:rPr sz="1200" b="0">
                <a:solidFill>
                  <a:srgbClr val="A9A5B4"/>
                </a:solidFill>
                <a:latin typeface="Segoe UI"/>
              </a:rPr>
              <a:t>. Si se esperaba un crecimiento de 4% y sale 2%, el 2% es buen número pero </a:t>
            </a:r>
            <a:r>
              <a:rPr sz="1200" b="1">
                <a:solidFill>
                  <a:srgbClr val="FFFFFF"/>
                </a:solidFill>
                <a:latin typeface="Segoe UI"/>
              </a:rPr>
              <a:t>es una decepción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. El mercado no premia buenos resultados: premia sorpresas.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 cadena de transmisión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camino que recorre </a:t>
            </a:r>
            <a:r>
              <a:rPr sz="1350" b="1">
                <a:solidFill>
                  <a:srgbClr val="00DC82"/>
                </a:solidFill>
                <a:latin typeface="Segoe UI"/>
              </a:rPr>
              <a:t>todo</a:t>
            </a:r>
            <a:r>
              <a:rPr sz="1350" b="0">
                <a:solidFill>
                  <a:srgbClr val="A9A5B4"/>
                </a:solidFill>
                <a:latin typeface="Segoe UI"/>
              </a:rPr>
              <a:t> dato de Estados Unidos hasta llegar al precio de lo que operamos.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1 · Sale el dato y se compara con el consenso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Nace la sorpresa. Sin sorpresa, la cadena no arranca.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658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201799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2 · Cambia la expectativa sobre la tasa de interés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38273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mercado recalcula: </a:t>
            </a:r>
            <a:r>
              <a:rPr sz="1250" b="1">
                <a:solidFill>
                  <a:srgbClr val="00DC82"/>
                </a:solidFill>
                <a:latin typeface="Segoe UI"/>
              </a:rPr>
              <a:t>¿esto hace más o menos probable que la Reserva Federal baje la tasa?</a:t>
            </a:r>
            <a:r>
              <a:rPr sz="1250" b="0">
                <a:solidFill>
                  <a:srgbClr val="A9A5B4"/>
                </a:solidFill>
                <a:latin typeface="Segoe UI"/>
              </a:rPr>
              <a:t> Acá se decide todo lo que sigue.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517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787777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3 · Se mueve el rendimiento de los bonos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24251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se espera tasa alta por más tiempo, el rendimiento sube. Los bonos son el termómetro de esa expectativa.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37763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373755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4 · Se mueve el dólar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0229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Rendimiento más alto = tener dólares paga más = entra capital y </a:t>
            </a:r>
            <a:r>
              <a:rPr sz="1250" b="1">
                <a:solidFill>
                  <a:srgbClr val="00DC82"/>
                </a:solidFill>
                <a:latin typeface="Segoe UI"/>
              </a:rPr>
              <a:t>el dólar se fortalece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023741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959733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5 · Reacciona cada activo, por su propia razón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96207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oro </a:t>
            </a:r>
            <a:r>
              <a:rPr sz="1250" b="1">
                <a:solidFill>
                  <a:srgbClr val="00DC82"/>
                </a:solidFill>
                <a:latin typeface="Segoe UI"/>
              </a:rPr>
              <a:t>baja</a:t>
            </a:r>
            <a:r>
              <a:rPr sz="1250" b="0">
                <a:solidFill>
                  <a:srgbClr val="A9A5B4"/>
                </a:solidFill>
                <a:latin typeface="Segoe UI"/>
              </a:rPr>
              <a:t> porque no paga interés y ahora el bono rinde más. El Nasdaq </a:t>
            </a:r>
            <a:r>
              <a:rPr sz="1250" b="1">
                <a:solidFill>
                  <a:srgbClr val="00DC82"/>
                </a:solidFill>
                <a:latin typeface="Segoe UI"/>
              </a:rPr>
              <a:t>baja</a:t>
            </a:r>
            <a:r>
              <a:rPr sz="1250" b="0">
                <a:solidFill>
                  <a:srgbClr val="A9A5B4"/>
                </a:solidFill>
                <a:latin typeface="Segoe UI"/>
              </a:rPr>
              <a:t> porque vale por ganancias futuras, que a tasa alta valen menos hoy. El USD/CLP </a:t>
            </a:r>
            <a:r>
              <a:rPr sz="1250" b="1">
                <a:solidFill>
                  <a:srgbClr val="00DC82"/>
                </a:solidFill>
                <a:latin typeface="Segoe UI"/>
              </a:rPr>
              <a:t>sube</a:t>
            </a:r>
            <a:r>
              <a:rPr sz="1250" b="0">
                <a:solidFill>
                  <a:srgbClr val="A9A5B4"/>
                </a:solidFill>
                <a:latin typeface="Segoe UI"/>
              </a:rPr>
              <a:t> porque el dólar se fortalece frente a todo.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13503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913503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059807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PREGUNTA ÚNICA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352415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Frente a cualquier dato: </a:t>
            </a:r>
            <a:r>
              <a:rPr sz="1250" b="1">
                <a:solidFill>
                  <a:srgbClr val="FFFFFF"/>
                </a:solidFill>
                <a:latin typeface="Segoe UI"/>
              </a:rPr>
              <a:t>¿le da a la Reserva Federal una razón para mantener la tasa alta, o para bajarla?</a:t>
            </a:r>
            <a:r>
              <a:rPr sz="1250" b="0">
                <a:solidFill>
                  <a:srgbClr val="A9A5B4"/>
                </a:solidFill>
                <a:latin typeface="Segoe UI"/>
              </a:rPr>
              <a:t> Con esa respuesta, la dirección de los cuatro activos se deduce sola — no hay que memorizar ninguna tabla.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4C8DFF"/>
                </a:solidFill>
                <a:latin typeface="Consola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Los datos que de verdad mueven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De las decenas de publicaciones del mes, tres familias concentran casi todo el movimiento: </a:t>
            </a:r>
            <a:r>
              <a:rPr sz="1450" b="1">
                <a:solidFill>
                  <a:srgbClr val="4C8DFF"/>
                </a:solidFill>
                <a:latin typeface="Segoe UI"/>
              </a:rPr>
              <a:t>inflación, empleo y actividad</a:t>
            </a:r>
            <a:r>
              <a:rPr sz="14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Inflación: la familia que más pesa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Tres indicadores miden lo mismo en apariencia y responden preguntas distintas. El que manda para la política monetaria es el tercero.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831848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EL MÁS OBSERVADO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Precios al consumidor (IPC)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Cuánto subieron los precios que paga la gente.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Sale entre el día 10 y 15, a las 08:30 de Chile.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Qué mirar: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variación </a:t>
            </a:r>
            <a:r>
              <a:rPr sz="1150" b="1">
                <a:solidFill>
                  <a:srgbClr val="00DC82"/>
                </a:solidFill>
                <a:latin typeface="Segoe UI"/>
              </a:rPr>
              <a:t>mensual subyacente</a:t>
            </a:r>
            <a:r>
              <a:rPr sz="1150" b="0">
                <a:solidFill>
                  <a:srgbClr val="A9A5B4"/>
                </a:solidFill>
                <a:latin typeface="Segoe UI"/>
              </a:rPr>
              <a:t> —sin alimentos ni energía—, no el titular anual.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Por qué el subyacente: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tasa de interés no baja el precio del petróleo, pero sí enfría el consumo y los arriendos.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831848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EL QUE ANTICIPA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Precios al productor (IPP)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Precios de fábrica, antes de llegar al consumidor.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Sale junto al IPC, con un día de diferencia.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Su valor está en la secuencia: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al productor le suben los costos, los traspasa al consumidor en los meses siguientes.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IPP e IPC apuntan igual, la señal se refuerza mucho.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831848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META OFICIAL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Gasto en consumo (PCE)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inflación sobre lo que la gente </a:t>
            </a:r>
            <a:r>
              <a:rPr sz="1150" b="1">
                <a:solidFill>
                  <a:srgbClr val="F5A524"/>
                </a:solidFill>
                <a:latin typeface="Segoe UI"/>
              </a:rPr>
              <a:t>efectivamente gastó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Fin de mes, 08:30 de Chile.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Es la vara del banco central: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 meta de 2% está definida en la versión subyacente de este indicador.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Sale después del IPC, así que suele estar anticipado: mueve fuerte solo cuando </a:t>
            </a:r>
            <a:r>
              <a:rPr sz="1150" b="1">
                <a:solidFill>
                  <a:srgbClr val="F5A524"/>
                </a:solidFill>
                <a:latin typeface="Segoe UI"/>
              </a:rPr>
              <a:t>lo contradice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Los datos que mueven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751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Empleo: un informe con tres mediciones que se contradicen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4836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537716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Sale completo el primer viernes del mes, 08:30 de Chile. Es el único dato que le habla </a:t>
            </a:r>
            <a:r>
              <a:rPr sz="1350" b="1">
                <a:solidFill>
                  <a:srgbClr val="4C8DFF"/>
                </a:solidFill>
                <a:latin typeface="Segoe UI"/>
              </a:rPr>
              <a:t>a los dos mandatos</a:t>
            </a:r>
            <a:r>
              <a:rPr sz="1350" b="0">
                <a:solidFill>
                  <a:srgbClr val="A9A5B4"/>
                </a:solidFill>
                <a:latin typeface="Segoe UI"/>
              </a:rPr>
              <a:t> del banco central.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91487"/>
            <a:ext cx="3454298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91487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LAS TRES PARTES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66975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Qué trae el informe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69895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Nóminas: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cuántos empleos netos se crearon. Es el titular.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Tasa de desempleo: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sale de otra encuesta —a hogares, no a empresas—, por eso puede contradecir a las nóminas.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Salarios: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puente hacia la inflación. Si los sueldos suben rápido, las empresas lo traspasan a precios.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Referencia: un alza de sueldos en torno a 3%-3,5% anual es compatible con una inflación de 2%.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91487"/>
            <a:ext cx="3454298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991487"/>
            <a:ext cx="3454298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TRAMPA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466975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El desempleo puede bajar por mala razón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969895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tasa es una división: desocupados sobre </a:t>
            </a:r>
            <a:r>
              <a:rPr sz="1150" b="1">
                <a:solidFill>
                  <a:srgbClr val="E84040"/>
                </a:solidFill>
                <a:latin typeface="Segoe UI"/>
              </a:rPr>
              <a:t>fuerza laboral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Solo cuenta como fuerza laboral quien </a:t>
            </a:r>
            <a:r>
              <a:rPr sz="1150" b="1">
                <a:solidFill>
                  <a:srgbClr val="E84040"/>
                </a:solidFill>
                <a:latin typeface="Segoe UI"/>
              </a:rPr>
              <a:t>está buscando</a:t>
            </a:r>
            <a:r>
              <a:rPr sz="1150" b="0">
                <a:solidFill>
                  <a:srgbClr val="A9A5B4"/>
                </a:solidFill>
                <a:latin typeface="Segoe UI"/>
              </a:rPr>
              <a:t> trabajo.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alguien se desanima y deja de buscar, sale del denominador y </a:t>
            </a:r>
            <a:r>
              <a:rPr sz="1150" b="1">
                <a:solidFill>
                  <a:srgbClr val="E84040"/>
                </a:solidFill>
                <a:latin typeface="Segoe UI"/>
              </a:rPr>
              <a:t>la tasa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aunque siga sin trabajo.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Solución:</a:t>
            </a:r>
            <a:r>
              <a:rPr sz="1150" b="0">
                <a:solidFill>
                  <a:srgbClr val="A9A5B4"/>
                </a:solidFill>
                <a:latin typeface="Segoe UI"/>
              </a:rPr>
              <a:t> mirar siempre la </a:t>
            </a:r>
            <a:r>
              <a:rPr sz="1150" b="1">
                <a:solidFill>
                  <a:srgbClr val="E84040"/>
                </a:solidFill>
                <a:latin typeface="Segoe UI"/>
              </a:rPr>
              <a:t>tasa de participación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991487"/>
            <a:ext cx="3454298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991487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TRAMPA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466975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Un empleo fuerte puede ser mala noticia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969895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Si la economía crea mucho más empleo del esperado, presiona los sueldos y con ellos la inflación.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Eso obliga a mantener la tasa alta más tiempo: </a:t>
            </a:r>
            <a:r>
              <a:rPr sz="1150" b="1">
                <a:solidFill>
                  <a:srgbClr val="F5A524"/>
                </a:solidFill>
                <a:latin typeface="Segoe UI"/>
              </a:rPr>
              <a:t>el dólar sube y las bolsas caen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Se invierte</a:t>
            </a:r>
            <a:r>
              <a:rPr sz="1150" b="0">
                <a:solidFill>
                  <a:srgbClr val="A9A5B4"/>
                </a:solidFill>
                <a:latin typeface="Segoe UI"/>
              </a:rPr>
              <a:t> cuando el miedo dominante es la recesión: ahí un empleo fuerte sí lo celebran las bolsas.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signo depende de </a:t>
            </a:r>
            <a:r>
              <a:rPr sz="1150" b="1">
                <a:solidFill>
                  <a:srgbClr val="F5A524"/>
                </a:solidFill>
                <a:latin typeface="Segoe UI"/>
              </a:rPr>
              <a:t>qué problema le preocupa hoy al mercado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Los datos que mueven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Actividad: dos termómetros y una línea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Miden si la economía se está acelerando o enfriando, y uno de ellos </a:t>
            </a:r>
            <a:r>
              <a:rPr sz="1350" b="1">
                <a:solidFill>
                  <a:srgbClr val="4C8DFF"/>
                </a:solidFill>
                <a:latin typeface="Segoe UI"/>
              </a:rPr>
              <a:t>se adelanta</a:t>
            </a:r>
            <a:r>
              <a:rPr sz="1350" b="0">
                <a:solidFill>
                  <a:srgbClr val="A9A5B4"/>
                </a:solidFill>
                <a:latin typeface="Segoe UI"/>
              </a:rPr>
              <a:t> a todo lo demás.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5309463" cy="291122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5309463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EL ADELANTADO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Gerentes de compra (PMI e ISM)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4943703" cy="197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Se le pregunta a quienes compran insumos si su actividad mejora o empeora. Quien compra hoy sabe qué producirá en tres meses: es información </a:t>
            </a:r>
            <a:r>
              <a:rPr sz="1150" b="1">
                <a:solidFill>
                  <a:srgbClr val="00DC82"/>
                </a:solidFill>
                <a:latin typeface="Segoe UI"/>
              </a:rPr>
              <a:t>del futuro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La línea de los 50:</a:t>
            </a:r>
            <a:r>
              <a:rPr sz="1150" b="0">
                <a:solidFill>
                  <a:srgbClr val="A9A5B4"/>
                </a:solidFill>
                <a:latin typeface="Segoe UI"/>
              </a:rPr>
              <a:t> sobre 50 la actividad se expande, bajo 50 se contrae. Mide </a:t>
            </a:r>
            <a:r>
              <a:rPr sz="1150" b="1">
                <a:solidFill>
                  <a:srgbClr val="00DC82"/>
                </a:solidFill>
                <a:latin typeface="Segoe UI"/>
              </a:rPr>
              <a:t>dirección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, no tamaño.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Un PMI que cae de 58 a 53 sigue indicando expansión, solo que menos generalizada.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El de servicios pesa más</a:t>
            </a:r>
            <a:r>
              <a:rPr sz="1150" b="0">
                <a:solidFill>
                  <a:srgbClr val="A9A5B4"/>
                </a:solidFill>
                <a:latin typeface="Segoe UI"/>
              </a:rPr>
              <a:t> que el manufacturero: los servicios son cerca del 70% de esa economía.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615821"/>
            <a:ext cx="5309463" cy="291122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23863" y="1615821"/>
            <a:ext cx="5309463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6743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EL DEL CONSUMO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Ventas minoristas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388489"/>
            <a:ext cx="4943703" cy="197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Cuánto vendió el comercio. A mitad de mes, 08:30 de Chile.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Por qué importa: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consumo es cerca del 70% del PIB de Estados Unidos. Mientras el consumo aguante, no hay recesión.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Qué mirar: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</a:t>
            </a:r>
            <a:r>
              <a:rPr sz="1150" b="1">
                <a:solidFill>
                  <a:srgbClr val="4C8DFF"/>
                </a:solidFill>
                <a:latin typeface="Segoe UI"/>
              </a:rPr>
              <a:t>grupo de control</a:t>
            </a:r>
            <a:r>
              <a:rPr sz="1150" b="0">
                <a:solidFill>
                  <a:srgbClr val="A9A5B4"/>
                </a:solidFill>
                <a:latin typeface="Segoe UI"/>
              </a:rPr>
              <a:t>, que excluye autos, bencina y materiales de construcción — los más volátiles.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Se publica en dinero, no en unidades: si los precios subieron, las ventas crecen sin que se venda más.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72821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472821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487451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Y EL PIB, ¿DÓNDE QUEDA?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6712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Es la medida más completa de la economía y </a:t>
            </a:r>
            <a:r>
              <a:rPr sz="1200" b="1">
                <a:solidFill>
                  <a:srgbClr val="FFFFFF"/>
                </a:solidFill>
                <a:latin typeface="Segoe UI"/>
              </a:rPr>
              <a:t>una de las que menos mueve el precio</a:t>
            </a:r>
            <a:r>
              <a:rPr sz="1200" b="0">
                <a:solidFill>
                  <a:srgbClr val="A9A5B4"/>
                </a:solidFill>
                <a:latin typeface="Segoe UI"/>
              </a:rPr>
              <a:t>: cuando se publica, el mercado ya vio tres meses de empleo, inflación y consumo. Sirve para fijar el relato de recesión o expansión, no para anticipar el movimiento del día.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Los datos que mueven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Cuáles pesan más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Y la advertencia que hace la diferencia: </a:t>
            </a:r>
            <a:r>
              <a:rPr sz="1350" b="1">
                <a:solidFill>
                  <a:srgbClr val="00DC82"/>
                </a:solidFill>
                <a:latin typeface="Segoe UI"/>
              </a:rPr>
              <a:t>el peso no es fijo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1389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492"/>
                <a:gridCol w="4567482"/>
                <a:gridCol w="4349983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IMPACTO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INDICADORES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POR QUÉ PESAN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Máximo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Decisión de tasas · Inflación al consumidor · Informe de empleo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Definen o determinan directamente el precio del dinero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Gasto en consumo (PCE) · Gerentes de compra de servicios · Ventas minoristas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Son la vara oficial de la meta, el adelanto del sector más grande y el pulso del consumo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PIB · Precios al productor · Gerentes de compra manufacturero · Subsidios por desempleo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Confirman o anticipan, pero no cambian el escenario por sí solos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206115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20611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35241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REGLA DEL RÉGIMEN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45027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Cuando el problema del mercado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inflación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 IPC manda y un empleo fuerte se lee como amenaza. Cuando el problema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recesión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 empleo manda y un empleo fuerte se celebra. </a:t>
            </a:r>
            <a:r>
              <a:rPr sz="1200" b="1">
                <a:solidFill>
                  <a:srgbClr val="FFFFFF"/>
                </a:solidFill>
                <a:latin typeface="Segoe UI"/>
              </a:rPr>
              <a:t>Antes de interpretar un dato, define qué le preocupa hoy al mercado.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Los datos que mueven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5A524"/>
                </a:solidFill>
                <a:latin typeface="Consola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El dólar acá tiene </a:t>
            </a:r>
            <a:r>
              <a:rPr sz="1450" b="1">
                <a:solidFill>
                  <a:srgbClr val="F5A524"/>
                </a:solidFill>
                <a:latin typeface="Segoe UI"/>
              </a:rPr>
              <a:t>dos motores</a:t>
            </a:r>
            <a:r>
              <a:rPr sz="1450" b="0">
                <a:solidFill>
                  <a:srgbClr val="A9A5B4"/>
                </a:solidFill>
                <a:latin typeface="Segoe UI"/>
              </a:rPr>
              <a:t>: lo que pasa con el dólar en el mundo y lo que pasa en casa. Y la dirección se invierte.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Los cuatro que mueven el dólar en Chile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Dos instituciones concentran todo: el Instituto Nacional de Estadísticas y el Banco Central.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8" cy="1985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1240"/>
                <a:gridCol w="3697486"/>
                <a:gridCol w="4676232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QUÉ MIDE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CÓMO LEERLO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(IPC)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inflación local, que publica el INE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meta del Banco Central es 3%. Inflación alta le impide bajar la tasa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Actividad mensual
(IMACEC)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termómetro mensual de la economía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Mira si el alza viene de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minería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o del resto: el no minero dice más de la demanda interna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Balanza comercial
y cobre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Si entran o salen dólares del país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cobre es cerca de la mitad de lo que Chile exporta: es el driver local más fuerte del dólar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Tasa de política
monetaria (TPM)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Cuánto cuesta el dinero en Chile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Lo que importa es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diferencia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con la tasa de Estados Unidos, no el nivel local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Las dos cosas que hay que entender de Chile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Una invierte la dirección respecto de todo lo anterior. La otra conecta a Chile con el otro lado del mundo.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5309463" cy="306362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5309463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CUIDADO CON 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En el USD/CLP la dirección se invierte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4943703" cy="212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Cuando el número del par </a:t>
            </a:r>
            <a:r>
              <a:rPr sz="1150" b="1">
                <a:solidFill>
                  <a:srgbClr val="E84040"/>
                </a:solidFill>
                <a:latin typeface="Segoe UI"/>
              </a:rPr>
              <a:t>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, lo que ocurre es que </a:t>
            </a:r>
            <a:r>
              <a:rPr sz="1150" b="1">
                <a:solidFill>
                  <a:srgbClr val="E84040"/>
                </a:solidFill>
                <a:latin typeface="Segoe UI"/>
              </a:rPr>
              <a:t>el peso se debilita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Entonces un IPC chileno </a:t>
            </a:r>
            <a:r>
              <a:rPr sz="1150" b="1">
                <a:solidFill>
                  <a:srgbClr val="E84040"/>
                </a:solidFill>
                <a:latin typeface="Segoe UI"/>
              </a:rPr>
              <a:t>alto</a:t>
            </a:r>
            <a:r>
              <a:rPr sz="1150" b="0">
                <a:solidFill>
                  <a:srgbClr val="A9A5B4"/>
                </a:solidFill>
                <a:latin typeface="Segoe UI"/>
              </a:rPr>
              <a:t> fortalece al peso —el Banco Central no podrá bajar la tasa— y </a:t>
            </a:r>
            <a:r>
              <a:rPr sz="1150" b="1">
                <a:solidFill>
                  <a:srgbClr val="E84040"/>
                </a:solidFill>
                <a:latin typeface="Segoe UI"/>
              </a:rPr>
              <a:t>el USD/CLP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⬇️.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el espejo del caso estadounidense, donde una inflación alta </a:t>
            </a:r>
            <a:r>
              <a:rPr sz="1150" b="1">
                <a:solidFill>
                  <a:srgbClr val="E84040"/>
                </a:solidFill>
                <a:latin typeface="Segoe UI"/>
              </a:rPr>
              <a:t>fortalece</a:t>
            </a:r>
            <a:r>
              <a:rPr sz="1150" b="0">
                <a:solidFill>
                  <a:srgbClr val="A9A5B4"/>
                </a:solidFill>
                <a:latin typeface="Segoe UI"/>
              </a:rPr>
              <a:t> al dólar.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Regla corta:</a:t>
            </a:r>
            <a:r>
              <a:rPr sz="1150" b="0">
                <a:solidFill>
                  <a:srgbClr val="A9A5B4"/>
                </a:solidFill>
                <a:latin typeface="Segoe UI"/>
              </a:rPr>
              <a:t> dato chileno fuerte → dólar más barato acá. Dato estadounidense fuerte → dólar más caro en todas partes.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Si los dos motores se contradicen</a:t>
            </a:r>
            <a:r>
              <a:rPr sz="1150" b="0">
                <a:solidFill>
                  <a:srgbClr val="A9A5B4"/>
                </a:solidFill>
                <a:latin typeface="Segoe UI"/>
              </a:rPr>
              <a:t>, normalmente gana el global.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615821"/>
            <a:ext cx="5309463" cy="306362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23863" y="1615821"/>
            <a:ext cx="5309463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6743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CADENA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Por qué un dato de China mueve el dólar acá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388489"/>
            <a:ext cx="4943703" cy="212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1.</a:t>
            </a:r>
            <a:r>
              <a:rPr sz="1150" b="0">
                <a:solidFill>
                  <a:srgbClr val="A9A5B4"/>
                </a:solidFill>
                <a:latin typeface="Segoe UI"/>
              </a:rPr>
              <a:t> China es el mayor consumidor de cobre del mundo.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2.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sus gerentes de compra reportan menos actividad, van a comprar menos insumos.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3.</a:t>
            </a:r>
            <a:r>
              <a:rPr sz="1150" b="0">
                <a:solidFill>
                  <a:srgbClr val="A9A5B4"/>
                </a:solidFill>
                <a:latin typeface="Segoe UI"/>
              </a:rPr>
              <a:t> Menos demanda esperada baja el precio del cobre.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4.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cobre es cerca de la mitad de las exportaciones chilenas: entra menos moneda extranjera al país.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5.</a:t>
            </a:r>
            <a:r>
              <a:rPr sz="1150" b="0">
                <a:solidFill>
                  <a:srgbClr val="A9A5B4"/>
                </a:solidFill>
                <a:latin typeface="Segoe UI"/>
              </a:rPr>
              <a:t> Menos oferta de dólares acá → </a:t>
            </a:r>
            <a:r>
              <a:rPr sz="1150" b="1">
                <a:solidFill>
                  <a:srgbClr val="00DC82"/>
                </a:solidFill>
                <a:latin typeface="Segoe UI"/>
              </a:rPr>
              <a:t>el USD/CLP 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 ⬆️.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Ojo con la hora:</a:t>
            </a:r>
            <a:r>
              <a:rPr sz="1150" b="0">
                <a:solidFill>
                  <a:srgbClr val="A9A5B4"/>
                </a:solidFill>
                <a:latin typeface="Segoe UI"/>
              </a:rPr>
              <a:t> los datos de China salen cerca de las 21:30 de la noche anterior en hora de Chile.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Chile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00DC82"/>
                </a:solidFill>
                <a:latin typeface="Consola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De la lectura al precio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La síntesis operativa: qué debería hacer cada activo, en qué escenario estamos, y cómo se comunica.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Qué debería hacer el precio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1">
                <a:solidFill>
                  <a:srgbClr val="00DC82"/>
                </a:solidFill>
                <a:latin typeface="Segoe UI"/>
              </a:rPr>
              <a:t>No la memorices</a:t>
            </a:r>
            <a:r>
              <a:rPr sz="1350" b="0">
                <a:solidFill>
                  <a:srgbClr val="A9A5B4"/>
                </a:solidFill>
                <a:latin typeface="Segoe UI"/>
              </a:rPr>
              <a:t>: verifica que puedas reconstruir cada fila con la cadena de transmisión.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2204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9178"/>
                <a:gridCol w="2841205"/>
                <a:gridCol w="1175671"/>
                <a:gridCol w="1077698"/>
                <a:gridCol w="1469589"/>
                <a:gridCol w="1371616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LECTURA DEL DATO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PARA LA TASA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DÓLAR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ORO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NASDAQ 100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USD/CLP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sobre lo esperado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Alta por más tiempo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bajo lo esperado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Espacio a recortes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Empleo muy fuerte
(régimen de inflación)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Retrasa los recortes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Empleo muy débil
(régimen de recesión)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Adelanta los recortes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Mixto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Actividad sobre lo esperado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Menos urgencia de estimular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Cobre o China al alza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Sin efecto directo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4021455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402145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416775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CUANDO DOS FUERZAS COMPITEN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60367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Con </a:t>
            </a:r>
            <a:r>
              <a:rPr sz="1200" b="1">
                <a:solidFill>
                  <a:srgbClr val="FFFFFF"/>
                </a:solidFill>
                <a:latin typeface="Segoe UI"/>
              </a:rPr>
              <a:t>empleo muy débil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Nasdaq queda mixto: la tasa más baja lo favorece, pero la recesión daña las ganancias. Decidir cuál domina </a:t>
            </a:r>
            <a:r>
              <a:rPr sz="1200" b="1">
                <a:solidFill>
                  <a:srgbClr val="FFFFFF"/>
                </a:solidFill>
                <a:latin typeface="Segoe UI"/>
              </a:rPr>
              <a:t>es</a:t>
            </a:r>
            <a:r>
              <a:rPr sz="1200" b="0">
                <a:solidFill>
                  <a:srgbClr val="A9A5B4"/>
                </a:solidFill>
                <a:latin typeface="Segoe UI"/>
              </a:rPr>
              <a:t> interpretar — y es lo que no reemplaza ninguna tabla.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De la lectura al precio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Los cuatro escenarios posibles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Cualquier combinación de datos cae en uno de estos cuadrantes. Ubicarlo es el resumen de tu lectura del 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2526715" cy="25314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2526715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CRECE + INFLACIÓN BAJA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2160955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El escenario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2160955" cy="1594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Crece sin presionar los precios. El banco central puede recortar sin riesgo.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mejor escenario ⬆️⬆️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· </a:t>
            </a:r>
            <a:r>
              <a:rPr sz="1150" b="1">
                <a:solidFill>
                  <a:srgbClr val="00DC82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1115" y="1615821"/>
            <a:ext cx="2526715" cy="25314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1115" y="1615821"/>
            <a:ext cx="2526715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23995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CRECE + INFLACIÓN 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995" y="2091309"/>
            <a:ext cx="2160955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Economía recalentada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995" y="2388489"/>
            <a:ext cx="2160955" cy="1594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demanda supera a la oferta. El banco central debe apretar.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bajo presión ⬇️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· </a:t>
            </a:r>
            <a:r>
              <a:rPr sz="1150" b="1">
                <a:solidFill>
                  <a:srgbClr val="F5A524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1615821"/>
            <a:ext cx="2526715" cy="25314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23863" y="1615821"/>
            <a:ext cx="2526715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6743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SE CONTRAE + INFLACIÓN BAJA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091309"/>
            <a:ext cx="2160955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Recesión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2388489"/>
            <a:ext cx="2160955" cy="1594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actividad cae y arrastra los precios. Recortes rápidos.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primero caen por ganancias, luego suben por tasa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· </a:t>
            </a:r>
            <a:r>
              <a:rPr sz="1150" b="1">
                <a:solidFill>
                  <a:srgbClr val="4C8DFF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por aversión al riesgo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611" y="1615821"/>
            <a:ext cx="2526715" cy="25314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06611" y="1615821"/>
            <a:ext cx="2526715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89491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SE CONTRAE + INFLACIÓN 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491" y="2091309"/>
            <a:ext cx="2160955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Estanflación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491" y="2388489"/>
            <a:ext cx="2160955" cy="1594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peor cuadrante: el banco central queda atrapado entre avivar la inflación o profundizar la recesión.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peor escenario ⬇️⬇️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gran beneficiado ⬆️⬆️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De la lectura al precio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EJERCICIO DE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Un caso resuelto de principio a fin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674114"/>
            <a:ext cx="3931920" cy="461695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74114"/>
            <a:ext cx="3931920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2041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EL DATO 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13026"/>
            <a:ext cx="3566160" cy="405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Índice de precios al consumidor de EE.UU.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Subyacente mensual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Anterior: 0,2%  ·  Esperado: 0,2%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Efectivo: 0,4%</a:t>
            </a:r>
            <a:r>
              <a:rPr sz="12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Subyacente anual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Esperado: 3,1%  ·  </a:t>
            </a:r>
            <a:r>
              <a:rPr sz="1200" b="1">
                <a:solidFill>
                  <a:srgbClr val="FFFFFF"/>
                </a:solidFill>
                <a:latin typeface="Segoe UI"/>
              </a:rPr>
              <a:t>Efectivo: 3,3%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General mensual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Esperado: 0,3%  ·  Efectivo: 0,4%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Cifras ilustrativas: no corresponden a una publicación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674114"/>
            <a:ext cx="6668719" cy="200482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864608" y="1674114"/>
            <a:ext cx="666871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47488" y="1820418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SE INTERPRETA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113026"/>
            <a:ext cx="6302959" cy="1437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La sorpresa: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subyacente mensual salió al doble de lo esperado, y es la cifra que más pesa.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¿Es de fondo?</a:t>
            </a:r>
            <a:r>
              <a:rPr sz="1150" b="0">
                <a:solidFill>
                  <a:srgbClr val="A9A5B4"/>
                </a:solidFill>
                <a:latin typeface="Segoe UI"/>
              </a:rPr>
              <a:t> Sí: general y subyacente sorprenden en la misma dirección. No fue energía — la presión está en el núcleo de la canasta.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Conclusión: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inflación no está cediendo. Se aleja la posibilidad de que el banco central baje la tasa.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3861816"/>
            <a:ext cx="6668719" cy="2429255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864608" y="3861816"/>
            <a:ext cx="66687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47488" y="4008120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DEBERÍA HACER EL PRECIO, Y POR 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300728"/>
            <a:ext cx="6302959" cy="1862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Dólar: 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 ⬆️ — tasa alta por más tiempo significa mayor rendimiento, y el capital va donde le pagan más.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Oro: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⬇️ — no paga interés; si los bonos rinden más, pierde atractivo relativo.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Nasdaq 100: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⬇️ — vale por ganancias futuras, y a tasa más alta esas ganancias valen menos hoy.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USD/CLP: 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 ⬆️ — dólar global fuerte y menos apetito por riesgo emergente.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Temporalidad:</a:t>
            </a:r>
            <a:r>
              <a:rPr sz="1150" b="0">
                <a:solidFill>
                  <a:srgbClr val="A9A5B4"/>
                </a:solidFill>
                <a:latin typeface="Segoe UI"/>
              </a:rPr>
              <a:t> intradía a swing de jornada (uno a tres días).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De la lectura al precio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Cómo explicárselo al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tramo que define si el análisis sirve: un dato bien interpretado y mal comunicado </a:t>
            </a:r>
            <a:r>
              <a:rPr sz="1350" b="1">
                <a:solidFill>
                  <a:srgbClr val="00DC82"/>
                </a:solidFill>
                <a:latin typeface="Segoe UI"/>
              </a:rPr>
              <a:t>no llega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La estructura de tres líneas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00DC82"/>
                </a:solidFill>
                <a:latin typeface="Segoe UI"/>
              </a:rPr>
              <a:t>Qué pasó</a:t>
            </a:r>
            <a:r>
              <a:rPr sz="1250" b="0">
                <a:solidFill>
                  <a:srgbClr val="A9A5B4"/>
                </a:solidFill>
                <a:latin typeface="Segoe UI"/>
              </a:rPr>
              <a:t> (el dato y su sorpresa) · </a:t>
            </a:r>
            <a:r>
              <a:rPr sz="1250" b="1">
                <a:solidFill>
                  <a:srgbClr val="00DC82"/>
                </a:solidFill>
                <a:latin typeface="Segoe UI"/>
              </a:rPr>
              <a:t>por qué importa</a:t>
            </a:r>
            <a:r>
              <a:rPr sz="1250" b="0">
                <a:solidFill>
                  <a:srgbClr val="A9A5B4"/>
                </a:solidFill>
                <a:latin typeface="Segoe UI"/>
              </a:rPr>
              <a:t> (el efecto en la tasa) · </a:t>
            </a:r>
            <a:r>
              <a:rPr sz="1250" b="1">
                <a:solidFill>
                  <a:srgbClr val="00DC82"/>
                </a:solidFill>
                <a:latin typeface="Segoe UI"/>
              </a:rPr>
              <a:t>qué esperar</a:t>
            </a:r>
            <a:r>
              <a:rPr sz="1250" b="0">
                <a:solidFill>
                  <a:srgbClr val="A9A5B4"/>
                </a:solidFill>
                <a:latin typeface="Segoe UI"/>
              </a:rPr>
              <a:t> (la dirección del activo).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La regla de los 30 segundos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un cliente sin experiencia no lo entiende en medio minuto, hay que decirlo más simple. «Más simple» nunca significa «sin dirección».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613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3973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Toda sigla se explica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38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Nombre en español, sigla una sola vez entre paréntesis, y una línea de explicación. Nunca «el core PCE salió hot».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Énfasis direccional sí, dramatización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Se dice «sesgo bajista» o «presión vendedora». No se dice «se va a derrumbar» ni se le atribuyen emociones al mercado.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Explica el mecanismo, no solo el 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«El dólar sube porque la inflación obliga a mantener las tasas altas, y eso atrae capital» enseña. «El dólar sube» solo informa.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Un ejemplo, mal y bien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430651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❌ «Core CPI hot, hawkish para la Fed».  ✅ «Los precios subieron más de lo esperado, así que allá no podrán abaratar el dinero pronto y el dólar se fortalece».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De la lectura al precio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Para qué te sirve esto, y dónde se detiene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valor concreto en tu día a día, y el límite que no se cruza.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5309463" cy="272135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5309463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LO QUE GANAS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Una conversación con criterio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4943703" cy="178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Poder explicar </a:t>
            </a:r>
            <a:r>
              <a:rPr sz="1150" b="1">
                <a:solidFill>
                  <a:srgbClr val="00DC82"/>
                </a:solidFill>
                <a:latin typeface="Segoe UI"/>
              </a:rPr>
              <a:t>por qué</a:t>
            </a:r>
            <a:r>
              <a:rPr sz="1150" b="0">
                <a:solidFill>
                  <a:srgbClr val="A9A5B4"/>
                </a:solidFill>
                <a:latin typeface="Segoe UI"/>
              </a:rPr>
              <a:t> se movió el mercado, en vez de repetir que se movió.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Saber qué días hay datos relevantes y anticipar la conversación en lugar de reaccionar a ella.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Distinguir cuándo un movimiento es ruido y cuándo cambia el escenario.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Y lo que más pesa frente a un cliente: </a:t>
            </a:r>
            <a:r>
              <a:rPr sz="1150" b="1">
                <a:solidFill>
                  <a:srgbClr val="00DC82"/>
                </a:solidFill>
                <a:latin typeface="Segoe UI"/>
              </a:rPr>
              <a:t>entender lo que estás diciendo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615821"/>
            <a:ext cx="5309463" cy="272135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23863" y="1615821"/>
            <a:ext cx="5309463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6743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DÓNDE SE DETIENE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Estas preguntas se derivan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388489"/>
            <a:ext cx="4943703" cy="178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«¿Me conviene comprar dólares ahora?» · «¿Dónde pongo mi dinero?» · «¿Hasta dónde va a subir?» · «¿Vendo o me quedo?»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Explicar </a:t>
            </a:r>
            <a:r>
              <a:rPr sz="1150" b="1">
                <a:solidFill>
                  <a:srgbClr val="E84040"/>
                </a:solidFill>
                <a:latin typeface="Segoe UI"/>
              </a:rPr>
              <a:t>qué pasó y por qué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análisis, y es nuestro trabajo.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Indicarle a alguien </a:t>
            </a:r>
            <a:r>
              <a:rPr sz="1150" b="1">
                <a:solidFill>
                  <a:srgbClr val="E84040"/>
                </a:solidFill>
                <a:latin typeface="Segoe UI"/>
              </a:rPr>
              <a:t>qué hacer con su dinero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asesoría de inversión, y tiene requisitos que se cumplen desde el área.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La respuesta segura:</a:t>
            </a:r>
            <a:r>
              <a:rPr sz="1150" b="0">
                <a:solidFill>
                  <a:srgbClr val="A9A5B4"/>
                </a:solidFill>
                <a:latin typeface="Segoe UI"/>
              </a:rPr>
              <a:t> «déjame consultarlo con el equipo de estudios y te confirmo».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538345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453834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468464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SI TE QUEDASTE CON GANAS DE MÁS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977257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La capacitación completa son 55 láminas y desarrolla todo lo que este resumen dejó fuera. Y la guía rápida de 4 páginas está pensada para consultarla con el cliente al teléfono.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De la lectura al precio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Naturaleza del contenido y proceso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01952"/>
            <a:ext cx="10874959" cy="158191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01952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48256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ADVERTENCIA Y NATURALEZA DE ESTE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40864"/>
            <a:ext cx="10509199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Este documento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material educativo de uso interno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elaborado para la formación del equipo comercial y de los IBS.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constituye una recomendación de inversión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 ni una asesoría personalizada, y no debe distribuirse a clientes en esta forma.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Las cifras de los ejemplos son </a:t>
            </a:r>
            <a:r>
              <a:rPr sz="1200" b="1">
                <a:solidFill>
                  <a:srgbClr val="FFFFFF"/>
                </a:solidFill>
                <a:latin typeface="Segoe UI"/>
              </a:rPr>
              <a:t>ilustrativas</a:t>
            </a:r>
            <a:r>
              <a:rPr sz="1200" b="0">
                <a:solidFill>
                  <a:srgbClr val="A9A5B4"/>
                </a:solidFill>
                <a:latin typeface="Segoe UI"/>
              </a:rPr>
              <a:t>. Las referencias de precio describen </a:t>
            </a:r>
            <a:r>
              <a:rPr sz="1200" b="1">
                <a:solidFill>
                  <a:srgbClr val="FFFFFF"/>
                </a:solidFill>
                <a:latin typeface="Segoe UI"/>
              </a:rPr>
              <a:t>mecanismos de mercado</a:t>
            </a:r>
            <a:r>
              <a:rPr sz="1200" b="0">
                <a:solidFill>
                  <a:srgbClr val="A9A5B4"/>
                </a:solidFill>
                <a:latin typeface="Segoe UI"/>
              </a:rPr>
              <a:t>, no pronósticos: el comportamiento efectivo de un activo depende del contexto y de factores no contenidos en un solo dato.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30168"/>
            <a:ext cx="10874959" cy="138379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3630168"/>
            <a:ext cx="1087495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" y="3776472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VALIDACIÓN DE CONTENIDO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10509199" cy="81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Todo análisis de mercado, informe o material que se vaya a difundir —cualquiera sea el canal— pasa por el </a:t>
            </a:r>
            <a:r>
              <a:rPr sz="1200" b="1">
                <a:solidFill>
                  <a:srgbClr val="FFFFFF"/>
                </a:solidFill>
                <a:latin typeface="Segoe UI"/>
              </a:rPr>
              <a:t>Área de Estudios y Post-Venta</a:t>
            </a:r>
            <a:r>
              <a:rPr sz="1200" b="0">
                <a:solidFill>
                  <a:srgbClr val="A9A5B4"/>
                </a:solidFill>
                <a:latin typeface="Segoe UI"/>
              </a:rPr>
              <a:t> para su validación previa.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Cualquier duda sobre qué se puede afirmar, mostrar o recomendar se resuelve directamente con el área.</a:t>
            </a:r>
          </a:p>
        </p:txBody>
      </p:sp>
      <p:pic>
        <p:nvPicPr>
          <p:cNvPr id="13" name="Picture 12" descr="gi_retrato_WhatsApp Image 2026-07-02 at 20.34.23_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196840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47088" y="5251704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ELABORADO 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54711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Benjamín Ignacio Bravo Soza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574548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9A5B4"/>
                </a:solidFill>
                <a:latin typeface="Segoe UI"/>
              </a:rPr>
              <a:t>Ingeniero en Finanzas · Diplomado en Gestión de Riesgos bajo estándar PMI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593750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9A5B4"/>
                </a:solidFill>
                <a:latin typeface="Segoe UI"/>
              </a:rPr>
              <a:t>Operador Acreditado CMV · Área de Estudios y Post-Venta · 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547116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31 de julio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