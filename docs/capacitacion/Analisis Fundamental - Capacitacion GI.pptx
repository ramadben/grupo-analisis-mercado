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1">
                <a:solidFill>
                  <a:srgbClr val="00DC82"/>
                </a:solidFill>
                <a:latin typeface="Segoe UI"/>
              </a:rPr>
              <a:t>CAPACITACIÓN INTERNA · EQUIPO COMERCIAL E 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9692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Análisis
Fundamental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611880"/>
            <a:ext cx="1463040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88620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A9A5B4"/>
                </a:solidFill>
                <a:latin typeface="Segoe UI"/>
              </a:rPr>
              <a:t>Cómo interpretar la publicación de datos económicos: qué mide cada indicador, cómo se lee su resultado y </a:t>
            </a:r>
            <a:r>
              <a:rPr sz="1600" b="1">
                <a:solidFill>
                  <a:srgbClr val="FFFFFF"/>
                </a:solidFill>
                <a:latin typeface="Segoe UI"/>
              </a:rPr>
              <a:t>qué debería hacer el precio</a:t>
            </a:r>
            <a:r>
              <a:rPr sz="16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681728"/>
            <a:ext cx="10874959" cy="12700"/>
          </a:xfrm>
          <a:prstGeom prst="rect">
            <a:avLst/>
          </a:prstGeom>
          <a:solidFill>
            <a:srgbClr val="1E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5010912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3036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50468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967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8873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Área de Estudios y Post-Venta · Grupo de Análisis de Mercado — 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8008" y="501091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521208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31 de julio de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8" y="5577840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NATURALEZA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577900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Material educativo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vas a poder hacer al terminar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objetivo no es memorizar reacciones. Es entender el mecanismo, para poder leer </a:t>
            </a:r>
            <a:r>
              <a:rPr sz="1350" b="1">
                <a:solidFill>
                  <a:srgbClr val="00DC82"/>
                </a:solidFill>
                <a:latin typeface="Segoe UI"/>
              </a:rPr>
              <a:t>incluso un dato que no vimos en clase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 · Leer cualquier publicación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Reconocer las tres cifras que trae todo dato —anterior, esperado y efectivo— y saber cuál de ellas mueve el mercado.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 · Entender qué mide cada indicador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está contando, cómo se construye, qué deja fuera y por qué existe. Sin eso, el número es solo un número.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3 · Distinguir el detalle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Casi todo dato relevante trae sub-lecturas. Saber cuál pesa evita leer el titular y equivocarse.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4 · Conectarlo con la tasa de interés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Todo dato de EE.UU. se traduce, tarde o temprano, en una expectativa sobre qué hará la Reserva Federal.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5 · Anticipar la dirección del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Derivar del concepto —no de memoria— qué debería hacer el dólar, el oro, el petróleo y las bolsas.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6 · Explicárselo a un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Traducirlo a lenguaje simple, con dirección clara, en menos de 30 segundos y sin jerga sin explicar.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79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1479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2942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IDEA QUE ORDENA TODO EL CURSO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5868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dato económico no es una noticia: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medición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Y el mercado no reacciona a la medición, sino a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diferencia entre lo que se medía y lo que se esperaba medir</a:t>
            </a:r>
            <a:r>
              <a:rPr sz="1250" b="0">
                <a:solidFill>
                  <a:srgbClr val="A9A5B4"/>
                </a:solidFill>
                <a:latin typeface="Segoe UI"/>
              </a:rPr>
              <a:t>. Todo lo demás se deduce de ahí.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Fundamentos de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Conceptos que aplican a </a:t>
            </a:r>
            <a:r>
              <a:rPr sz="1450" b="1">
                <a:solidFill>
                  <a:srgbClr val="00DC82"/>
                </a:solidFill>
                <a:latin typeface="Segoe UI"/>
              </a:rPr>
              <a:t>toda</a:t>
            </a:r>
            <a:r>
              <a:rPr sz="1450" b="0">
                <a:solidFill>
                  <a:srgbClr val="A9A5B4"/>
                </a:solidFill>
                <a:latin typeface="Segoe UI"/>
              </a:rPr>
              <a:t> publicación, sea de Estados Unidos, de Chile o de China. Es el bloque que convierte a alguien que memoriza en alguien que interpreta.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anatomía de toda publicación: tres cifras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Cuando salga cualquier dato, vas a ver estas tres. Aprender a mirarlas en este orden es el 80% del trabajo.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CIFRA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de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publicación pasada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una sola cosa: ver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tendencia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. ¿El dato viene acelerando o desacelerando?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Ojo: el anterior </a:t>
            </a:r>
            <a:r>
              <a:rPr sz="1150" b="1">
                <a:solidFill>
                  <a:srgbClr val="A9A5B4"/>
                </a:solidFill>
                <a:latin typeface="Segoe UI"/>
              </a:rPr>
              <a:t>puede haber cambiado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desde que se publicó (lo veremos en «revisiones»).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CIFRA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Esperado o consenso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Lo que el mercado </a:t>
            </a:r>
            <a:r>
              <a:rPr sz="1150" b="1">
                <a:solidFill>
                  <a:srgbClr val="F5A524"/>
                </a:solidFill>
                <a:latin typeface="Segoe UI"/>
              </a:rPr>
              <a:t>cree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va a salir.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promedio de las estimaciones de decenas de bancos y casas de análisis.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Este número ya está en el precio.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el dato sale igual al consenso, en teoría no debería pasar nada.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CIFRA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Efectivo o 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que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realmente</a:t>
            </a:r>
            <a:r>
              <a:rPr sz="1150" b="0">
                <a:solidFill>
                  <a:srgbClr val="A9A5B4"/>
                </a:solidFill>
                <a:latin typeface="Segoe UI"/>
              </a:rPr>
              <a:t> salió.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sí solo no dice nada. Solo significa algo </a:t>
            </a:r>
            <a:r>
              <a:rPr sz="1150" b="1">
                <a:solidFill>
                  <a:srgbClr val="00DC82"/>
                </a:solidFill>
                <a:latin typeface="Segoe UI"/>
              </a:rPr>
              <a:t>comparado con el consenso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resta entre ambos —efectivo menos esperado— es lo que se llama </a:t>
            </a:r>
            <a:r>
              <a:rPr sz="1150" b="1">
                <a:solidFill>
                  <a:srgbClr val="00DC82"/>
                </a:solidFill>
                <a:latin typeface="Segoe UI"/>
              </a:rPr>
              <a:t>la sorpresa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0824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0824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2287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ERROR NÚMERO UNO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5213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Mirar solo la cifra efectiva. Una inflación de 3% puede ser una excelente noticia o una muy mala, y la única forma de saberlo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mirar contra qué se comparaba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el mercado se mueve con la sorpresa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concepto se llama </a:t>
            </a:r>
            <a:r>
              <a:rPr sz="1350" b="1">
                <a:solidFill>
                  <a:srgbClr val="00DC82"/>
                </a:solidFill>
                <a:latin typeface="Segoe UI"/>
              </a:rPr>
              <a:t>«ya está en el precio»</a:t>
            </a:r>
            <a:r>
              <a:rPr sz="1350" b="0">
                <a:solidFill>
                  <a:srgbClr val="A9A5B4"/>
                </a:solidFill>
                <a:latin typeface="Segoe UI"/>
              </a:rPr>
              <a:t> (o «descontado»), y es la razón de que un dato buenísimo a veces no mueva nada.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precio de hoy contiene lo que se espera de mañana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todo el mercado cree que la inflación va a salir en 3%, los operadores ya compraron o vendieron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que salga. Ese 3% ya está incorporado en el precio actual.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Entonces, ¿qué queda por descubrir?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Solo </a:t>
            </a:r>
            <a:r>
              <a:rPr sz="1250" b="1">
                <a:solidFill>
                  <a:srgbClr val="00DC82"/>
                </a:solidFill>
                <a:latin typeface="Segoe UI"/>
              </a:rPr>
              <a:t>la parte que nadie esperaba</a:t>
            </a:r>
            <a:r>
              <a:rPr sz="1250" b="0">
                <a:solidFill>
                  <a:srgbClr val="A9A5B4"/>
                </a:solidFill>
                <a:latin typeface="Segoe UI"/>
              </a:rPr>
              <a:t>. Cuando el dato sale distinto al consenso, el mercado tiene información nueva y ajusta el precio.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 ahí que un dato «bueno» pueda hacer caer el precio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 crecimiento de 4% y sale 2%, el 2% es un buen número en sí mismo, pero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una decepción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corrige hacia abajo.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409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769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que un dato «malo» pueda hacerlo subir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134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una caída del 5% y solo cae 1%, la economía se contrajo, pero </a:t>
            </a:r>
            <a:r>
              <a:rPr sz="1250" b="1">
                <a:solidFill>
                  <a:srgbClr val="00DC82"/>
                </a:solidFill>
                <a:latin typeface="Segoe UI"/>
              </a:rPr>
              <a:t>mucho menos de lo temido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sube por alivio.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275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3275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4738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DECÍRSELO A UN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664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mercado no premia los buenos resultados: premia las sorpresas. Es como un alumno del que se espera un 7,0 y saca un 6,5: sacó una buena nota, pero </a:t>
            </a:r>
            <a:r>
              <a:rPr sz="1250" b="1">
                <a:solidFill>
                  <a:srgbClr val="FFFFFF"/>
                </a:solidFill>
                <a:latin typeface="Segoe UI"/>
              </a:rPr>
              <a:t>decepcionó</a:t>
            </a:r>
            <a:r>
              <a:rPr sz="1250" b="0">
                <a:solidFill>
                  <a:srgbClr val="A9A5B4"/>
                </a:solidFill>
                <a:latin typeface="Segoe UI"/>
              </a:rPr>
              <a:t>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unidades de medida (y por qué se confunden)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mismo indicador se publica en varias unidades a la vez. Leer la equivocada es la causa más común de una interpretación errónea.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5511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7098"/>
                <a:gridCol w="2747358"/>
                <a:gridCol w="2976304"/>
                <a:gridCol w="3434197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UNIDAD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COMPARA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PARA QUÉ SIRVE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CUIDADO CON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Mensual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mes anterior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tendencia reciente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qué está pasando ahora mismo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 pequeña (0,2%, 0,3%) y muy sensible: un decimal es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Interanual
(o anual)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mismo mes del año pasado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foto de largo plazo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; es la que titula la prensa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doce meses de historia: puede bajar sin que nada mejore hoy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Anualizado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Proyecta el trimestre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como si durara todo un año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 trimestres entre sí; se usa en el PIB de EE.UU.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No es el crecimiento anual: es una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proyección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368167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368167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51447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REGLA PRÁCTICA DEL ÁREA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807079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Para saber qué está pasando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variación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saber dónde estamos </a:t>
            </a:r>
            <a:r>
              <a:rPr sz="1200" b="1">
                <a:solidFill>
                  <a:srgbClr val="FFFFFF"/>
                </a:solidFill>
                <a:latin typeface="Segoe UI"/>
              </a:rPr>
              <a:t>paradios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interanual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El mercado, en el corto plazo, reacciona más a la mensual.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efecto base: por qué el dato anual puede engañarte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Concepto poco explicado y absolutamente esencial. La cifra anual puede </a:t>
            </a:r>
            <a:r>
              <a:rPr sz="1350" b="1">
                <a:solidFill>
                  <a:srgbClr val="F5A524"/>
                </a:solidFill>
                <a:latin typeface="Segoe UI"/>
              </a:rPr>
              <a:t>bajar</a:t>
            </a:r>
            <a:r>
              <a:rPr sz="1350" b="0">
                <a:solidFill>
                  <a:srgbClr val="A9A5B4"/>
                </a:solidFill>
                <a:latin typeface="Segoe UI"/>
              </a:rPr>
              <a:t> aunque los precios estén subiendo igual que siempre.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comparación arrastra el pasado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cifra interanual compara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este mes</a:t>
            </a:r>
            <a:r>
              <a:rPr sz="1150" b="0">
                <a:solidFill>
                  <a:srgbClr val="A9A5B4"/>
                </a:solidFill>
                <a:latin typeface="Segoe UI"/>
              </a:rPr>
              <a:t> contra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el mismo mes del año pasado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 depende de dos cosas: lo que pasa hoy… </a:t>
            </a:r>
            <a:r>
              <a:rPr sz="1150" b="1">
                <a:solidFill>
                  <a:srgbClr val="F5A524"/>
                </a:solidFill>
                <a:latin typeface="Segoe UI"/>
              </a:rPr>
              <a:t>y de lo que pasó hace un año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hace doce meses hubo un mes excepcionalmente alto, al salir de la comparación la cifra anual </a:t>
            </a:r>
            <a:r>
              <a:rPr sz="1150" b="1">
                <a:solidFill>
                  <a:srgbClr val="F5A524"/>
                </a:solidFill>
                <a:latin typeface="Segoe UI"/>
              </a:rPr>
              <a:t>cae sola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EJEMPLO ILUSTRATIVO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Baja sin que mejore nada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Supongamos que la inflación sube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0,3% todos los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sin cambios.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Pero hace un año hubo un mes de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0,9%</a:t>
            </a:r>
            <a:r>
              <a:rPr sz="1150" b="0">
                <a:solidFill>
                  <a:srgbClr val="A9A5B4"/>
                </a:solidFill>
                <a:latin typeface="Segoe UI"/>
              </a:rPr>
              <a:t> por un alza de combustibles.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Cuando ese 0,9% sale de la ventana de doce meses y lo reemplaza un 0,3%, </a:t>
            </a:r>
            <a:r>
              <a:rPr sz="1150" b="1">
                <a:solidFill>
                  <a:srgbClr val="4C8DFF"/>
                </a:solidFill>
                <a:latin typeface="Segoe UI"/>
              </a:rPr>
              <a:t>la cifra anual baja 0,6 puntos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Nada mejoró. Solo cambió el punto de comparación.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Para anticipar, no para sorprenderse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efecto base es </a:t>
            </a:r>
            <a:r>
              <a:rPr sz="1150" b="1">
                <a:solidFill>
                  <a:srgbClr val="00DC82"/>
                </a:solidFill>
                <a:latin typeface="Segoe UI"/>
              </a:rPr>
              <a:t>conocido de antemano</a:t>
            </a:r>
            <a:r>
              <a:rPr sz="1150" b="0">
                <a:solidFill>
                  <a:srgbClr val="A9A5B4"/>
                </a:solidFill>
                <a:latin typeface="Segoe UI"/>
              </a:rPr>
              <a:t>: los meses del año pasado ya están publicados.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los analistas ya lo tienen en su consenso.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</a:t>
            </a:r>
            <a:r>
              <a:rPr sz="1150" b="1">
                <a:solidFill>
                  <a:srgbClr val="00DC82"/>
                </a:solidFill>
                <a:latin typeface="Segoe UI"/>
              </a:rPr>
              <a:t>anticipar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la cifra anual va a bajar (o subir) en los próximos meses casi por inercia.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para no atribuirle mérito a una baja que era aritmética.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General y subyacente: por qué se excluyen alimentos y energía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Suena arbitrario y no lo es. Entender esta distinción es entender cómo piensa un banco central.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DATO GENERAL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Todo lo que la gente paga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Incluye </a:t>
            </a:r>
            <a:r>
              <a:rPr sz="1100" b="1">
                <a:solidFill>
                  <a:srgbClr val="4C8DFF"/>
                </a:solidFill>
                <a:latin typeface="Segoe UI"/>
              </a:rPr>
              <a:t>absolutamente todo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la cuenta de la luz, la bencina, el pan, el arriendo.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Es el que </a:t>
            </a:r>
            <a:r>
              <a:rPr sz="1100" b="1">
                <a:solidFill>
                  <a:srgbClr val="4C8DFF"/>
                </a:solidFill>
                <a:latin typeface="Segoe UI"/>
              </a:rPr>
              <a:t>siente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 la gente en el bolsillo y el que aparece en las noticias.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Problema: sube y baja con violencia por cosas que nadie controla (una sequía, un conflicto que sube el petróleo).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DATO SUBYACENTE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Sin alimentos ni energía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Se le quitan los dos componentes </a:t>
            </a:r>
            <a:r>
              <a:rPr sz="1100" b="1">
                <a:solidFill>
                  <a:srgbClr val="00DC82"/>
                </a:solidFill>
                <a:latin typeface="Segoe UI"/>
              </a:rPr>
              <a:t>más volátiles</a:t>
            </a:r>
            <a:r>
              <a:rPr sz="1100" b="0">
                <a:solidFill>
                  <a:srgbClr val="A9A5B4"/>
                </a:solidFill>
                <a:latin typeface="Segoe UI"/>
              </a:rPr>
              <a:t>: alimentos y energía.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Lo que queda muestra </a:t>
            </a:r>
            <a:r>
              <a:rPr sz="1100" b="1">
                <a:solidFill>
                  <a:srgbClr val="00DC82"/>
                </a:solidFill>
                <a:latin typeface="Segoe UI"/>
              </a:rPr>
              <a:t>la tendencia de fondo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si la inflación está metida en los servicios, los arriendos, los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En inglés se le dice </a:t>
            </a:r>
            <a:r>
              <a:rPr sz="1100" b="1">
                <a:solidFill>
                  <a:srgbClr val="00DC82"/>
                </a:solidFill>
                <a:latin typeface="Segoe UI"/>
              </a:rPr>
              <a:t>core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verás ese nombre en muchas plataformas.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IMPORTA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El banco central no controla el clima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Una tasa de interés más alta </a:t>
            </a:r>
            <a:r>
              <a:rPr sz="1100" b="1">
                <a:solidFill>
                  <a:srgbClr val="F5A524"/>
                </a:solidFill>
                <a:latin typeface="Segoe UI"/>
              </a:rPr>
              <a:t>no baja el precio del petróleo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eso lo fija la geopolítica y la OPEP+.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Pero sí puede enfriar el consumo, los arriendos y las presiones de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el banco central mira </a:t>
            </a:r>
            <a:r>
              <a:rPr sz="1100" b="1">
                <a:solidFill>
                  <a:srgbClr val="F5A524"/>
                </a:solidFill>
                <a:latin typeface="Segoe UI"/>
              </a:rPr>
              <a:t>el subyacente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 la parte de la inflación sobre la que su herramienta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sí</a:t>
            </a:r>
            <a:r>
              <a:rPr sz="1100" b="0">
                <a:solidFill>
                  <a:srgbClr val="A9A5B4"/>
                </a:solidFill>
                <a:latin typeface="Segoe UI"/>
              </a:rPr>
              <a:t> actúa.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Y por eso el mercado también lo pondera más.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CONSECUENCIA DIRECTA PARA LA LECTURA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Si el dato general sorprende al alza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pero el subyacente sale en línea</a:t>
            </a:r>
            <a:r>
              <a:rPr sz="1200" b="0">
                <a:solidFill>
                  <a:srgbClr val="A9A5B4"/>
                </a:solidFill>
                <a:latin typeface="Segoe UI"/>
              </a:rPr>
              <a:t>, la reacción del precio suele ser corta y revertirse: el mercado concluye que fue energía, no inflación de fondo.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conceptos que explican por qué el número «cambia»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Desestacionalización y revisiones. Sin estos dos, tarde o temprano vas a pensar que la fuente se equivocó.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qué 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Hay movimientos que se repiten </a:t>
            </a:r>
            <a:r>
              <a:rPr sz="1250" b="1">
                <a:solidFill>
                  <a:srgbClr val="00DC82"/>
                </a:solidFill>
                <a:latin typeface="Segoe UI"/>
              </a:rPr>
              <a:t>todos los años</a:t>
            </a:r>
            <a:r>
              <a:rPr sz="1250" b="0">
                <a:solidFill>
                  <a:srgbClr val="A9A5B4"/>
                </a:solidFill>
                <a:latin typeface="Segoe UI"/>
              </a:rPr>
              <a:t>: en diciembre se contrata para las fiestas, en marzo suben los útiles escolares.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para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no se corrigiera, cada diciembre parecería un auge y cada enero una crisis. El ajuste </a:t>
            </a:r>
            <a:r>
              <a:rPr sz="1250" b="1">
                <a:solidFill>
                  <a:srgbClr val="00DC82"/>
                </a:solidFill>
                <a:latin typeface="Segoe UI"/>
              </a:rPr>
              <a:t>quita el patrón estacional</a:t>
            </a:r>
            <a:r>
              <a:rPr sz="1250" b="0">
                <a:solidFill>
                  <a:srgbClr val="A9A5B4"/>
                </a:solidFill>
                <a:latin typeface="Segoe UI"/>
              </a:rPr>
              <a:t> para dejar ver lo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cómo se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dato que publica el calendario y que mueve el mercado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ajustado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«sin ajustar» existe, pero se usa para otras cosas (reajustes, contratos).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qué 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primer número sale con información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incompleta</a:t>
            </a:r>
            <a:r>
              <a:rPr sz="1250" b="0">
                <a:solidFill>
                  <a:srgbClr val="A9A5B4"/>
                </a:solidFill>
                <a:latin typeface="Segoe UI"/>
              </a:rPr>
              <a:t>: no todas las empresas respondieron la encuesta a tiempo. Después se corrige.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dónde pegan más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el empleo de EE.UU. cada publicación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revisa los dos meses anteriores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En el PIB hay tres estimaciones sucesivas del mismo trimestre.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por qué te importan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Una revisión grande </a:t>
            </a:r>
            <a:r>
              <a:rPr sz="1250" b="1">
                <a:solidFill>
                  <a:srgbClr val="00DC82"/>
                </a:solidFill>
                <a:latin typeface="Segoe UI"/>
              </a:rPr>
              <a:t>puede mover más que el dato del mes</a:t>
            </a:r>
            <a:r>
              <a:rPr sz="1250" b="0">
                <a:solidFill>
                  <a:srgbClr val="A9A5B4"/>
                </a:solidFill>
                <a:latin typeface="Segoe UI"/>
              </a:rPr>
              <a:t>: si el mes pasado se crearon 100 mil empleos menos de lo informado, la foto del empleo cambia entera.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 QUE ESTO TE ENSEÑA SOBRE LA NATURALEZA DEL DATO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indicador económico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estimación que mejora con el tiempo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una verdad definitiva. Quien interpreta bien trata el primer número como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mejor aproximación disponible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como un hecho cerrado.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formas de medir la economía: encuesta y registro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Saber de qué tipo es el dato que estás leyendo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cuánta confianza</a:t>
            </a:r>
            <a:r>
              <a:rPr sz="1350" b="0">
                <a:solidFill>
                  <a:srgbClr val="A9A5B4"/>
                </a:solidFill>
                <a:latin typeface="Segoe UI"/>
              </a:rPr>
              <a:t> darle y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cuánto se adelanta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TIPO 1 ·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lo que ya ocurrió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suman hechos concretos: sueldos pagados, cajas registradas, barriles almacenados, contenedores exportados.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preciso y difícil de discutir.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llega tarde. Cuando se publica, el hecho ya pasó.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nóminas, ventas minoristas, balanza comercial, PIB.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TIPO 2 · ENCUESTA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pregunta cómo se ve el futuro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consulta a gerentes de compra, a empresas o a consumidores: </a:t>
            </a:r>
            <a:r>
              <a:rPr sz="1150" b="1">
                <a:solidFill>
                  <a:srgbClr val="00DC82"/>
                </a:solidFill>
                <a:latin typeface="Segoe UI"/>
              </a:rPr>
              <a:t>¿mejor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adelanta. Quien compra insumos hoy sabe qué va a producir en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mide </a:t>
            </a:r>
            <a:r>
              <a:rPr sz="1150" b="1">
                <a:solidFill>
                  <a:srgbClr val="00DC82"/>
                </a:solidFill>
                <a:latin typeface="Segoe UI"/>
              </a:rPr>
              <a:t>percepción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la percepción puede equivocarse o contagiarse del ánimo general.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PMI, ISM, confianza del consumidor.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COMBINAN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Uno avisa, el otro confirma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lectura profesional los usa </a:t>
            </a:r>
            <a:r>
              <a:rPr sz="1150" b="1">
                <a:solidFill>
                  <a:srgbClr val="F5A524"/>
                </a:solidFill>
                <a:latin typeface="Segoe UI"/>
              </a:rPr>
              <a:t>en secuencia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encuesta </a:t>
            </a:r>
            <a:r>
              <a:rPr sz="1150" b="1">
                <a:solidFill>
                  <a:srgbClr val="F5A524"/>
                </a:solidFill>
                <a:latin typeface="Segoe UI"/>
              </a:rPr>
              <a:t>anticipa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giro, el registro lo </a:t>
            </a:r>
            <a:r>
              <a:rPr sz="1150" b="1">
                <a:solidFill>
                  <a:srgbClr val="F5A524"/>
                </a:solidFill>
                <a:latin typeface="Segoe UI"/>
              </a:rPr>
              <a:t>confirma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las encuestas se deterioran tres meses seguidos y luego las ventas caen, había aviso.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encuesta se deteriora y el registro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sigue, fue ruido de ánimo.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Nunca contrapongas uno al otro: </a:t>
            </a:r>
            <a:r>
              <a:rPr sz="1150" b="1">
                <a:solidFill>
                  <a:srgbClr val="F5A524"/>
                </a:solidFill>
                <a:latin typeface="Segoe UI"/>
              </a:rPr>
              <a:t>miden cosas distintas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Índices de difusión: por qué 50 es la frontera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los PMI e ISM se leen igual. Entendido una vez, aplica a Estados Unidos, a China, a la Zona Euro y a Chile.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SE CONSTRUYE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cuántos mejoran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le pregunta a cientos de gerentes de compra: </a:t>
            </a:r>
            <a:r>
              <a:rPr sz="1150" b="1">
                <a:solidFill>
                  <a:srgbClr val="4C8DFF"/>
                </a:solidFill>
                <a:latin typeface="Segoe UI"/>
              </a:rPr>
              <a:t>¿su actividad está mejor, igual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índice es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porcentaje que responde «mejor»</a:t>
            </a:r>
            <a:r>
              <a:rPr sz="1150" b="0">
                <a:solidFill>
                  <a:srgbClr val="A9A5B4"/>
                </a:solidFill>
                <a:latin typeface="Segoe UI"/>
              </a:rPr>
              <a:t>, más la mitad de los que responden «igual».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el resultado va siempre entre 0 y 100.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SIGNIFICA EL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mitad mejora, la mitad empeora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Sobre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mejoran que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expandiendo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Bajo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contrayendo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En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equilibrio exacto, sin cambio.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distancia respecto de 50 indica </a:t>
            </a:r>
            <a:r>
              <a:rPr sz="1150" b="1">
                <a:solidFill>
                  <a:srgbClr val="00DC82"/>
                </a:solidFill>
                <a:latin typeface="Segoe UI"/>
              </a:rPr>
              <a:t>qué tan generalizado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movimiento.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TRAMPA CLÁSICA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Mide dirección, no tamaño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de 52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significa que la economía creció 52, ni un 2%. Significa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más empresas mejoraron que empeoraron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que cae de 58 a 53 sigue indicando </a:t>
            </a:r>
            <a:r>
              <a:rPr sz="1150" b="1">
                <a:solidFill>
                  <a:srgbClr val="F5A524"/>
                </a:solidFill>
                <a:latin typeface="Segoe UI"/>
              </a:rPr>
              <a:t>expansión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solo que menos generalizada. No es contracción.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una empresa gigante cuenta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lo mismo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una chica: el índice no pondera por tamaño.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Adelantados, coincidentes y atrasados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tercer eje de clasificación.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para qué</a:t>
            </a:r>
            <a:r>
              <a:rPr sz="1350" b="0">
                <a:solidFill>
                  <a:srgbClr val="A9A5B4"/>
                </a:solidFill>
                <a:latin typeface="Segoe UI"/>
              </a:rPr>
              <a:t> sirve cada dato: para anticipar, para confirmar o para explicar.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713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3807"/>
                <a:gridCol w="2578598"/>
                <a:gridCol w="2914937"/>
                <a:gridCol w="3587615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HACE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EJEMPLOS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CÓMO SE USA AL INTERPRETAR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Adelantados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antes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PMI e ISM, peticiones de subsidio, permisos de construcción, expectativas de inflación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anticipar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el giro. Son los que más mueven el precio, porque traen información nueva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Coincidentes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junto con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la economía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de empleo, producción industrial, ventas minoristas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confirmar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el giro anticipado se está materializando de verdad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Atrasados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después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desempleo, PIB, inflación subyacente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explicar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y para medir consecuencias. Mueven menos… salvo que sorprendan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3021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3021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67652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LA INFLACIÓN, SIENDO ATRASADA, MUEVE TANTO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6913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el banco central </a:t>
            </a:r>
            <a:r>
              <a:rPr sz="1200" b="1">
                <a:solidFill>
                  <a:srgbClr val="FFFFFF"/>
                </a:solidFill>
                <a:latin typeface="Segoe UI"/>
              </a:rPr>
              <a:t>decide sobre ella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 dato atrasado que define la política monetaria pesa más que un adelantado que no define nada.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peso lo da la consecuencia, no el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cadena de transmisión: del dato al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Este es el mapa mental que hay que tener siempre. </a:t>
            </a:r>
            <a:r>
              <a:rPr sz="1350" b="1">
                <a:solidFill>
                  <a:srgbClr val="00DC82"/>
                </a:solidFill>
                <a:latin typeface="Segoe UI"/>
              </a:rPr>
              <a:t>Todo</a:t>
            </a:r>
            <a:r>
              <a:rPr sz="1350" b="0">
                <a:solidFill>
                  <a:srgbClr val="A9A5B4"/>
                </a:solidFill>
                <a:latin typeface="Segoe UI"/>
              </a:rPr>
              <a:t> dato de Estados Unidos recorre este camino.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Sale el dato y se compara con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Nace la sorpresa. Sin sorpresa, la cadena no arranca.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658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2017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Cambia la expectativa sobre la tasa de interés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382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recalcula: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hace más o menos probable que la Reserva Federal baje la tasa?</a:t>
            </a:r>
            <a:r>
              <a:rPr sz="1250" b="0">
                <a:solidFill>
                  <a:srgbClr val="A9A5B4"/>
                </a:solidFill>
                <a:latin typeface="Segoe UI"/>
              </a:rPr>
              <a:t> Acá se decide todo lo que sigue.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517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7877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Se mueve el rendimiento de los bonos del Tesoro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242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bonos son el termómetro de esa expectativa. Si se espera tasa más alta por más tiempo,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rendimiento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377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3737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Se mueve el dólar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02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Rendimiento más alto = tener dólares paga más = </a:t>
            </a:r>
            <a:r>
              <a:rPr sz="1250" b="1">
                <a:solidFill>
                  <a:srgbClr val="00DC82"/>
                </a:solidFill>
                <a:latin typeface="Segoe UI"/>
              </a:rPr>
              <a:t>entra capital y el dólar se fortalece</a:t>
            </a:r>
            <a:r>
              <a:rPr sz="1250" b="0">
                <a:solidFill>
                  <a:srgbClr val="A9A5B4"/>
                </a:solidFill>
                <a:latin typeface="Segoe UI"/>
              </a:rPr>
              <a:t>. Es el eslabón que conecta con nuestros activos.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023741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959733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Reaccionan los activos, cada uno por su razón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96207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oro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(compite con un bono que ahora paga más). El Nasdaq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(vale por ganancias futuras, que a tasa alta valen menos hoy). El USD/CLP </a:t>
            </a:r>
            <a:r>
              <a:rPr sz="1250" b="1">
                <a:solidFill>
                  <a:srgbClr val="00DC82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dólar se fortalece frente a todo).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13503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913503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05980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PREGUNTA ÚNICA QUE RESUME LA CADENA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352415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Frente a cualquier dato de EE.UU., pregúntate solo esto: </a:t>
            </a:r>
            <a:r>
              <a:rPr sz="1250" b="1">
                <a:solidFill>
                  <a:srgbClr val="FFFFFF"/>
                </a:solidFill>
                <a:latin typeface="Segoe UI"/>
              </a:rPr>
              <a:t>¿le da a la Reserva Federal una razón para mantener la tasa alta, o para bajarla?</a:t>
            </a:r>
            <a:r>
              <a:rPr sz="1250" b="0">
                <a:solidFill>
                  <a:srgbClr val="A9A5B4"/>
                </a:solidFill>
                <a:latin typeface="Segoe UI"/>
              </a:rPr>
              <a:t> Con esa respuesta, la dirección de los cuatro activos se deduce sola.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Estados Unidos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Son los que mandan en el mercado global, porque definen la tasa de interés del dólar — y el dólar es </a:t>
            </a:r>
            <a:r>
              <a:rPr sz="1450" b="1">
                <a:solidFill>
                  <a:srgbClr val="4C8DFF"/>
                </a:solidFill>
                <a:latin typeface="Segoe UI"/>
              </a:rPr>
              <a:t>la moneda en la que se cotiza casi todo lo que operamos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mes macro de Estados Unidos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datos no salen al azar: siguen una secuencia que se repite todos los meses. Conocerla te permite </a:t>
            </a:r>
            <a:r>
              <a:rPr sz="1350" b="1">
                <a:solidFill>
                  <a:srgbClr val="4C8DFF"/>
                </a:solidFill>
                <a:latin typeface="Segoe UI"/>
              </a:rPr>
              <a:t>preparar</a:t>
            </a:r>
            <a:r>
              <a:rPr sz="1350" b="0">
                <a:solidFill>
                  <a:srgbClr val="A9A5B4"/>
                </a:solidFill>
                <a:latin typeface="Segoe UI"/>
              </a:rPr>
              <a:t> la semana.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21521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2259"/>
                <a:gridCol w="4708745"/>
                <a:gridCol w="1681694"/>
                <a:gridCol w="224225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MOMENTO DEL MES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SE PUBLICA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HORA CHILE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manufacturero (ISM)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3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de servicios (ISM)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Viernes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Informe de empleo: nóminas, desempleo y salarios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+ encuesta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Días 10 a 15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Inflación al consumidor (IPC) y al productor (IPP)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Mitad de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Ventas minoristas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coincidente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Fin de mes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 (PCE) y PIB trimestral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Todos los jueves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Peticiones de subsidio por desempleo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969131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969131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15435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SOBRE LAS HORAS: NUNCA LAS ASUMAS FIJAS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08043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horarios de arriba son los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hoy, 31 de julio</a:t>
            </a:r>
            <a:r>
              <a:rPr sz="1200" b="0">
                <a:solidFill>
                  <a:srgbClr val="A9A5B4"/>
                </a:solidFill>
                <a:latin typeface="Segoe UI"/>
              </a:rPr>
              <a:t>. Estados Unidos y Chile cambian su horario de verano en meses distintos, así que la misma publicación puede caer una hora antes o después según la época del año.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Confirma siempre en el calendario.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consumidor (IPC)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indicador más observado del planeta. Si vas a dominar uno solo, que sea este.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Entre el día 10 y 15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atrasado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Cuánto cambió el precio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una canasta fija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bienes y servicios que compra un hogar urbano típico.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«Fija» es la palabra clave: se mide </a:t>
            </a:r>
            <a:r>
              <a:rPr sz="1200" b="1">
                <a:solidFill>
                  <a:srgbClr val="FFFFFF"/>
                </a:solidFill>
                <a:latin typeface="Segoe UI"/>
              </a:rPr>
              <a:t>siempre la misma canasta</a:t>
            </a:r>
            <a:r>
              <a:rPr sz="1200" b="0">
                <a:solidFill>
                  <a:srgbClr val="A9A5B4"/>
                </a:solidFill>
                <a:latin typeface="Segoe UI"/>
              </a:rPr>
              <a:t>, para que el cambio sea de precio y no de hábitos de consumo.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componente más grande es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vivienda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(arriendos y su equivalente para propietarios): alrededor de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 que siente la gente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y por eso es la que tiene peso político y mediático.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ESTÁ CONSTRUIDO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Se recolectan decenas de miles de precios en comercios y viviendas de todo el país, cada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Cada categoría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pesa</a:t>
            </a:r>
            <a:r>
              <a:rPr sz="1200" b="0">
                <a:solidFill>
                  <a:srgbClr val="A9A5B4"/>
                </a:solidFill>
                <a:latin typeface="Segoe UI"/>
              </a:rPr>
              <a:t> según cuánto gasta en ella un hogar promedio: si la vivienda es un tercio del gasto, es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resultado se ajusta por estacionalidad para poder comparar meses.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Limitación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ser una canasta fija, si la carne sube y la gente se cambia al pollo, el índice sigue midiendo la carne. Tiende a </a:t>
            </a:r>
            <a:r>
              <a:rPr sz="1200" b="1">
                <a:solidFill>
                  <a:srgbClr val="FFFFFF"/>
                </a:solidFill>
                <a:latin typeface="Segoe UI"/>
              </a:rPr>
              <a:t>sobreestimar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inflación real. Este defecto es la razón de que exista el PCE.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cómo se lee la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Salen cuatro cifras al mismo tiempo. El orden en que las mires determina si interpretas bien o mal.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MIRA PRIMERO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La más importante de las cuatro.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Sin alimentos ni energía, mes contra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Muestra la </a:t>
            </a:r>
            <a:r>
              <a:rPr sz="1150" b="1">
                <a:solidFill>
                  <a:srgbClr val="00DC82"/>
                </a:solidFill>
                <a:latin typeface="Segoe UI"/>
              </a:rPr>
              <a:t>tendencia de fondo, ahora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la inflación está metida en servicios y arriendos.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el banco central mira y la que más mueve el precio.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Referencia conceptual: un 0,2% mensual sostenido equivale, más o menos, a la meta de 2% anual.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MIRA SEGUNDO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misma exclusión, pero contra el mismo mes del año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contexto</a:t>
            </a:r>
            <a:r>
              <a:rPr sz="1150" b="0">
                <a:solidFill>
                  <a:srgbClr val="A9A5B4"/>
                </a:solidFill>
                <a:latin typeface="Segoe UI"/>
              </a:rPr>
              <a:t>: ¿venimos bajando o estancados?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Recuerda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efecto base</a:t>
            </a:r>
            <a:r>
              <a:rPr sz="1150" b="0">
                <a:solidFill>
                  <a:srgbClr val="A9A5B4"/>
                </a:solidFill>
                <a:latin typeface="Segoe UI"/>
              </a:rPr>
              <a:t>: parte de su movimiento puede ser pura aritmética del año anterior.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se compara contra la meta oficial del banco central.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MIRA AL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General, mensual y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el titular de la prensa, y el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define la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Su diferencia con el subyacente te dice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hicieron la energía y los alimentos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 este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el general sorprende y el subyacente no: fue energía. Reacción típica </a:t>
            </a:r>
            <a:r>
              <a:rPr sz="1150" b="1">
                <a:solidFill>
                  <a:srgbClr val="F5A524"/>
                </a:solidFill>
                <a:latin typeface="Segoe UI"/>
              </a:rPr>
              <a:t>corta y con 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</a:t>
            </a:r>
            <a:r>
              <a:rPr sz="1150" b="1">
                <a:solidFill>
                  <a:srgbClr val="F5A524"/>
                </a:solidFill>
                <a:latin typeface="Segoe UI"/>
              </a:rPr>
              <a:t>ambos</a:t>
            </a:r>
            <a:r>
              <a:rPr sz="1150" b="0">
                <a:solidFill>
                  <a:srgbClr val="A9A5B4"/>
                </a:solidFill>
                <a:latin typeface="Segoe UI"/>
              </a:rPr>
              <a:t> sorprenden en la misma dirección: la señal es sólida y el movimiento tiende a sostenerse.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qué debería hacer el precio,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Ejemplo ilustrativo con consenso de </a:t>
            </a:r>
            <a:r>
              <a:rPr sz="1350" b="1">
                <a:solidFill>
                  <a:srgbClr val="00DC82"/>
                </a:solidFill>
                <a:latin typeface="Segoe UI"/>
              </a:rPr>
              <a:t>0,2%</a:t>
            </a:r>
            <a:r>
              <a:rPr sz="1350" b="0">
                <a:solidFill>
                  <a:srgbClr val="A9A5B4"/>
                </a:solidFill>
                <a:latin typeface="Segoe UI"/>
              </a:rPr>
              <a:t> en la variación mensual subyacente. Fíjate en que la dirección </a:t>
            </a:r>
            <a:r>
              <a:rPr sz="1350" b="1">
                <a:solidFill>
                  <a:srgbClr val="00DC82"/>
                </a:solidFill>
                <a:latin typeface="Segoe UI"/>
              </a:rPr>
              <a:t>se deduce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se memoriza.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SALE 0,4% · SOBRE LO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inflación no cede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84040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siguen subiendo, el banco central no puede bajar la tasa. Dinero caro por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Dólar (índice DXY):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un rendimiento más alto atrae capital hacia el dólar.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no paga interés; si el bono paga más, el oro pierde atractivo relativo.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el dólar se fortalece frente a todo, y el peso es una moneda emergente.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SALE 0,1% · BAJO LO ESPERADO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abre el camino a recortes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se calman, el banco central gana espacio para abaratar el dinero.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el rendimiento esperado cae y el dólar pierde atractivo.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enfrenta menos competencia de los bonos y además se abarata para quien compra en otra moneda.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tasa más baja hace valer más las ganancias futuras.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dólar global más débil y más apetito por activos emergentes.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SALE 0,2% · EN LÍNEA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Ya estaba en 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hay información nueva. La cadena de transmisión no arranca.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Reacción típica: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movimiento breve por el ruido de los primeros segundos, y </a:t>
            </a:r>
            <a:r>
              <a:rPr sz="1150" b="1">
                <a:solidFill>
                  <a:srgbClr val="F5A524"/>
                </a:solidFill>
                <a:latin typeface="Segoe UI"/>
              </a:rPr>
              <a:t>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Dónde se va el mercado entonces: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detalle. Busca la vivienda, los servicios, la diferencia general-subyacente.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Lectura para el cliente: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«salió como se esperaba, así que el mercado ya lo tenía incorporado».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escenario donde más se equivoca quien opera el titular.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productor (IPP)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inflación </a:t>
            </a:r>
            <a:r>
              <a:rPr sz="1350" b="1">
                <a:solidFill>
                  <a:srgbClr val="4C8DFF"/>
                </a:solidFill>
                <a:latin typeface="Segoe UI"/>
              </a:rPr>
              <a:t>antes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llegar a la góndola. Se subestima, y es uno de los mejores adelantos que existen.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Junto al IPC, a un día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adelantado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precios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reciben los productores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por lo que venden — no los que paga el consumidor.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decir: mide la inflación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aguas arriba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en la fábrica y en el mayorista, antes de que llegue al público.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También tiene su versión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subyacente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sin alimentos ni energía, por la misma razón que el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Incluye bienes y también servicios de transporte y almacenamiento.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Su valor está en la secuencia: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al productor le suben los costos hoy, tenderá a traspasarlos al consumidor en los meses siguientes.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IPP e IPC apuntan en la misma dirección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la señal se refuerza mucho: la presión es real y viene por toda la cadena.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se contradicen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 el corto plazo gana el IPC (es el que mira el banco central), pero el IPP te está avisando del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próximo</a:t>
            </a:r>
            <a:r>
              <a:rPr sz="1200" b="0">
                <a:solidFill>
                  <a:srgbClr val="A9A5B4"/>
                </a:solidFill>
                <a:latin typeface="Segoe UI"/>
              </a:rPr>
              <a:t>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Dato adicional: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algunos componentes del IPP alimentan el cálculo del PCE, así que un IPP alto suele adelantar un PCE alto.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misma dirección que el IPC, pero con menos intensidad — salvo que sorprenda mucho.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Gasto en consumo personal (PCE)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de inflación que el banco central </a:t>
            </a:r>
            <a:r>
              <a:rPr sz="1350" b="1">
                <a:solidFill>
                  <a:srgbClr val="4C8DFF"/>
                </a:solidFill>
                <a:latin typeface="Segoe UI"/>
              </a:rPr>
              <a:t>eligió como su meta oficial</a:t>
            </a:r>
            <a:r>
              <a:rPr sz="1350" b="0">
                <a:solidFill>
                  <a:srgbClr val="A9A5B4"/>
                </a:solidFill>
                <a:latin typeface="Segoe UI"/>
              </a:rPr>
              <a:t>. Entender por qué la eligió es entender el indicador.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LA META OFICIAL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2% anual en la versión subyacente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MIDE, Y EN QUÉ SE DIFERENCIA DEL IPC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la inflación sobre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lo que la gente efectivamente gastó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sobre una canasta fija.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1 — la canasta se adapta: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la carne sube y la gente se cambia al pollo, el PCE lo registra. El IPC no.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2 — cobertura más amplia: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incluye gasto hecho </a:t>
            </a:r>
            <a:r>
              <a:rPr sz="1200" b="1">
                <a:solidFill>
                  <a:srgbClr val="FFFFFF"/>
                </a:solidFill>
                <a:latin typeface="Segoe UI"/>
              </a:rPr>
              <a:t>por cuenta del consumidor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como la salud que paga el seguro o el empleador. El IPC solo cuenta lo que sale del bolsillo.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3 — distintos pesos: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vivienda pesa mucho menos que en el IPC, y la salud mucho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Consecuencia práctica: el PCE suele resultar </a:t>
            </a:r>
            <a:r>
              <a:rPr sz="1200" b="1">
                <a:solidFill>
                  <a:srgbClr val="FFFFFF"/>
                </a:solidFill>
                <a:latin typeface="Segoe UI"/>
              </a:rPr>
              <a:t>algo más bajo</a:t>
            </a:r>
            <a:r>
              <a:rPr sz="1200" b="0">
                <a:solidFill>
                  <a:srgbClr val="A9A5B4"/>
                </a:solidFill>
                <a:latin typeface="Segoe UI"/>
              </a:rPr>
              <a:t> que el IPC.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 SU PUBLICACIÓN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Mira el subyacente: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la cifra sobre la que está definida la meta de 2%.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número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política monetaria.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Sale después del IPC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el mercado ya lo estimó a partir de aquel. Por eso suele mover menos de lo que su importancia sugeriría.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sí mueve fuerte: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cuando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contradice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IPC. Ahí obliga a recalcular todo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Viene acompañado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ingreso y del gasto personal: si el gasto crece más que el ingreso, la gente está usando ahorros o deuda — consumo fuerte pero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 sostenible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idéntica lógica al IPC, y con más autoridad, porque es la vara oficial.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inflaciones,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Miden lo mismo en apariencia y responden preguntas distintas. Esta tabla es la que conviene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17706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2936238"/>
                <a:gridCol w="2936238"/>
                <a:gridCol w="304498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¿Qué precios mide?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paga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recibe el productor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del consumo efectivamente realizado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¿Canasta?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Fija: siempre la misma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Producción nacional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adapta al cambio de hábitos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¿Para qué sirve?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Saber qué siente la gente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Anticipar la inflación futura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Medir contra la meta oficial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¿Quién lo mira más?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prensa y el público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analistas de costos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¿Cuánto mueve el precio?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 — es el de mayor impacto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Moderado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Mucho, pero ya anticipado por el 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87623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87623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73392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EXPLICÁRSELO A UN CLIENTE EN UNA FRASE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026535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«El IPC mide lo que subió el supermercado; el IPP, lo que subió la fábrica antes de llegar al supermercado; y el PCE es la medida que el banco central usa para decidir si sube o baja las tasas.»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informe de empleo: tres mediciones en un solo documento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 todo junto el primer viernes del mes, a las 08:30 de Chile. Y sus tres partes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pueden contradecirse entre sí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PARTE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Nóminas no agrícolas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Cuántos </a:t>
            </a:r>
            <a:r>
              <a:rPr sz="1100" b="1">
                <a:solidFill>
                  <a:srgbClr val="00DC82"/>
                </a:solidFill>
                <a:latin typeface="Segoe UI"/>
              </a:rPr>
              <a:t>puestos de trabajo netos</a:t>
            </a:r>
            <a:r>
              <a:rPr sz="1100" b="0">
                <a:solidFill>
                  <a:srgbClr val="A9A5B4"/>
                </a:solidFill>
                <a:latin typeface="Segoe UI"/>
              </a:rPr>
              <a:t> se crearon el mes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a </a:t>
            </a:r>
            <a:r>
              <a:rPr sz="1100" b="1">
                <a:solidFill>
                  <a:srgbClr val="00DC82"/>
                </a:solidFill>
                <a:latin typeface="Segoe UI"/>
              </a:rPr>
              <a:t>empresas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(unas 120 mil establecimientos): cuenta puestos, no personas.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Excluye el sector agrícola —muy estacional— y el trabajo por cuenta propia.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00DC82"/>
                </a:solidFill>
                <a:latin typeface="Segoe UI"/>
              </a:rPr>
              <a:t>Es la cifra que titula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la que más mueve el mercado.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PARTE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</a:t>
            </a:r>
            <a:r>
              <a:rPr sz="1100" b="1">
                <a:solidFill>
                  <a:srgbClr val="F5A524"/>
                </a:solidFill>
                <a:latin typeface="Segoe UI"/>
              </a:rPr>
              <a:t>distinta</a:t>
            </a:r>
            <a:r>
              <a:rPr sz="1100" b="0">
                <a:solidFill>
                  <a:srgbClr val="A9A5B4"/>
                </a:solidFill>
                <a:latin typeface="Segoe UI"/>
              </a:rPr>
              <a:t>: a </a:t>
            </a:r>
            <a:r>
              <a:rPr sz="1100" b="1">
                <a:solidFill>
                  <a:srgbClr val="F5A524"/>
                </a:solidFill>
                <a:latin typeface="Segoe UI"/>
              </a:rPr>
              <a:t>hogares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(unos 60 mil).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puede contradecir a las nóminas: son dos muestras diferentes midiendo cosas diferentes.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Cuenta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personas que buscan trabajo y no encuentran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como porcentaje de la fuerza laboral.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Tiene una trampa grande, que vemos en la slide siguiente.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PARTE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Salario promedio por hora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 crecieron los sueldos, mensual y anualmente.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4C8DFF"/>
                </a:solidFill>
                <a:latin typeface="Segoe UI"/>
              </a:rPr>
              <a:t>Es el puente conceptual hacia la inflación: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los sueldos suben rápido, las empresas traspasan ese costo 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banco central lo vigila de cerca por eso mismo.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Referencia conceptual: un crecimiento en torno a 3%-3,5% anual es </a:t>
            </a:r>
            <a:r>
              <a:rPr sz="1100" b="1">
                <a:solidFill>
                  <a:srgbClr val="4C8DFF"/>
                </a:solidFill>
                <a:latin typeface="Segoe UI"/>
              </a:rPr>
              <a:t>compatible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una inflación de 2%.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ESTE INFORME MUEVE TANTO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toca </a:t>
            </a:r>
            <a:r>
              <a:rPr sz="1200" b="1">
                <a:solidFill>
                  <a:srgbClr val="FFFFFF"/>
                </a:solidFill>
                <a:latin typeface="Segoe UI"/>
              </a:rPr>
              <a:t>directamente la mitad del mandato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banco central (el empleo) y, a través de los salarios, también la otra mitad (los precios). Es el único dato del mes que habla de las dos cosas.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Nóminas y desempleo: las dos trampas de lectura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Son los dos errores de interpretación más frecuentes del mercado, y los dos se evitan entendiendo </a:t>
            </a:r>
            <a:r>
              <a:rPr sz="1350" b="1">
                <a:solidFill>
                  <a:srgbClr val="00DC82"/>
                </a:solidFill>
                <a:latin typeface="Segoe UI"/>
              </a:rPr>
              <a:t>cómo se construye</a:t>
            </a:r>
            <a:r>
              <a:rPr sz="1350" b="0">
                <a:solidFill>
                  <a:srgbClr val="A9A5B4"/>
                </a:solidFill>
                <a:latin typeface="Segoe UI"/>
              </a:rPr>
              <a:t> cada cifra.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5309463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TRAMPA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desempleo puede bajar por mala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tasa es una </a:t>
            </a:r>
            <a:r>
              <a:rPr sz="1150" b="1">
                <a:solidFill>
                  <a:srgbClr val="E84040"/>
                </a:solidFill>
                <a:latin typeface="Segoe UI"/>
              </a:rPr>
              <a:t>división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: desocupados dividido por </a:t>
            </a:r>
            <a:r>
              <a:rPr sz="1150" b="1">
                <a:solidFill>
                  <a:srgbClr val="E84040"/>
                </a:solidFill>
                <a:latin typeface="Segoe UI"/>
              </a:rPr>
              <a:t>fuerza laboral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solo se cuenta en la fuerza laboral a quien </a:t>
            </a:r>
            <a:r>
              <a:rPr sz="1150" b="1">
                <a:solidFill>
                  <a:srgbClr val="E84040"/>
                </a:solidFill>
                <a:latin typeface="Segoe UI"/>
              </a:rPr>
              <a:t>está buscando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trabajo activamente.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Entonces, si alguien se desanima y deja de buscar, </a:t>
            </a:r>
            <a:r>
              <a:rPr sz="1150" b="1">
                <a:solidFill>
                  <a:srgbClr val="E84040"/>
                </a:solidFill>
                <a:latin typeface="Segoe UI"/>
              </a:rPr>
              <a:t>sale del denominador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tasa de desempleo </a:t>
            </a:r>
            <a:r>
              <a:rPr sz="1150" b="1">
                <a:solidFill>
                  <a:srgbClr val="E84040"/>
                </a:solidFill>
                <a:latin typeface="Segoe UI"/>
              </a:rPr>
              <a:t>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aunque esa persona siga sin trabajo.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Cómo se resuelve: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mirar siempre la </a:t>
            </a:r>
            <a:r>
              <a:rPr sz="1150" b="1">
                <a:solidFill>
                  <a:srgbClr val="E84040"/>
                </a:solidFill>
                <a:latin typeface="Segoe UI"/>
              </a:rPr>
              <a:t>tasa de participación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 Si el desempleo bajó y la participación también, la mejora es falsa.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al revés: si el desempleo sube </a:t>
            </a:r>
            <a:r>
              <a:rPr sz="1150" b="1">
                <a:solidFill>
                  <a:srgbClr val="E84040"/>
                </a:solidFill>
                <a:latin typeface="Segoe UI"/>
              </a:rPr>
              <a:t>porque entró más gente a buscar</a:t>
            </a:r>
            <a:r>
              <a:rPr sz="1150" b="0">
                <a:solidFill>
                  <a:srgbClr val="A9A5B4"/>
                </a:solidFill>
                <a:latin typeface="Segoe UI"/>
              </a:rPr>
              <a:t>, es señal de una economía que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atrae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trabajadores.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615821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TRAMPA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 empleo muy fuerte puede ser mala noticia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Contraintuitivo y central: </a:t>
            </a:r>
            <a:r>
              <a:rPr sz="1150" b="1">
                <a:solidFill>
                  <a:srgbClr val="F5A524"/>
                </a:solidFill>
                <a:latin typeface="Segoe UI"/>
              </a:rPr>
              <a:t>«buenas noticias económicas» no siempre son «buenas noticias para el mercado»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economía crea mucho más empleo de lo esperado, sube la presión sobre los sueldos y, con ella, la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obliga al banco central a </a:t>
            </a:r>
            <a:r>
              <a:rPr sz="1150" b="1">
                <a:solidFill>
                  <a:srgbClr val="F5A524"/>
                </a:solidFill>
                <a:latin typeface="Segoe UI"/>
              </a:rPr>
              <a:t>mantener la tasa alta más tiempo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dólar se fortalece y las bolsas caen.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Cuándo se invierte esta lógica: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cuando el miedo dominante es la recesión y no la inflación. Ahí un empleo fuerte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celebrado por las bolsas.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Conclusión: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signo de la reacción depende de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problema le preocupa hoy al mercado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Y LA TERCERA COSA QUE HAY QUE MIRAR SIEMPRE: LAS REVISIONES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Cada informe </a:t>
            </a:r>
            <a:r>
              <a:rPr sz="1200" b="1">
                <a:solidFill>
                  <a:srgbClr val="FFFFFF"/>
                </a:solidFill>
                <a:latin typeface="Segoe UI"/>
              </a:rPr>
              <a:t>corrige los dos meses anteriores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Una revisión de -100 mil empleos cambia la foto del mercado laboral más que el dato del mes, y muchas veces el mercado reacciona a eso y no al titular.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Producto interno bruto (PIB)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más completa de una economía… y una de las que menos mueve el precio. Vale la pena entender por qué.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Trimestral, en tres estimaciones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UNIDAD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Anualizado y desestacionalizado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Y CÓMO SE COMPONE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valor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todos los bienes y servicios finales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producidos en el país durante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compone de cuatro patas: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 de los hogares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(alrededor del 70% en EE.UU.), </a:t>
            </a:r>
            <a:r>
              <a:rPr sz="1200" b="1">
                <a:solidFill>
                  <a:srgbClr val="FFFFFF"/>
                </a:solidFill>
                <a:latin typeface="Segoe UI"/>
              </a:rPr>
              <a:t>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las empresas, </a:t>
            </a:r>
            <a:r>
              <a:rPr sz="1200" b="1">
                <a:solidFill>
                  <a:srgbClr val="FFFFFF"/>
                </a:solidFill>
                <a:latin typeface="Segoe UI"/>
              </a:rPr>
              <a:t>gasto público</a:t>
            </a:r>
            <a:r>
              <a:rPr sz="1200" b="0">
                <a:solidFill>
                  <a:srgbClr val="A9A5B4"/>
                </a:solidFill>
                <a:latin typeface="Segoe UI"/>
              </a:rPr>
              <a:t> y </a:t>
            </a:r>
            <a:r>
              <a:rPr sz="1200" b="1">
                <a:solidFill>
                  <a:srgbClr val="FFFFFF"/>
                </a:solidFill>
                <a:latin typeface="Segoe UI"/>
              </a:rPr>
              <a:t>exportaciones menos importaciones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anualizado</a:t>
            </a:r>
            <a:r>
              <a:rPr sz="1200" b="0">
                <a:solidFill>
                  <a:srgbClr val="A9A5B4"/>
                </a:solidFill>
                <a:latin typeface="Segoe UI"/>
              </a:rPr>
              <a:t>: el trimestre se proyecta como si el ritmo durara doce meses. Un 2,5% trimestral anualizado </a:t>
            </a:r>
            <a:r>
              <a:rPr sz="1200" b="1">
                <a:solidFill>
                  <a:srgbClr val="FFFFFF"/>
                </a:solidFill>
                <a:latin typeface="Segoe UI"/>
              </a:rPr>
              <a:t>no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2,5% anual.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Dónde está la calidad del dato: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la composición. Un PIB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sólido; uno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acumulación de inventarios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—productos que se fabricaron y no se vendieron— es frágil y suele revertirse el trimestre siguiente.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LEE, Y POR QUÉ MUEVE POCO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Tres estimaciones del mismo trimestre: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(unos 30 días después del cierre),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segunda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(60 días) y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tercera</a:t>
            </a:r>
            <a:r>
              <a:rPr sz="1200" b="0">
                <a:solidFill>
                  <a:srgbClr val="A9A5B4"/>
                </a:solidFill>
                <a:latin typeface="Segoe UI"/>
              </a:rPr>
              <a:t> (90 días).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que mueve es la 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: es la que trae información nueva. Las otras dos solo ajustan.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mueve poco en general: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dato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atrasado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se publica, el mercado ya vio tres meses de empleo, inflación y consumo — es decir, ya sabe cómo venía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Para qué sí sirve: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</a:t>
            </a:r>
            <a:r>
              <a:rPr sz="1200" b="1">
                <a:solidFill>
                  <a:srgbClr val="FFFFFF"/>
                </a:solidFill>
                <a:latin typeface="Segoe UI"/>
              </a:rPr>
              <a:t>fijar el relato</a:t>
            </a:r>
            <a:r>
              <a:rPr sz="1200" b="0">
                <a:solidFill>
                  <a:srgbClr val="A9A5B4"/>
                </a:solidFill>
                <a:latin typeface="Segoe UI"/>
              </a:rPr>
              <a:t>. Dos trimestres negativos consecutivos activan la conversación de recesión, y eso sí cambia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PIB sobre lo esperado → dólar arriba, bolsas usualmente arriba (mejores ganancias), oro abajo.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ISM y PMI: los índices de gerentes de compra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adelantados más importantes. Ya sabes leerlos: se interpretan con la línea de los 50 que vimos en el bloque de fundamentos.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MANUFACTURERO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1 · 10:00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DE SERVICIOS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3 · 10:00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PMI DE S&amp;P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Adelanto a mitad de mes · 09:45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FRONTERA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50 = expansión / contracción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MIDEN Y POR QUÉ HAY DOS FAMILIAS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Ambos preguntan a </a:t>
            </a:r>
            <a:r>
              <a:rPr sz="1200" b="1">
                <a:solidFill>
                  <a:srgbClr val="FFFFFF"/>
                </a:solidFill>
                <a:latin typeface="Segoe UI"/>
              </a:rPr>
              <a:t>gerentes de compra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—las personas que deciden cuántos insumos comprar— si su actividad mejora o empeora.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a ellos: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quien compra insumos hoy sabe qué va a producir en tres meses. Es información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del futuro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ISM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el Instituto de Gestión de Suministros;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PMI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S&amp;P Global. Miden lo mismo con muestras y metodologías distintas, así que pueden diferir.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El de servicios pesa más que el manufacturero</a:t>
            </a:r>
            <a:r>
              <a:rPr sz="1200" b="0">
                <a:solidFill>
                  <a:srgbClr val="A9A5B4"/>
                </a:solidFill>
                <a:latin typeface="Segoe UI"/>
              </a:rPr>
              <a:t>: los servicios son cerca del 70% de la economía de EE.UU. Un error frecuente es darle más peso a la manufactura porque suena más «económica».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MIRAR DENTRO DEL ÍNDICE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titular es un promedio de sub-índices, y </a:t>
            </a:r>
            <a:r>
              <a:rPr sz="1200" b="1">
                <a:solidFill>
                  <a:srgbClr val="FFFFFF"/>
                </a:solidFill>
                <a:latin typeface="Segoe UI"/>
              </a:rPr>
              <a:t>los sub-índices dicen más que el titular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Nuevos pedidos: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más adelantado de todos. Es la demanda que viene.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Empleo: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las nóminas del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Precios pagados: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 inflación de costos. Cuando este sube fuerte, es un aviso temprano de IPP e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un ISM de servicios sobre lo esperado fortalece el dólar (economía sólida → tasa alta sostenida) y presiona al oro. Si el sub-índice de precios sube fuerte, el efecto se amplifica.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Consumo y empleo semanal: dos termómetros de frecuencia distinta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Uno mide dónde se juega el 70% de la economía. El otro es el dato macro más frecuente que existe.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5309463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MITAD DE MES · 08:30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Ventas minoristas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Cuánto vendió el comercio: el termómetro directo del consumo.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importa tanto: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consumo es cerca del 70% del PIB de EE.UU. Mientras el consumo aguante, no hay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Qué mirar de verdad: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</a:t>
            </a:r>
            <a:r>
              <a:rPr sz="1150" b="1">
                <a:solidFill>
                  <a:srgbClr val="00DC82"/>
                </a:solidFill>
                <a:latin typeface="Segoe UI"/>
              </a:rPr>
              <a:t>grupo de control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excluye autos, bencina, materiales de construcción y comida fuera del hogar.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ese y no el titular: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los excluidos son muy volátiles —el precio de la bencina distorsiona todo— y el grupo de control es el que alimenta el cálculo del PIB.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Se publica en pesos, no en unidades: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subieron, las ventas pueden crecer sin que se venda más. Hay que cruzarlo con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991487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TODOS LOS JUEVES · 08:30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Peticiones de subsidio por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Cuántas personas pidieron seguro de cesantía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esa semana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Su virtud es la frecuencia: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único dato macro relevante que sale cada semana. Detecta un giro antes que cualquier otro.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Cómo se lee:</a:t>
            </a:r>
            <a:r>
              <a:rPr sz="1150" b="0">
                <a:solidFill>
                  <a:srgbClr val="A9A5B4"/>
                </a:solidFill>
                <a:latin typeface="Segoe UI"/>
              </a:rPr>
              <a:t> nunca la semana suelta —es muy ruidosa— sino el </a:t>
            </a:r>
            <a:r>
              <a:rPr sz="1150" b="1">
                <a:solidFill>
                  <a:srgbClr val="F5A524"/>
                </a:solidFill>
                <a:latin typeface="Segoe UI"/>
              </a:rPr>
              <a:t>promedio de cuatro semanas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Referencias conceptuales: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unas 250 mil indica un mercado laboral sano; sostenidamente sobre 300 mil indica deterioro real.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Ojo con feriados y estacionalidad: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semanas cortas o cierres de planta distorsionan el dato puntual.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complementarios: qué aportan y qué 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mueven el mercado por sí solos, pero </a:t>
            </a:r>
            <a:r>
              <a:rPr sz="1350" b="1">
                <a:solidFill>
                  <a:srgbClr val="4C8DFF"/>
                </a:solidFill>
                <a:latin typeface="Segoe UI"/>
              </a:rPr>
              <a:t>completan el cuadro</a:t>
            </a:r>
            <a:r>
              <a:rPr sz="1350" b="0">
                <a:solidFill>
                  <a:srgbClr val="A9A5B4"/>
                </a:solidFill>
                <a:latin typeface="Segoe UI"/>
              </a:rPr>
              <a:t>. Conocerlos te permite explicar por qué el mercado se movió sin un dato grande.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831848"/>
          <a:ext cx="10874958" cy="24711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9990"/>
                <a:gridCol w="3697486"/>
                <a:gridCol w="4567482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MIDE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CÓMO SE INTERPRETA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Vacantes de empleo
(JOLTS)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puestos están abiertos sin llenar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demanda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 trabajo. El banco central mira cuántas vacantes hay por cada desocupado: si sobran vacantes, hay presión sobre los sueldos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privado ADP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Empleo del sector privado, según una procesadora de nóminas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Sale dos días antes que el informe oficial, pero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 correlación mes a mes es baja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. Sirve de referencia, no de pronóstico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Confianza del
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Cómo ve su situación y su futuro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 valor está en el sub-índice 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expectativas de inflación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 gente espera más inflación, la exige en sueldos y se vuelve profecía autocumplida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Pedidos de bienes
durables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Pedidos de productos que duran años (maquinaria, autos)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inversión empresarial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las empresas piden maquinaria, esperan vender. Muy volátil por los pedidos de aviones: mírese sin transporte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Jerarquía: cuáles pesan más,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pregunta de Hari. La respuesta corta: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peso no es fijo</a:t>
            </a:r>
            <a:r>
              <a:rPr sz="1350" b="0">
                <a:solidFill>
                  <a:srgbClr val="A9A5B4"/>
                </a:solidFill>
                <a:latin typeface="Segoe UI"/>
              </a:rPr>
              <a:t>. Depende de qué problema le preocupa al mercado en ese momento.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985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2490"/>
                <a:gridCol w="4349983"/>
                <a:gridCol w="4132484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NIVEL DE IMPACTO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INDICADORES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RAZÓN DE SU PESO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Máximo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Decisión de tasas y su comunicado · IPC · Informe de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Definen o determinan directamente la tasa de interés, que es el precio del dinero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Alto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PCE subyacente · ISM de servicios · Ventas minoristas (grupo de control)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Son la vara oficial de la meta, el adelanto del sector más grande y el pulso del consumo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PIB (primera estimación) · IPP · ISM manufacturero · Peticiones de subsidio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Confirman o anticipan, pero no cambian el escenario por sí solos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ADP · confianza · bienes durables · índices regionales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Aportan matices; mueven solo si sorprenden de forma extraordinaria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80199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80199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94830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REGLA QUE HAY QUE LLEVARSE: MANDA EL RÉGIMEN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4091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el problema del mercado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IPC manda y un empleo fuerte se lee como amenaza. Cuando el problema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recesión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empleo manda y un empleo fuerte se celebra. </a:t>
            </a:r>
            <a:r>
              <a:rPr sz="1200" b="1">
                <a:solidFill>
                  <a:srgbClr val="FFFFFF"/>
                </a:solidFill>
                <a:latin typeface="Segoe UI"/>
              </a:rPr>
              <a:t>Antes de interpretar un dato, define qué le preocupa hoy al mercado.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Cuando los datos se contradicen: cómo se resuelve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otra pregunta de Hari. Los resultados mixtos son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norma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la excepción, y hay reglas de prioridad para leerlos.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1 · El subyacente manda sobre el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el general lo mueven energía y alimentos, que la tasa de interés </a:t>
            </a:r>
            <a:r>
              <a:rPr sz="1250" b="1">
                <a:solidFill>
                  <a:srgbClr val="F5A524"/>
                </a:solidFill>
                <a:latin typeface="Segoe UI"/>
              </a:rPr>
              <a:t>no puede controlar</a:t>
            </a:r>
            <a:r>
              <a:rPr sz="1250" b="0">
                <a:solidFill>
                  <a:srgbClr val="A9A5B4"/>
                </a:solidFill>
                <a:latin typeface="Segoe UI"/>
              </a:rPr>
              <a:t>. Si el general sorprende y el subyacente no, el movimiento suele revertirse.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2 · Lo mensual manda sobre lo anual en el corto plazo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la cifra anual arrastra el efecto base, que ya era conocido. Lo mensual es lo </a:t>
            </a:r>
            <a:r>
              <a:rPr sz="1250" b="1">
                <a:solidFill>
                  <a:srgbClr val="F5A524"/>
                </a:solidFill>
                <a:latin typeface="Segoe UI"/>
              </a:rPr>
              <a:t>nuevo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3 · Manda el dato que habla del problema del momento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Es la regla del régimen. En un mercado preocupado por la inflación, un empleo fuerte con salarios contenidos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bien</a:t>
            </a:r>
            <a:r>
              <a:rPr sz="1250" b="0">
                <a:solidFill>
                  <a:srgbClr val="A9A5B4"/>
                </a:solidFill>
                <a:latin typeface="Segoe UI"/>
              </a:rPr>
              <a:t>; con salarios al alza,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mal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44163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7801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4 · Si dos partes del mismo informe se contradicen, no operes el primer minuto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166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reacciona primero al titular y después al detalle. Es el patrón </a:t>
            </a:r>
            <a:r>
              <a:rPr sz="1250" b="1">
                <a:solidFill>
                  <a:srgbClr val="F5A524"/>
                </a:solidFill>
                <a:latin typeface="Segoe UI"/>
              </a:rPr>
              <a:t>reacción y reversión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donde más pierde quien opera por reflejo.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33925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73392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8802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VE ESTO EN 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2837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Nóminas muy sobre lo esperado, pero desempleo que </a:t>
            </a:r>
            <a:r>
              <a:rPr sz="1250" b="1">
                <a:solidFill>
                  <a:srgbClr val="FFFFFF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y salarios </a:t>
            </a:r>
            <a:r>
              <a:rPr sz="1250" b="1">
                <a:solidFill>
                  <a:srgbClr val="FFFFFF"/>
                </a:solidFill>
                <a:latin typeface="Segoe UI"/>
              </a:rPr>
              <a:t>en línea</a:t>
            </a:r>
            <a:r>
              <a:rPr sz="1250" b="0">
                <a:solidFill>
                  <a:srgbClr val="A9A5B4"/>
                </a:solidFill>
                <a:latin typeface="Segoe UI"/>
              </a:rPr>
              <a:t>. Parece contradictorio y no lo es: entró más gente a buscar trabajo.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crecimiento sin presión inflacionaria</a:t>
            </a:r>
            <a:r>
              <a:rPr sz="1250" b="0">
                <a:solidFill>
                  <a:srgbClr val="A9A5B4"/>
                </a:solidFill>
                <a:latin typeface="Segoe UI"/>
              </a:rPr>
              <a:t> — el mejor escenario posible. El titular dice «economía recalentada»; el detalle dice lo contrario, y </a:t>
            </a:r>
            <a:r>
              <a:rPr sz="1250" b="1">
                <a:solidFill>
                  <a:srgbClr val="FFFFFF"/>
                </a:solidFill>
                <a:latin typeface="Segoe UI"/>
              </a:rPr>
              <a:t>el detalle tiene razón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Chile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El dólar en Chile tiene </a:t>
            </a:r>
            <a:r>
              <a:rPr sz="1450" b="1">
                <a:solidFill>
                  <a:srgbClr val="F5A524"/>
                </a:solidFill>
                <a:latin typeface="Segoe UI"/>
              </a:rPr>
              <a:t>dos motores</a:t>
            </a:r>
            <a:r>
              <a:rPr sz="1450" b="0">
                <a:solidFill>
                  <a:srgbClr val="A9A5B4"/>
                </a:solidFill>
                <a:latin typeface="Segoe UI"/>
              </a:rPr>
              <a:t>: lo que pasa con el dólar en el mundo y lo que pasa acá. Este bloque cubre el segundo.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Quién publica qué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Dos instituciones concentran todo. Conocer el reparto evita buscar en la fuente equivocada.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5285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63255"/>
                <a:gridCol w="2441317"/>
                <a:gridCol w="2441317"/>
                <a:gridCol w="33290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INSTITUCIÓN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CUÁNDO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QUÉ RESPONDE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(IPC)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Alrededor del día 8 · 08:00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¿Suben los precios?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mensual
(IMACEC)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¿Crece la economía este mes?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 trimestral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Mes siguiente al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creció en el trimestre?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Desempleo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Fin de mes · 08:00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¿Hay trabajo?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Balanza comercial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¿Entran o salen dólares del país?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política
monetaria (TPM)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8 reuniones al año · 18:00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cuesta el dinero en Chile?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 de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Mismo concepto que el de Estados Unidos, pero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dirección del efecto sobre el dólar es la inversa</a:t>
            </a:r>
            <a:r>
              <a:rPr sz="1350" b="0">
                <a:solidFill>
                  <a:srgbClr val="A9A5B4"/>
                </a:solidFill>
                <a:latin typeface="Segoe UI"/>
              </a:rPr>
              <a:t>. Acá está el detalle que más se confunde.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Instituto Nacional de Estadísticas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Alrededor del día 8 · 08:00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META DEL BANCO CENTRAL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3% anual, con tolerancia de ±1 punto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910840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LEE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publica la variación </a:t>
            </a:r>
            <a:r>
              <a:rPr sz="115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y la </a:t>
            </a:r>
            <a:r>
              <a:rPr sz="1150" b="1">
                <a:solidFill>
                  <a:srgbClr val="FFFFFF"/>
                </a:solidFill>
                <a:latin typeface="Segoe UI"/>
              </a:rPr>
              <a:t>acumulada en doce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; la segunda es la que se compara contra la meta de 3%.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También tiene versiones </a:t>
            </a:r>
            <a:r>
              <a:rPr sz="1150" b="1">
                <a:solidFill>
                  <a:srgbClr val="FFFFFF"/>
                </a:solidFill>
                <a:latin typeface="Segoe UI"/>
              </a:rPr>
              <a:t>sin volátiles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cumplen el mismo rol que el subyacente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Contexto local que importa: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buena parte de la canasta chilena depende de bienes importados, así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un dólar más alto se traduce en 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unos meses después. Se le llama traspaso del tipo de cambio.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genera un círculo que conviene tener claro: dólar sube → inflación sube → el Banco Central endurece → el peso se fortalece.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910840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DEBERÍA HACER EL USD/CLP, Y POR QUÉ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Cuidado con la dirección: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en el par USD/CLP, cuando el número sube significa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peso se debilita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sobre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Banco Central </a:t>
            </a:r>
            <a:r>
              <a:rPr sz="1150" b="1">
                <a:solidFill>
                  <a:srgbClr val="FFFFFF"/>
                </a:solidFill>
                <a:latin typeface="Segoe UI"/>
              </a:rPr>
              <a:t>no puede bajar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tasa, o incluso debe subirla → tener pesos paga más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bajo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se abre espacio para </a:t>
            </a:r>
            <a:r>
              <a:rPr sz="1150" b="1">
                <a:solidFill>
                  <a:srgbClr val="FFFFFF"/>
                </a:solidFill>
                <a:latin typeface="Segoe UI"/>
              </a:rPr>
              <a:t>recortar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 → los pesos rinden menos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Es el efecto espejo del caso estadounidense: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allá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dólar; acá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 al peso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par baja.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Magnitud: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efecto local suele ser menor que el del dólar global. Si los dos motores apuntan en direcciones opuestas, normalmente gana el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IMACEC: el termómetro mensual de la economía chilena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existe un equivalente exacto en Estados Unidos, y es el indicador de actividad más seguido del país.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NOMBRE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Índice mensual de actividad económica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COBERTURA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del 90% de los bienes y servicios del PIB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EXISTE Y QUÉ MIDE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PIB 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cada tres meses</a:t>
            </a:r>
            <a:r>
              <a:rPr sz="1200" b="0">
                <a:solidFill>
                  <a:srgbClr val="A9A5B4"/>
                </a:solidFill>
                <a:latin typeface="Segoe UI"/>
              </a:rPr>
              <a:t>: para conducir la política monetaria eso es demasiado lento.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IMACEC resuelve ese problema estimando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mensualmente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actividad, cubriendo cerca del 90% de lo que después mide el PIB.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compara contra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mes del año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le aplica todo lo que vimos sobre el efecto base.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Ventaja para nosotros: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llega temprano y con alta frecuencia. Cuando sale el PIB trimestral, el IMACEC ya lo había anticipado casi por completo — por eso el PIB chileno mueve poco.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DESGLOSE QUE HAY QUE MIRAR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IMACEC minero y no minero: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distinción clave.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minero depende del precio del cobre y de la producción de las faenas: puede subir por razones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dicen nada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economía interna.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minero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el que refleja de verdad la demanda interna: comercio, servicios, industria.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Qué debería hacer el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IMACEC sobre lo esperado → economía sólida y menos urgencia de recortar la tasa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 IMACEC decepcionante → más presión para recortar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Matiz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el IMACEC sube </a:t>
            </a:r>
            <a:r>
              <a:rPr sz="1200" b="1">
                <a:solidFill>
                  <a:srgbClr val="FFFFFF"/>
                </a:solidFill>
                <a:latin typeface="Segoe UI"/>
              </a:rPr>
              <a:t>solo por minería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efecto sobre el peso es más débil de lo que sugeriría el titular.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Empleo, precios al productor y PIB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Tres indicadores que se leen con lo que ya sabes. Lo relevante acá es </a:t>
            </a:r>
            <a:r>
              <a:rPr sz="1350" b="1">
                <a:solidFill>
                  <a:srgbClr val="F5A524"/>
                </a:solidFill>
                <a:latin typeface="Segoe UI"/>
              </a:rPr>
              <a:t>cómo cambia su interpretación</a:t>
            </a:r>
            <a:r>
              <a:rPr sz="1350" b="0">
                <a:solidFill>
                  <a:srgbClr val="A9A5B4"/>
                </a:solidFill>
                <a:latin typeface="Segoe UI"/>
              </a:rPr>
              <a:t> por la forma en que se publican.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FIN DE MES · 08:00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en EE.UU. —incluida la trampa de la participación—, con una diferencia de forma importante.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Se publica como trimestre móvil: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promedio de los últimos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Consecuencia: </a:t>
            </a:r>
            <a:r>
              <a:rPr sz="1150" b="1">
                <a:solidFill>
                  <a:srgbClr val="F5A524"/>
                </a:solidFill>
                <a:latin typeface="Segoe UI"/>
              </a:rPr>
              <a:t>cambia lento y suaviza los giros</a:t>
            </a:r>
            <a:r>
              <a:rPr sz="1150" b="0">
                <a:solidFill>
                  <a:srgbClr val="A9A5B4"/>
                </a:solidFill>
                <a:latin typeface="Segoe UI"/>
              </a:rPr>
              <a:t>. No esperes que reaccione rápido a un shock.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Efecto: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desempleo alto → presión para recortar la tasa →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MENSUAL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IPC del productor (IPP)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su par estadounidense: precios de fábrica antes del consumidor.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El mercado local lo sigue mucho 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el IPC, así que rara vez mueve el tipo de cambio por sí solo.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Dónde sí es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como adelanto de costos, y para anticipar presiones sobre el IPC de los meses siguientes.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Úsalo como contexto, no como detonante.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TRIMESTRAL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medición completa de la economía, con la misma estructura de cuatro patas que vimos para EE.UU.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Suele mover poco</a:t>
            </a:r>
            <a:r>
              <a:rPr sz="1150" b="0">
                <a:solidFill>
                  <a:srgbClr val="A9A5B4"/>
                </a:solidFill>
                <a:latin typeface="Segoe UI"/>
              </a:rPr>
              <a:t>, por una razón que ya conoces: el IMACEC mensual ya lo adelantó.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 valor está en el relato</a:t>
            </a:r>
            <a:r>
              <a:rPr sz="1150" b="0">
                <a:solidFill>
                  <a:srgbClr val="A9A5B4"/>
                </a:solidFill>
                <a:latin typeface="Segoe UI"/>
              </a:rPr>
              <a:t> y en las proyecciones: alimenta las estimaciones del Informe de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Trátalo como </a:t>
            </a:r>
            <a:r>
              <a:rPr sz="1150" b="1">
                <a:solidFill>
                  <a:srgbClr val="A9A5B4"/>
                </a:solidFill>
                <a:latin typeface="Segoe UI"/>
              </a:rPr>
              <a:t>confirmación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como noticia.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00DC82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Balanza comercial y el cobre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Si tuvieras que elegir </a:t>
            </a:r>
            <a:r>
              <a:rPr sz="1350" b="1">
                <a:solidFill>
                  <a:srgbClr val="00DC82"/>
                </a:solidFill>
                <a:latin typeface="Segoe UI"/>
              </a:rPr>
              <a:t>un solo</a:t>
            </a:r>
            <a:r>
              <a:rPr sz="1350" b="0">
                <a:solidFill>
                  <a:srgbClr val="A9A5B4"/>
                </a:solidFill>
                <a:latin typeface="Segoe UI"/>
              </a:rPr>
              <a:t> driver local del dólar en Chile, sería este. Y es el que conecta a Chile con China.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Exportaciones menos importaciones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PESO DEL COBRE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 la mitad de las exportaciones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EL MECANISMO, PASO A PASO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Chile exporta, el comprador paga en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gastar ese dinero en el país, hay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venderlo y comprar pesos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Más exportaciones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el mercado local → el dólar se abarata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Un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superávit</a:t>
            </a:r>
            <a:r>
              <a:rPr sz="1200" b="0">
                <a:solidFill>
                  <a:srgbClr val="A9A5B4"/>
                </a:solidFill>
                <a:latin typeface="Segoe UI"/>
              </a:rPr>
              <a:t> (se exporta más de lo que se importa) presiona el dólar a la baja. Un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déficit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presiona al alza.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Y como el cobre es cerca de la mitad de lo que Chile exporta,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precio del cobre es, en la práctica, el driver de esa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POR QUÉ EL PESO CHILENO SE MUEVE CON EL COBRE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peso es una de las monedas del mundo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correlacionadas con el cobre</a:t>
            </a:r>
            <a:r>
              <a:rPr sz="1200" b="0">
                <a:solidFill>
                  <a:srgbClr val="A9A5B4"/>
                </a:solidFill>
                <a:latin typeface="Segoe UI"/>
              </a:rPr>
              <a:t>. No es casualidad: es su principal fuente de divisas.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más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menos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el operador de USD/CLP mira el cobre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tanto como</a:t>
            </a:r>
            <a:r>
              <a:rPr sz="1200" b="0">
                <a:solidFill>
                  <a:srgbClr val="A9A5B4"/>
                </a:solidFill>
                <a:latin typeface="Segoe UI"/>
              </a:rPr>
              <a:t> mira el dólar global. Son los dos motores del par.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por eso los datos de China nos importan directamente: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China es el principal comprador del cobre chileno. Lo desarrollamos en el bloque de contexto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Tasa de política monetaria (TPM) y el diferencial de tasas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29156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81203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resultado de todo lo anterior: cada dato chileno termina empujando esta decisión.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DECIDE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Consejo del 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8 reuniones al año · comunicado 18:00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EL INFORME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IPoM, cuatro veces al año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SU MANDATO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Inflación en 3% y estabilidad financiera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3070479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 Y CÓMO SE COMUNICA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Es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tasa a la que se presta el dinero entre bancos</a:t>
            </a:r>
            <a:r>
              <a:rPr sz="1100" b="0">
                <a:solidFill>
                  <a:srgbClr val="A9A5B4"/>
                </a:solidFill>
                <a:latin typeface="Segoe UI"/>
              </a:rPr>
              <a:t> en Chile, y el Banco Central la fija. De ella cuelgan todas las demás tasas del país.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comunicado de la decisión </a:t>
            </a:r>
            <a:r>
              <a:rPr sz="1100" b="1">
                <a:solidFill>
                  <a:srgbClr val="FFFFFF"/>
                </a:solidFill>
                <a:latin typeface="Segoe UI"/>
              </a:rPr>
              <a:t>importa tanto como la decisión</a:t>
            </a:r>
            <a:r>
              <a:rPr sz="1100" b="0">
                <a:solidFill>
                  <a:srgbClr val="A9A5B4"/>
                </a:solidFill>
                <a:latin typeface="Segoe UI"/>
              </a:rPr>
              <a:t>: en él se señala hacia dónde irá la tasa. El mercado opera esa señal.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</a:t>
            </a:r>
            <a:r>
              <a:rPr sz="1100" b="1">
                <a:solidFill>
                  <a:srgbClr val="FFFFFF"/>
                </a:solidFill>
                <a:latin typeface="Segoe UI"/>
              </a:rPr>
              <a:t>Informe de Política Monetaria (IPoM)</a:t>
            </a:r>
            <a:r>
              <a:rPr sz="1100" b="0">
                <a:solidFill>
                  <a:srgbClr val="A9A5B4"/>
                </a:solidFill>
                <a:latin typeface="Segoe UI"/>
              </a:rPr>
              <a:t> trae las proyecciones de inflación y crecimiento, y puede mover el tipo de cambio </a:t>
            </a:r>
            <a:r>
              <a:rPr sz="1100" b="1">
                <a:solidFill>
                  <a:srgbClr val="FFFFFF"/>
                </a:solidFill>
                <a:latin typeface="Segoe UI"/>
              </a:rPr>
              <a:t>más que la decisión misma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Efecto directo: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sube la TPM, tener pesos rinde más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 Si la baja, ocurre lo contrario ⬆️.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3070479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DIFERENCIAL DE TASAS: EL CONCEPTO QUE AMARRA TODO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El capital busca rendimiento. Lo que importa no es la tasa chilena en sí, sino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diferencia entre la tasa de Chile y la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la Reserva Federal tiene tasas más altas que el Banco Central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conviene tener dólares antes que pesos → sale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el diferencial se estrecha a favor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 → conviene tener pesos → entra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Consecuencia práctica:</a:t>
            </a:r>
            <a:r>
              <a:rPr sz="1100" b="0">
                <a:solidFill>
                  <a:srgbClr val="A9A5B4"/>
                </a:solidFill>
                <a:latin typeface="Segoe UI"/>
              </a:rPr>
              <a:t> el USD/CLP puede moverse fuerte </a:t>
            </a:r>
            <a:r>
              <a:rPr sz="1100" b="1">
                <a:solidFill>
                  <a:srgbClr val="FFFFFF"/>
                </a:solidFill>
                <a:latin typeface="Segoe UI"/>
              </a:rPr>
              <a:t>sin que salga ningún dato chileno</a:t>
            </a:r>
            <a:r>
              <a:rPr sz="1100" b="0">
                <a:solidFill>
                  <a:srgbClr val="A9A5B4"/>
                </a:solidFill>
                <a:latin typeface="Segoe UI"/>
              </a:rPr>
              <a:t>, solo porque cambió la expectativa sobre la tasa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eso, para operar el dólar en Chile hay que seguir </a:t>
            </a:r>
            <a:r>
              <a:rPr sz="1100" b="1">
                <a:solidFill>
                  <a:srgbClr val="FFFFFF"/>
                </a:solidFill>
                <a:latin typeface="Segoe UI"/>
              </a:rPr>
              <a:t>los datos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la misma atención que los locales.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Cómo los datos deciden las tasas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Todo lo anterior converge acá. Este es el bloque que responde </a:t>
            </a:r>
            <a:r>
              <a:rPr sz="14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450" b="0">
                <a:solidFill>
                  <a:srgbClr val="A9A5B4"/>
                </a:solidFill>
                <a:latin typeface="Segoe UI"/>
              </a:rPr>
              <a:t> un dato mueve el precio, y no solo </a:t>
            </a:r>
            <a:r>
              <a:rPr sz="1450" b="1">
                <a:solidFill>
                  <a:srgbClr val="00DC82"/>
                </a:solidFill>
                <a:latin typeface="Segoe UI"/>
              </a:rPr>
              <a:t>cuánto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es una tasa de política monetaria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Antes de conectar los datos con la tasa, hay que tener claro qué es la tasa y qué puede hacer.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precio del dinero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la tasa de referencia que fija el banco central, y de ella cuelgan todas las demás: créditos, hipotecas, depósitos.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No la fija el mercado: la decide un comité</a:t>
            </a:r>
            <a:r>
              <a:rPr sz="1150" b="0">
                <a:solidFill>
                  <a:srgbClr val="A9A5B4"/>
                </a:solidFill>
                <a:latin typeface="Segoe UI"/>
              </a:rPr>
              <a:t>, mirando datos.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 Estados Unidos la decide el comité de la Reserva Federal, ocho veces al año. En Chile, el Consejo del Banco Central, también ocho veces.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Enfría o calienta la demanda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4C8DFF"/>
                </a:solidFill>
                <a:latin typeface="Segoe UI"/>
              </a:rPr>
              <a:t>Tasa alta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encarece → se consume e invierte menos → la demanda cae → </a:t>
            </a:r>
            <a:r>
              <a:rPr sz="1150" b="1">
                <a:solidFill>
                  <a:srgbClr val="4C8DFF"/>
                </a:solidFill>
                <a:latin typeface="Segoe UI"/>
              </a:rPr>
              <a:t>los precios dejan de subir tan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. El costo es menos crecimiento y más desempleo.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Tasa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abarata → se consume e invierte más → la economía se activa. El riesgo es </a:t>
            </a:r>
            <a:r>
              <a:rPr sz="1150" b="1">
                <a:solidFill>
                  <a:srgbClr val="4C8DFF"/>
                </a:solidFill>
                <a:latin typeface="Segoe UI"/>
              </a:rPr>
              <a:t>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un balancín: no se puede tener las dos cosas al mismo tiempo.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SU LÍMITE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Actúa con retraso y no lo controla 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Actúa con retraso:</a:t>
            </a:r>
            <a:r>
              <a:rPr sz="1150" b="0">
                <a:solidFill>
                  <a:srgbClr val="A9A5B4"/>
                </a:solidFill>
                <a:latin typeface="Segoe UI"/>
              </a:rPr>
              <a:t> una subida de tasa tarda meses en reflejarse en los precios. El banco central decide </a:t>
            </a:r>
            <a:r>
              <a:rPr sz="1150" b="1">
                <a:solidFill>
                  <a:srgbClr val="F5A524"/>
                </a:solidFill>
                <a:latin typeface="Segoe UI"/>
              </a:rPr>
              <a:t>mirando hacia adelante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el dato de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No controla la oferta: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puede bajar el precio del petróleo ni arreglar una sequía. Solo actúa sobre la demanda.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De ahí que mire el subyacente: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la parte de la inflación sobre la que su herramienta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tiene efecto.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476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476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1939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ESTO EXPLICA LA REACCIÓN DEL MERCADO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4865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Como la tasa actúa con retraso, el mercado no espera la decisión: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cotiza la probabilidad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que ocurra. Cada dato mueve esa probabilidad, y ese movimiento es lo que ves en el precio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día del 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, meses antes de la reunión.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doble mandato, y por qué genera tensión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Reserva Federal persigue </a:t>
            </a:r>
            <a:r>
              <a:rPr sz="1350" b="1">
                <a:solidFill>
                  <a:srgbClr val="00DC82"/>
                </a:solidFill>
                <a:latin typeface="Segoe UI"/>
              </a:rPr>
              <a:t>dos objetivos a la vez</a:t>
            </a:r>
            <a:r>
              <a:rPr sz="1350" b="0">
                <a:solidFill>
                  <a:srgbClr val="A9A5B4"/>
                </a:solidFill>
                <a:latin typeface="Segoe UI"/>
              </a:rPr>
              <a:t>, y a veces se contradicen. Ahí es donde la lectura de datos se vuelve interesante.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MANDATO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Máximo 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Que haya el mayor nivel de empleo </a:t>
            </a:r>
            <a:r>
              <a:rPr sz="1150" b="1">
                <a:solidFill>
                  <a:srgbClr val="00DC82"/>
                </a:solidFill>
                <a:latin typeface="Segoe UI"/>
              </a:rPr>
              <a:t>sostenible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nóminas, tasa de desempleo, participación, vacantes, peticiones de subsidio.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No hay una cifra objetivo pública, a diferencia de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MANDATO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Precios estables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Meta explícita: </a:t>
            </a:r>
            <a:r>
              <a:rPr sz="1150" b="1">
                <a:solidFill>
                  <a:srgbClr val="4C8DFF"/>
                </a:solidFill>
                <a:latin typeface="Segoe UI"/>
              </a:rPr>
              <a:t>2% anual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medido en el gasto en consumo personal 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PCE, IPC, IPP, salarios, expectativas de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mandato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 número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más fácil de evaluar desde fuera.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TENSIÓN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Los dos objetivos chocan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Para bajar la inflación hay que enfriar la economía…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destruye empleo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Para proteger el empleo hay que estimular…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aviva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Lo que hay que leer en cada dato: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a cuál de los dos mandatos le está hablando, y si le da al comité una razón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o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aflojar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Comparación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Banco Central de Chile tiene un mandato </a:t>
            </a:r>
            <a:r>
              <a:rPr sz="1150" b="1">
                <a:solidFill>
                  <a:srgbClr val="F5A524"/>
                </a:solidFill>
                <a:latin typeface="Segoe UI"/>
              </a:rPr>
              <a:t>centrado en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(3%), no un doble mandato simétrico. Por eso reacciona distinto ante los mismos datos.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De la lectura del dato a la dirección del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tabla de síntesis.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la memorices</a:t>
            </a:r>
            <a:r>
              <a:rPr sz="1350" b="0">
                <a:solidFill>
                  <a:srgbClr val="A9A5B4"/>
                </a:solidFill>
                <a:latin typeface="Segoe UI"/>
              </a:rPr>
              <a:t>: verifica que puedas reconstruir cada fila con la cadena de transmisión.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22044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12935"/>
                <a:gridCol w="2912935"/>
                <a:gridCol w="1165174"/>
                <a:gridCol w="1068076"/>
                <a:gridCol w="1456467"/>
                <a:gridCol w="13593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LECTURA DEL DATO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IMPLICA PARA LA TASA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DÓLAR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ORO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NASDAQ 100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USD/CLP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alta por más tiempo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bajo lo esperado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abre espacio a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fuerte
(régimen de inflación)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Retrasa los recortes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débil
(régimen de recesión)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Adelanta los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Mixto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Menos urgencia de estimular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Cobre o PMI de China al alza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efecto directo en la Fed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4021455"/>
            <a:ext cx="10874959" cy="1307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402145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6775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LAS DOS FILAS QUE PARECEN INCONSISTENTES, Y NO LO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60367"/>
            <a:ext cx="10509199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empleo muy débil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queda «mixto»: la tasa más baja lo favorece, pero una recesión daña las ganancias de las empresas. Y 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actividad fuerte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sube aunque el dólar también: ahí pesa más la expectativa de mejores resultados. </a:t>
            </a:r>
            <a:r>
              <a:rPr sz="1200" b="1">
                <a:solidFill>
                  <a:srgbClr val="FFFFFF"/>
                </a:solidFill>
                <a:latin typeface="Segoe UI"/>
              </a:rPr>
              <a:t>Cuando dos fuerzas compiten, hay que decidir cuál domina — eso es interpretar.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cuatro escenarios: crecimiento contra inflación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Cualquier combinación de datos cae en uno de estos cuatro cuadrantes. Ubicarlo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resumen ejecutivo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tu lectura del 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2526715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CRECE + INFLACIÓN BAJA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escenario ideal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economía crece </a:t>
            </a:r>
            <a:r>
              <a:rPr sz="1150" b="1">
                <a:solidFill>
                  <a:srgbClr val="00DC82"/>
                </a:solidFill>
                <a:latin typeface="Segoe UI"/>
              </a:rPr>
              <a:t>sin</a:t>
            </a:r>
            <a:r>
              <a:rPr sz="1150" b="0">
                <a:solidFill>
                  <a:srgbClr val="A9A5B4"/>
                </a:solidFill>
                <a:latin typeface="Segoe UI"/>
              </a:rPr>
              <a:t> generar presión de precios. Se le llama «ricitos de oro»: ni muy caliente ni muy frío.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puede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recortar sin riesgo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mejor de los escenarios ⬆️⬆️.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tiende a debilitarse ⬇️.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1115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1115" y="1615821"/>
            <a:ext cx="2526715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23995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CRECE + INFLACIÓN ALTA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Economía recalentada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demanda supera a la oferta y empuja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debe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: subir la tasa o mantenerla alta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presión ⬇️, aunque las ganancias sean buenas.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fortalece ⬆️.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23863" y="1615821"/>
            <a:ext cx="2526715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6743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SE CONTRAE + INFLACIÓN BAJA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Recesión con desinflación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743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actividad cae y arrastra los precios con ella.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</a:t>
            </a:r>
            <a:r>
              <a:rPr sz="1150" b="1">
                <a:solidFill>
                  <a:srgbClr val="4C8DFF"/>
                </a:solidFill>
                <a:latin typeface="Segoe UI"/>
              </a:rPr>
              <a:t>recorta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 para reactivar.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primero caen por las ganancias, luego suben por la tasa. Secuencia en dos tiempos.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⬇️, aunque puede subir por refugio. </a:t>
            </a:r>
            <a:r>
              <a:rPr sz="1150" b="1">
                <a:solidFill>
                  <a:srgbClr val="4C8DFF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4C8DFF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por aversión al riesgo.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611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06611" y="1615821"/>
            <a:ext cx="2526715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89491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SE CONTRAE + INFLACIÓN 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491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Estanflación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491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peor cuadrante: actividad débil </a:t>
            </a:r>
            <a:r>
              <a:rPr sz="1150" b="1">
                <a:solidFill>
                  <a:srgbClr val="E84040"/>
                </a:solidFill>
                <a:latin typeface="Segoe UI"/>
              </a:rPr>
              <a:t>y</a:t>
            </a:r>
            <a:r>
              <a:rPr sz="1150" b="0">
                <a:solidFill>
                  <a:srgbClr val="A9A5B4"/>
                </a:solidFill>
                <a:latin typeface="Segoe UI"/>
              </a:rPr>
              <a:t> precios altos.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queda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atrapado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recorta, aviva la inflación; si sube, profundiza la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peor escenario ⬇️⬇️.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suele ser el gran beneficiado ⬆️⬆️, por refugio. </a:t>
            </a: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camino a la decisión: cómo se arma el escenario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idea que hay que transmitirle al cliente: </a:t>
            </a:r>
            <a:r>
              <a:rPr sz="1350" b="1">
                <a:solidFill>
                  <a:srgbClr val="00DC82"/>
                </a:solidFill>
                <a:latin typeface="Segoe UI"/>
              </a:rPr>
              <a:t>cada dato es una pieza de un rompecabezas</a:t>
            </a:r>
            <a:r>
              <a:rPr sz="1350" b="0">
                <a:solidFill>
                  <a:srgbClr val="A9A5B4"/>
                </a:solidFill>
                <a:latin typeface="Segoe UI"/>
              </a:rPr>
              <a:t> que se completa el día de la reunión.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mercado no espera la reunión: cotiza su probabilidad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Existe un mercado de futuros donde se transa la expectativa de tasa. De ahí salen las frases del tipo «el mercado asigna 70% de probabilidad a un recorte».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Cada dato mueve esa probabilidad, y la probabilidad mueve el precio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IPC alto puede bajar la probabilidad de recorte de 70% a 40%. Ese cambio </a:t>
            </a:r>
            <a:r>
              <a:rPr sz="1250" b="1">
                <a:solidFill>
                  <a:srgbClr val="00DC82"/>
                </a:solidFill>
                <a:latin typeface="Segoe UI"/>
              </a:rPr>
              <a:t>es</a:t>
            </a:r>
            <a:r>
              <a:rPr sz="1250" b="0">
                <a:solidFill>
                  <a:srgbClr val="A9A5B4"/>
                </a:solidFill>
                <a:latin typeface="Segoe UI"/>
              </a:rPr>
              <a:t> el movimiento del dólar de ese día. No hay que esperar la reunión para verlo.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Por eso el orden del mes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primeros datos </a:t>
            </a:r>
            <a:r>
              <a:rPr sz="1250" b="1">
                <a:solidFill>
                  <a:srgbClr val="00DC82"/>
                </a:solidFill>
                <a:latin typeface="Segoe UI"/>
              </a:rPr>
              <a:t>instalan</a:t>
            </a:r>
            <a:r>
              <a:rPr sz="1250" b="0">
                <a:solidFill>
                  <a:srgbClr val="A9A5B4"/>
                </a:solidFill>
                <a:latin typeface="Segoe UI"/>
              </a:rPr>
              <a:t> una hipótesis; los siguientes la confirman o la desmienten. Un IPC alto tras un empleo débil pesa distinto que tras un empleo fuerte.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0473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9833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por eso el comunicado puede mover más que la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198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la decisión ya estaba descontada al 95%, no queda sorpresa en ella. La sorpresa está en </a:t>
            </a:r>
            <a:r>
              <a:rPr sz="1250" b="1">
                <a:solidFill>
                  <a:srgbClr val="00DC82"/>
                </a:solidFill>
                <a:latin typeface="Segoe UI"/>
              </a:rPr>
              <a:t>lo que se dice sobre lo que viene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el mismo principio de «ya está en el precio», aplicado a las palabras.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371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9371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50834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FRASE PARA EL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760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«Los datos económicos son piezas que van armando el camino hacia la decisión de tasas. Por eso los seguimos uno por uno: cuando llega el día de la reunión, el mercado ya se movió.»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Contexto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Dos referencias que no son datos de un país, sino </a:t>
            </a:r>
            <a:r>
              <a:rPr sz="1450" b="1">
                <a:solidFill>
                  <a:srgbClr val="4C8DFF"/>
                </a:solidFill>
                <a:latin typeface="Segoe UI"/>
              </a:rPr>
              <a:t>termómetros del sistema</a:t>
            </a:r>
            <a:r>
              <a:rPr sz="1450" b="0">
                <a:solidFill>
                  <a:srgbClr val="A9A5B4"/>
                </a:solidFill>
                <a:latin typeface="Segoe UI"/>
              </a:rPr>
              <a:t>: el índice del dólar y la actividad de China.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del dólar (Dollar Index o DXY)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es un dato económico: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un precio</a:t>
            </a:r>
            <a:r>
              <a:rPr sz="1350" b="0">
                <a:solidFill>
                  <a:srgbClr val="A9A5B4"/>
                </a:solidFill>
                <a:latin typeface="Segoe UI"/>
              </a:rPr>
              <a:t>. Y es la variable que conecta todo lo que operamos.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El valor del dólar contra una canasta de monedas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CUÁNTAS MONEDAS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REFERENCIA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Base 100 = valor de la canasta en 1973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COTIZA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 continuo, no en publicaciones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ESTÁ CONSTRUIDO, Y QUÉ IMPLICA ESA 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el dólar contra seis monedas, con pesos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desiguales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: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Euro: cerca del 58%.</a:t>
            </a:r>
            <a:r>
              <a:rPr sz="1200" b="0">
                <a:solidFill>
                  <a:srgbClr val="A9A5B4"/>
                </a:solidFill>
                <a:latin typeface="Segoe UI"/>
              </a:rPr>
              <a:t> Yen japonés: 14%. Libra esterlina: 12%. Dólar canadiense: 9%. Corona sueca: 4%. Franco suizo: 4%.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Consecuencia crítica: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índice es, en la práctica, </a:t>
            </a:r>
            <a:r>
              <a:rPr sz="1200" b="1">
                <a:solidFill>
                  <a:srgbClr val="FFFFFF"/>
                </a:solidFill>
                <a:latin typeface="Segoe UI"/>
              </a:rPr>
              <a:t>tres cuartas partes Europa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sube, muchas veces lo que ocurrió 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euro se debilitó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que el dólar se fortaleciera frente a todo.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lo que NO incluye: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yuan chino, el peso mexicano, el real brasileño, el peso chileno. Ninguna moneda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puede subir mientras el dólar </a:t>
            </a:r>
            <a:r>
              <a:rPr sz="1200" b="1">
                <a:solidFill>
                  <a:srgbClr val="FFFFFF"/>
                </a:solidFill>
                <a:latin typeface="Segoe UI"/>
              </a:rPr>
              <a:t>cae</a:t>
            </a:r>
            <a:r>
              <a:rPr sz="1200" b="0">
                <a:solidFill>
                  <a:srgbClr val="A9A5B4"/>
                </a:solidFill>
                <a:latin typeface="Segoe UI"/>
              </a:rPr>
              <a:t> frente a las monedas de América Latina. No es una contradicción: mide otra cosa.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Lo que importa es la dirección, no el nivel: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100 es un valor histórico de referencia, no una frontera con significado.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regla del espejo:</a:t>
            </a:r>
            <a:r>
              <a:rPr sz="1200" b="0">
                <a:solidFill>
                  <a:srgbClr val="A9A5B4"/>
                </a:solidFill>
                <a:latin typeface="Segoe UI"/>
              </a:rPr>
              <a:t> casi todo lo que operamos se cotiza en dólares, así que si el dólar vale más, se necesitan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</a:t>
            </a:r>
            <a:r>
              <a:rPr sz="1200" b="0">
                <a:solidFill>
                  <a:srgbClr val="A9A5B4"/>
                </a:solidFill>
                <a:latin typeface="Segoe UI"/>
              </a:rPr>
              <a:t> dólares por unidad de activo.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oro baja ⬇️, petróleo baja ⬇️, cobre baja ⬇️, USD/CLP sube ⬆️, monedas emergentes se debilitan.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exactamente lo contrario.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la regla se rompe: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episodios de pánico, el dólar y el oro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suben juntos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porque los dos son refugio. Ahí no manda la mecánica del tipo de cambio, sino el flujo hacia la seguridad.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Reconocer cuándo estás en ese régimen es parte de interpretar bien.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PMI de China: por qué hay dos y qué dice su diferencia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Ya sabes leer un índice de difusión. Lo que hay que entender acá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por qué se publican dos versiones</a:t>
            </a:r>
            <a:r>
              <a:rPr sz="1350" b="0">
                <a:solidFill>
                  <a:srgbClr val="A9A5B4"/>
                </a:solidFill>
                <a:latin typeface="Segoe UI"/>
              </a:rPr>
              <a:t> y qué información hay en el contraste.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VERSIÓN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de la Oficina Nacional de Estadísticas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</a:t>
            </a:r>
            <a:r>
              <a:rPr sz="950" b="1">
                <a:solidFill>
                  <a:srgbClr val="E84040"/>
                </a:solidFill>
                <a:latin typeface="Segoe UI"/>
              </a:rPr>
              <a:t>el Estado chino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E84040"/>
                </a:solidFill>
                <a:latin typeface="Segoe UI"/>
              </a:rPr>
              <a:t>empresas grandes y estatales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a fin de mes o el día 1, a las </a:t>
            </a:r>
            <a:r>
              <a:rPr sz="950" b="1">
                <a:solidFill>
                  <a:srgbClr val="E84040"/>
                </a:solidFill>
                <a:latin typeface="Segoe UI"/>
              </a:rPr>
              <a:t>21:30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bien el efecto del </a:t>
            </a:r>
            <a:r>
              <a:rPr sz="950" b="1">
                <a:solidFill>
                  <a:srgbClr val="E84040"/>
                </a:solidFill>
                <a:latin typeface="Segoe UI"/>
              </a:rPr>
              <a:t>estímulo público</a:t>
            </a:r>
            <a:r>
              <a:rPr sz="950" b="0">
                <a:solidFill>
                  <a:srgbClr val="A9A5B4"/>
                </a:solidFill>
                <a:latin typeface="Segoe UI"/>
              </a:rPr>
              <a:t>, que llega primero a las empresas grandes.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VERSIÓN PRIVADA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Caixin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un medio financiero privado.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F5A524"/>
                </a:solidFill>
                <a:latin typeface="Segoe UI"/>
              </a:rPr>
              <a:t>empresas medianas, pequeñas y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uno o dos días después, a las </a:t>
            </a:r>
            <a:r>
              <a:rPr sz="950" b="1">
                <a:solidFill>
                  <a:srgbClr val="F5A524"/>
                </a:solidFill>
                <a:latin typeface="Segoe UI"/>
              </a:rPr>
              <a:t>21:45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mejor la </a:t>
            </a:r>
            <a:r>
              <a:rPr sz="950" b="1">
                <a:solidFill>
                  <a:srgbClr val="F5A524"/>
                </a:solidFill>
                <a:latin typeface="Segoe UI"/>
              </a:rPr>
              <a:t>demanda real de mercado</a:t>
            </a:r>
            <a:r>
              <a:rPr sz="950" b="0">
                <a:solidFill>
                  <a:srgbClr val="A9A5B4"/>
                </a:solidFill>
                <a:latin typeface="Segoe UI"/>
              </a:rPr>
              <a:t> y el pulso exportador.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LECTURA CONJUNTA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contraste es la información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sobre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expansión amplia y creíble.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bajo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contracción confirmada. Señal fuerte.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sube y Caixin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el estímulo estatal funciona en las grandes, </a:t>
            </a:r>
            <a:r>
              <a:rPr sz="950" b="1">
                <a:solidFill>
                  <a:srgbClr val="00DC82"/>
                </a:solidFill>
                <a:latin typeface="Segoe UI"/>
              </a:rPr>
              <a:t>pero no llega a las pymes</a:t>
            </a:r>
            <a:r>
              <a:rPr sz="950" b="0">
                <a:solidFill>
                  <a:srgbClr val="A9A5B4"/>
                </a:solidFill>
                <a:latin typeface="Segoe UI"/>
              </a:rPr>
              <a:t>. Recuperación frágil.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baja y Caixin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la demanda de mercado repunta </a:t>
            </a:r>
            <a:r>
              <a:rPr sz="950" b="1">
                <a:solidFill>
                  <a:srgbClr val="00DC82"/>
                </a:solidFill>
                <a:latin typeface="Segoe UI"/>
              </a:rPr>
              <a:t>sin</a:t>
            </a:r>
            <a:r>
              <a:rPr sz="950" b="0">
                <a:solidFill>
                  <a:srgbClr val="A9A5B4"/>
                </a:solidFill>
                <a:latin typeface="Segoe UI"/>
              </a:rPr>
              <a:t> apoyo público. Más sano, aunque menos frecuente.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Leer solo uno de los dos es perder la mitad del mensaje.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UN DETALLE DE HORARIO QUE HAY QUE TENER PRESENTE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China está </a:t>
            </a:r>
            <a:r>
              <a:rPr sz="1200" b="1">
                <a:solidFill>
                  <a:srgbClr val="FFFFFF"/>
                </a:solidFill>
                <a:latin typeface="Segoe UI"/>
              </a:rPr>
              <a:t>doce horas adelante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Chile, así que estos datos salen cerca de las </a:t>
            </a:r>
            <a:r>
              <a:rPr sz="1200" b="1">
                <a:solidFill>
                  <a:srgbClr val="FFFFFF"/>
                </a:solidFill>
                <a:latin typeface="Segoe UI"/>
              </a:rPr>
              <a:t>21:30 de la noche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 a la fecha de su calendario. Cuando abrimos la jornada, el movimiento </a:t>
            </a:r>
            <a:r>
              <a:rPr sz="1200" b="1">
                <a:solidFill>
                  <a:srgbClr val="FFFFFF"/>
                </a:solidFill>
                <a:latin typeface="Segoe UI"/>
              </a:rPr>
              <a:t>ya empezó</a:t>
            </a:r>
            <a:r>
              <a:rPr sz="1200" b="0">
                <a:solidFill>
                  <a:srgbClr val="A9A5B4"/>
                </a:solidFill>
                <a:latin typeface="Segoe UI"/>
              </a:rPr>
              <a:t>: nuestro trabajo es evaluar si el mercado ya lo incorporó o si queda recorrido.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un dato de China mueve el dólar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cadena completa, eslabón por eslabón. Es el ejemplo más claro de que interpretar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seguir un mecanismo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memorizar una correlación.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95856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31848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1 · China es el mayor consumidor de cobre del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68322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Su construcción, su infraestructura y su manufactura eléctrica absorben una parte enorme de la producción mundial.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81834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17826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2 · El PMI anticipa esa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4300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los gerentes de compra chinos reportan menos actividad, van a comprar </a:t>
            </a:r>
            <a:r>
              <a:rPr sz="1250" b="1">
                <a:solidFill>
                  <a:srgbClr val="00DC82"/>
                </a:solidFill>
                <a:latin typeface="Segoe UI"/>
              </a:rPr>
              <a:t>menos insumos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cobre es uno de los principales.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67812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003804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3 · Menos demanda esperada baja el precio del cobre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0278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cotiza globalmente y responde a expectativas, no solo a compras concretadas.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3790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89782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4 · Chile recibe menos dólares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26256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es cerca de la mitad de las exportaciones chilenas. Si baja de precio, entra menos moneda extranjera al país.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239768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4175760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5 · El dólar se encarece frente al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12234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Menos oferta de dólares en el mercado local →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USD/CLP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⬆️. Y se suma el efecto de aversión al riesgo, que castiga a las monedas emergentes.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73650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73650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1995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MISMA CADENA, PARA EL PETRÓLEO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12562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China es también el mayor importador de crudo del mundo. Un PMI chino débil implica </a:t>
            </a:r>
            <a:r>
              <a:rPr sz="1250" b="1">
                <a:solidFill>
                  <a:srgbClr val="FFFFFF"/>
                </a:solidFill>
                <a:latin typeface="Segoe UI"/>
              </a:rPr>
              <a:t>menos demanda de energía</a:t>
            </a:r>
            <a:r>
              <a:rPr sz="1250" b="0">
                <a:solidFill>
                  <a:srgbClr val="A9A5B4"/>
                </a:solidFill>
                <a:latin typeface="Segoe UI"/>
              </a:rPr>
              <a:t> → el petróleo WTI baja ⬇️. Es el mismo mecanismo aplicado a otro insumo: </a:t>
            </a:r>
            <a:r>
              <a:rPr sz="1250" b="1">
                <a:solidFill>
                  <a:srgbClr val="FFFFFF"/>
                </a:solidFill>
                <a:latin typeface="Segoe UI"/>
              </a:rPr>
              <a:t>entendida la cadena, se puede reconstruir para cualquier materia prima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Interpretar en la 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Tres publicaciones para leer de principio a fin, el método de lectura en seis pasos y los errores que hay que evitar.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1 · La inflación sorprende al alza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 de precios al consumidor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0,2%  ·  Esperado: 0,2%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0,4%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3,1%  ·  Esperado: 3,1%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3,3%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General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Esperado: 0,3%  ·  Efectivo: 0,4%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96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62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la sorpresa: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subyacente mensual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al doble</a:t>
            </a:r>
            <a:r>
              <a:rPr sz="950" b="0">
                <a:solidFill>
                  <a:srgbClr val="A9A5B4"/>
                </a:solidFill>
                <a:latin typeface="Segoe UI"/>
              </a:rPr>
              <a:t> de lo esperado. Es la cifra que más pesa, así que la sorpresa es de las grandes.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¿es de fondo?</a:t>
            </a:r>
            <a:r>
              <a:rPr sz="950" b="0">
                <a:solidFill>
                  <a:srgbClr val="A9A5B4"/>
                </a:solidFill>
                <a:latin typeface="Segoe UI"/>
              </a:rPr>
              <a:t> Sí: </a:t>
            </a:r>
            <a:r>
              <a:rPr sz="950" b="1">
                <a:solidFill>
                  <a:srgbClr val="FFFFFF"/>
                </a:solidFill>
                <a:latin typeface="Segoe UI"/>
              </a:rPr>
              <a:t>general y subyacente sorprenden en la misma dirección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 No fue energía ni un alimento puntual — la presión está en el núcleo de la canasta.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anual confirma:</a:t>
            </a:r>
            <a:r>
              <a:rPr sz="950" b="0">
                <a:solidFill>
                  <a:srgbClr val="A9A5B4"/>
                </a:solidFill>
                <a:latin typeface="Segoe UI"/>
              </a:rPr>
              <a:t> subió en vez de bajar. Aunque hubiera efecto base favorable, no alcanzó a compensar.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la inflación </a:t>
            </a:r>
            <a:r>
              <a:rPr sz="950" b="1">
                <a:solidFill>
                  <a:srgbClr val="FFFFFF"/>
                </a:solidFill>
                <a:latin typeface="Segoe UI"/>
              </a:rPr>
              <a:t>no está cediendo</a:t>
            </a:r>
            <a:r>
              <a:rPr sz="950" b="0">
                <a:solidFill>
                  <a:srgbClr val="A9A5B4"/>
                </a:solidFill>
                <a:latin typeface="Segoe UI"/>
              </a:rPr>
              <a:t>, y la presión es amplia. Se aleja la posibilidad de que el banco central baje la tasa.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4053586"/>
            <a:ext cx="6668719" cy="223748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405358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9989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92498"/>
            <a:ext cx="6302959" cy="16705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Dólar (DXY):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tasa alta por más tiempo significa mayor rendimiento, y el capital va donde le pagan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Oro: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no paga interés; si los bonos rinden más, pierde atractivo relativo. Y un dólar más caro lo encarece para el resto del mundo.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Nasdaq 100: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dólar global fuerte y menos apetito por riesgo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 del impacto:</a:t>
            </a:r>
            <a:r>
              <a:rPr sz="950" b="0">
                <a:solidFill>
                  <a:srgbClr val="A9A5B4"/>
                </a:solidFill>
                <a:latin typeface="Segoe UI"/>
              </a:rPr>
              <a:t> intradía a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2 · Un informe de empleo contradictorio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Informe de empleo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Nóminas no agrícolas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160 mil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250 mil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desempleo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Anterior: 4,1%  ·  Esperado: 4,1%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4,3%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Salario por hora,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3,4%  ·  Efectivo: 3,4%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participación:</a:t>
            </a:r>
            <a:r>
              <a:rPr sz="1000" b="0">
                <a:solidFill>
                  <a:srgbClr val="A9A5B4"/>
                </a:solidFill>
                <a:latin typeface="Segoe UI"/>
              </a:rPr>
              <a:t> sube de 62,4% a 62,8%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305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563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Paso 1 — la contradicción aparente: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se crearon muchos más empleos de lo esperado, </a:t>
            </a:r>
            <a:r>
              <a:rPr sz="900" b="1">
                <a:solidFill>
                  <a:srgbClr val="FFFFFF"/>
                </a:solidFill>
                <a:latin typeface="Segoe UI"/>
              </a:rPr>
              <a:t>y sin embargo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desempleo subió. Parece imposible.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2 — la trampa de la participación, al revés:</a:t>
            </a:r>
            <a:r>
              <a:rPr sz="900" b="0">
                <a:solidFill>
                  <a:srgbClr val="A9A5B4"/>
                </a:solidFill>
                <a:latin typeface="Segoe UI"/>
              </a:rPr>
              <a:t> la participación </a:t>
            </a:r>
            <a:r>
              <a:rPr sz="900" b="1">
                <a:solidFill>
                  <a:srgbClr val="FFFFFF"/>
                </a:solidFill>
                <a:latin typeface="Segoe UI"/>
              </a:rPr>
              <a:t>subió</a:t>
            </a:r>
            <a:r>
              <a:rPr sz="900" b="0">
                <a:solidFill>
                  <a:srgbClr val="A9A5B4"/>
                </a:solidFill>
                <a:latin typeface="Segoe UI"/>
              </a:rPr>
              <a:t> 0,4 puntos. Entró más gente a buscar trabajo, y eso agranda el denominador de la tasa. Por eso sube el desempleo aunque haya más empleos.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3 — el árbitro son los salarios:</a:t>
            </a:r>
            <a:r>
              <a:rPr sz="900" b="0">
                <a:solidFill>
                  <a:srgbClr val="A9A5B4"/>
                </a:solidFill>
                <a:latin typeface="Segoe UI"/>
              </a:rPr>
              <a:t> salieron </a:t>
            </a:r>
            <a:r>
              <a:rPr sz="900" b="1">
                <a:solidFill>
                  <a:srgbClr val="FFFFFF"/>
                </a:solidFill>
                <a:latin typeface="Segoe UI"/>
              </a:rPr>
              <a:t>exactamente en línea</a:t>
            </a:r>
            <a:r>
              <a:rPr sz="900" b="0">
                <a:solidFill>
                  <a:srgbClr val="A9A5B4"/>
                </a:solidFill>
                <a:latin typeface="Segoe UI"/>
              </a:rPr>
              <a:t>. No hay presión de costos laborales, o sea </a:t>
            </a:r>
            <a:r>
              <a:rPr sz="900" b="1">
                <a:solidFill>
                  <a:srgbClr val="FFFFFF"/>
                </a:solidFill>
                <a:latin typeface="Segoe UI"/>
              </a:rPr>
              <a:t>no hay amenaza inflacionaria</a:t>
            </a:r>
            <a:r>
              <a:rPr sz="9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00" b="0">
                <a:solidFill>
                  <a:srgbClr val="A9A5B4"/>
                </a:solidFill>
                <a:latin typeface="Segoe UI"/>
              </a:rPr>
              <a:t> es </a:t>
            </a:r>
            <a:r>
              <a:rPr sz="900" b="1">
                <a:solidFill>
                  <a:srgbClr val="FFFFFF"/>
                </a:solidFill>
                <a:latin typeface="Segoe UI"/>
              </a:rPr>
              <a:t>crecimiento sin recalentamiento</a:t>
            </a:r>
            <a:r>
              <a:rPr sz="900" b="0">
                <a:solidFill>
                  <a:srgbClr val="A9A5B4"/>
                </a:solidFill>
                <a:latin typeface="Segoe UI"/>
              </a:rPr>
              <a:t> — la economía atrae trabajadores y los absorbe sin empujar los sueldos. Un buen escenario, aunque el titular sugiera lo contrario.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987546"/>
            <a:ext cx="6668719" cy="230352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98754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3385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26458"/>
            <a:ext cx="6302959" cy="1736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de los primeros segundos: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dólar </a:t>
            </a:r>
            <a:r>
              <a:rPr sz="900" b="1">
                <a:solidFill>
                  <a:srgbClr val="FFFFFF"/>
                </a:solidFill>
                <a:latin typeface="Segoe UI"/>
              </a:rPr>
              <a:t>sube</a:t>
            </a:r>
            <a:r>
              <a:rPr sz="900" b="0">
                <a:solidFill>
                  <a:srgbClr val="A9A5B4"/>
                </a:solidFill>
                <a:latin typeface="Segoe UI"/>
              </a:rPr>
              <a:t> ⬆️ y las bolsas </a:t>
            </a:r>
            <a:r>
              <a:rPr sz="900" b="1">
                <a:solidFill>
                  <a:srgbClr val="FFFFFF"/>
                </a:solidFill>
                <a:latin typeface="Segoe UI"/>
              </a:rPr>
              <a:t>bajan</a:t>
            </a:r>
            <a:r>
              <a:rPr sz="900" b="0">
                <a:solidFill>
                  <a:srgbClr val="A9A5B4"/>
                </a:solidFill>
                <a:latin typeface="Segoe UI"/>
              </a:rPr>
              <a:t> ⬇️, porque los algoritmos leen el titular de nóminas.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al leer el detalle:</a:t>
            </a:r>
            <a:r>
              <a:rPr sz="900" b="0">
                <a:solidFill>
                  <a:srgbClr val="A9A5B4"/>
                </a:solidFill>
                <a:latin typeface="Segoe UI"/>
              </a:rPr>
              <a:t> </a:t>
            </a:r>
            <a:r>
              <a:rPr sz="900" b="1">
                <a:solidFill>
                  <a:srgbClr val="FFFFFF"/>
                </a:solidFill>
                <a:latin typeface="Segoe UI"/>
              </a:rPr>
              <a:t>reversión</a:t>
            </a:r>
            <a:r>
              <a:rPr sz="900" b="0">
                <a:solidFill>
                  <a:srgbClr val="A9A5B4"/>
                </a:solidFill>
                <a:latin typeface="Segoe UI"/>
              </a:rPr>
              <a:t>. El dólar devuelve la subida y las bolsas recuperan, porque los salarios contenidos descartan la amenaza de inflación.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Escenario resultante: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favorable para las bolsas ⬆️ y de dólar sin dirección clara.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La enseñanza operativa:</a:t>
            </a:r>
            <a:r>
              <a:rPr sz="900" b="0">
                <a:solidFill>
                  <a:srgbClr val="A9A5B4"/>
                </a:solidFill>
                <a:latin typeface="Segoe UI"/>
              </a:rPr>
              <a:t> con un dato mixto, </a:t>
            </a:r>
            <a:r>
              <a:rPr sz="900" b="1">
                <a:solidFill>
                  <a:srgbClr val="FFFFFF"/>
                </a:solidFill>
                <a:latin typeface="Segoe UI"/>
              </a:rPr>
              <a:t>el primer minuto es ruido</a:t>
            </a:r>
            <a:r>
              <a:rPr sz="900" b="0">
                <a:solidFill>
                  <a:srgbClr val="A9A5B4"/>
                </a:solidFill>
                <a:latin typeface="Segoe UI"/>
              </a:rPr>
              <a:t>. Quien opera el titular queda del lado equivocado de la reversión.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00" b="0">
                <a:solidFill>
                  <a:srgbClr val="A9A5B4"/>
                </a:solidFill>
                <a:latin typeface="Segoe UI"/>
              </a:rPr>
              <a:t> intradía; la lectura de fondo, swing de jornada.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3 · China se contrae y llega a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Índices de gerentes de compra de China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manufacturero oficial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50,3  ·  Esperado: 50,1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49,2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Caixin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49,8  ·  Esperado: 49,9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48,8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Publicados: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21:30 y 21:45 de Chile,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noche anterior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188290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3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los dos bajo 50:</a:t>
            </a:r>
            <a:r>
              <a:rPr sz="950" b="0">
                <a:solidFill>
                  <a:srgbClr val="A9A5B4"/>
                </a:solidFill>
                <a:latin typeface="Segoe UI"/>
              </a:rPr>
              <a:t> más empresas empeoran que mejoran. No es desaceleración: es </a:t>
            </a:r>
            <a:r>
              <a:rPr sz="950" b="1">
                <a:solidFill>
                  <a:srgbClr val="FFFFFF"/>
                </a:solidFill>
                <a:latin typeface="Segoe UI"/>
              </a:rPr>
              <a:t>contracción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los dos peor que lo esperado:</a:t>
            </a:r>
            <a:r>
              <a:rPr sz="950" b="0">
                <a:solidFill>
                  <a:srgbClr val="A9A5B4"/>
                </a:solidFill>
                <a:latin typeface="Segoe UI"/>
              </a:rPr>
              <a:t> hay sorpresa negativa genuina, no un resultado ya descontado.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contraste no salva nada:</a:t>
            </a:r>
            <a:r>
              <a:rPr sz="950" b="0">
                <a:solidFill>
                  <a:srgbClr val="A9A5B4"/>
                </a:solidFill>
                <a:latin typeface="Segoe UI"/>
              </a:rPr>
              <a:t> cuando ambas versiones caen juntas, el deterioro alcanza </a:t>
            </a:r>
            <a:r>
              <a:rPr sz="950" b="1">
                <a:solidFill>
                  <a:srgbClr val="FFFFFF"/>
                </a:solidFill>
                <a:latin typeface="Segoe UI"/>
              </a:rPr>
              <a:t>tanto a las grandes empresas como a las pymes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 Es la señal más fuerte que puede dar este par de indicadores.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menor demanda esperada de materias primas y de energía desde el mayor consumidor del mundo.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739896"/>
            <a:ext cx="6668719" cy="255117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73989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388620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178808"/>
            <a:ext cx="6302959" cy="1984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Cobre: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consumidor y el precio responde a expectativas de demanda.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por dos vías que se suman: menos dólares de exportación llegando a Chile, y aversión al riesgo que castiga a las monedas emergentes.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Petróleo WTI: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importador de crudo; menos actividad es menos demanda de energía.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El factor horario: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dato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21:30 de anoche</a:t>
            </a:r>
            <a:r>
              <a:rPr sz="950" b="0">
                <a:solidFill>
                  <a:srgbClr val="A9A5B4"/>
                </a:solidFill>
                <a:latin typeface="Segoe UI"/>
              </a:rPr>
              <a:t>. Al abrir, parte del movimiento ya ocurrió — la pregunta a resolver es </a:t>
            </a:r>
            <a:r>
              <a:rPr sz="950" b="1">
                <a:solidFill>
                  <a:srgbClr val="FFFFFF"/>
                </a:solidFill>
                <a:latin typeface="Segoe UI"/>
              </a:rPr>
              <a:t>si el mercado ya lo incorporó del todo o queda recorrido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50" b="0">
                <a:solidFill>
                  <a:srgbClr val="A9A5B4"/>
                </a:solidFill>
                <a:latin typeface="Segoe UI"/>
              </a:rPr>
              <a:t>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método: seis pasos para leer cualquier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Aplicable a un dato de EE.UU., de Chile o de China. Si lo sigues en orden, no necesitas recordar tablas.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Antes de que salga, anota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Sin consenso no hay sorpresa que medir, y sin sorpresa no hay lectura posible. Anótalo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, nunca después.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Define de antemano las tres reacciones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vas a concluir si sale mejor, peor o en línea. Decidirlo antes evita improvisar bajo la volatilidad del momento.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Al salir, mide la sorpresa en la cifra que pesa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 en el titular: en la sub-lectura relevante — el subyacente mensual, el grupo de control, el PMI de servicios.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Verifica coherencia interna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¿Las sub-lecturas apuntan en la misma dirección? ¿Hubo revisiones al pasado? Si el informe se contradice, la señal es débil.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Traduce a expectativa de tasa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La pregunta única: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le da al banco central una razón para apretar o para aflojar?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la respuesta se deduce la dirección del precio.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6 · Recién ahí mira el gráfico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nivel técnico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; el fundamental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250" b="0">
                <a:solidFill>
                  <a:srgbClr val="A9A5B4"/>
                </a:solidFill>
                <a:latin typeface="Segoe UI"/>
              </a:rPr>
              <a:t> y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. Los dos juntos son un análisis; cada uno solo, la mitad.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511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3511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4974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REGLA DE PRUDENCIA OPERATIVA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7900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los minutos previos a un dato de alto impacto, la liquidez baja y la diferencia entre precio de compra y de venta se abre. El movimiento de los primeros segundos es en buena medida aleatorio: </a:t>
            </a:r>
            <a:r>
              <a:rPr sz="1250" b="1">
                <a:solidFill>
                  <a:srgbClr val="FFFFFF"/>
                </a:solidFill>
                <a:latin typeface="Segoe UI"/>
              </a:rPr>
              <a:t>conviene esperar el cierre de la primera vela de 15 minutos antes de concluir algo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Ocho errores de interpretación que hay que evitar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son fáciles de cometer y todos se corrigen con los conceptos del bloque 0.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748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2487"/>
                <a:gridCol w="3914985"/>
                <a:gridCol w="3697486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EL ERROR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POR QUÉ FALLA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LA CORRECCIÓN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solo la cifra efectiva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Un número sin referencia no significa nada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siempre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contra el consenso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Quedarse en el titular anual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el efecto base, que ya era conocido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Mirar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variación mensual subyacente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Asumir que buena noticia económica es buena para la bolsa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Depende de si obliga a mantener la tasa alta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Preguntarse antes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qué problema le preocupa hoy al mercado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la tasa de desempleo sin la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Puede bajar porque la gente dejó de buscar trabajo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Revisar siempre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Ignorar las revisiones del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Cambian la foto más que el dato del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Leer los dos meses corregidos antes de concluir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Convertir horas con un desfase fijo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Chile y EE.UU. cambian de horario en meses distintos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Confirmar la hora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en el calendario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, cada vez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Operar el primer minuto de un dato mixto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mercado reacciona al titular y luego revierte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Esperar a que cierre la primera vela de 15 minutos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Tratar la correlación como una ley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Dólar y oro suben juntos en episodios de refugio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Identificar en qué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régimen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está el mercado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Cómo explicárselo al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último tramo, y el que define si el análisis sirve. Un dato bien interpretado y mal comunicado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llega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La regla de los 30 segundos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un cliente sin experiencia no entiende el mensaje en menos de medio minuto, hay que reescribirlo más simple. «Más simple» </a:t>
            </a:r>
            <a:r>
              <a:rPr sz="1250" b="1">
                <a:solidFill>
                  <a:srgbClr val="00DC82"/>
                </a:solidFill>
                <a:latin typeface="Segoe UI"/>
              </a:rPr>
              <a:t>nunca</a:t>
            </a:r>
            <a:r>
              <a:rPr sz="1250" b="0">
                <a:solidFill>
                  <a:srgbClr val="A9A5B4"/>
                </a:solidFill>
                <a:latin typeface="Segoe UI"/>
              </a:rPr>
              <a:t> significa «sin dirección».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722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6081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Toda sigla se explica la primera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446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Nombre en español, sigla entre paréntesis una sola vez, y una línea de explicación. Nunca «el core PCE salió hot».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Siempre nombra la dirección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cliente debe terminar de leer sabiendo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 apunta el activo</a:t>
            </a:r>
            <a:r>
              <a:rPr sz="1250" b="0">
                <a:solidFill>
                  <a:srgbClr val="A9A5B4"/>
                </a:solidFill>
                <a:latin typeface="Segoe UI"/>
              </a:rPr>
              <a:t>. Un análisis que no deja clara la dirección está incompleto.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Estructura de tres líneas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>
                <a:solidFill>
                  <a:srgbClr val="00DC82"/>
                </a:solidFill>
                <a:latin typeface="Segoe UI"/>
              </a:rPr>
              <a:t>Qué pasó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dato y su sorpresa)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 importa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efecto en la tasa)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qué esperar</a:t>
            </a:r>
            <a:r>
              <a:rPr sz="1250" b="0">
                <a:solidFill>
                  <a:srgbClr val="A9A5B4"/>
                </a:solidFill>
                <a:latin typeface="Segoe UI"/>
              </a:rPr>
              <a:t> (la dirección del activo).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Énfasis direccional sí, dramatización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Se dice «sesgo bajista» o «presión vendedora». No se dice «se va a derrumbar» ni se le atribuyen sensaciones al mercado.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 el mecanismo, no solo el resultado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dólar sube porque la inflación alta obliga a mantener las tasas altas, y eso atrae capital» enseña. «El dólar sube» solo informa.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EJEMPLO DE UN MISMO DATO, MAL Y BIEN COMUNICADO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❌ «Core CPI hot, 40 puntos base sobre consenso, hawkish para la Fed, largos en DXY.»   ✅ «Los precios en Estados Unidos subieron más de lo esperado. Eso significa que su banco central no podrá abaratar el dinero pronto, y cuando el dinero se mantiene caro el dólar se fortalece. Sesgo alcista para el dólar hoy.»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Diccionario rápido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Las siglas y expresiones que aparecieron en esta capacitación, en una sola página para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3291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3262487"/>
                <a:gridCol w="565497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SIGLA O TÉRMINO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NOMBRE EN ESPAÑOL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EN UNA LÍNEA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 subieron los precios que paga la gente. La inflación más conocida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productor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Precios de fábrica antes de llegar al consumidor; anticipa la inflación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medida de inflación que el banco central de EE.UU. usa como meta (2%)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Producto interno bruto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Todo lo que produce un país; mide si la economía crece o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Subyacente
(core)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alimentos ni energía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inflación sin los componentes volátiles; muestra la tendencia de fondo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PMI / ISM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a empresas; sobre 50 la actividad se expande, bajo 50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Nóminas
(NFP)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no agrícolas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empleos creó EE.UU. el mes pasado, sin contar el campo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IMACEC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mensual de actividad económica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termómetro mensual de la economía chilena, del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TPM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política monetaria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tasa de interés que fija el Banco Central de Chile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DXY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del dólar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valor del dólar contra seis monedas; casi 60% de su peso es el euro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Naturaleza del contenido y proceso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01952"/>
            <a:ext cx="10874959" cy="17800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ADVERTENCIA Y NATURALEZA DE ESTE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40864"/>
            <a:ext cx="10509199" cy="1213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Este documento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material educativo de uso interno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elaborado para la formación del equipo comercial y de los IBS.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constituye una recomendación de 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ni una asesoría personalizada, y no debe distribuirse a clientes en esta forma.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Todas las cifras usadas en los ejemplos son </a:t>
            </a:r>
            <a:r>
              <a:rPr sz="1200" b="1">
                <a:solidFill>
                  <a:srgbClr val="FFFFFF"/>
                </a:solidFill>
                <a:latin typeface="Segoe UI"/>
              </a:rPr>
              <a:t>ilustrativas</a:t>
            </a:r>
            <a:r>
              <a:rPr sz="1200" b="0">
                <a:solidFill>
                  <a:srgbClr val="A9A5B4"/>
                </a:solidFill>
                <a:latin typeface="Segoe UI"/>
              </a:rPr>
              <a:t> y no corresponden a publicaciones reales. Las referencias de precio describen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mecanismos de mercado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pronósticos: el comportamiento efectivo de un activo depende del contexto, del posicionamiento previo y de factores no contenidos en un solo dato.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828288"/>
            <a:ext cx="10874959" cy="13837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58368" y="3828288"/>
            <a:ext cx="1087495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974592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VALIDACIÓN DE CONTENIDO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267200"/>
            <a:ext cx="10509199" cy="81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Todo análisis de mercado, informe o material que se vaya a difundir —cualquiera sea el canal— pasa por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Área de Estudios y Post-Venta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su validación y verificación previa, con el fin de que la naturaleza del contenido quede clara y explícita.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Cualquier duda sobre qué se puede afirmar, mostrar o recomendar se resuelve directamente con el área.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449824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6692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4360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356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 · Área de Estudios y Post-Venta · 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5669280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31 de julio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