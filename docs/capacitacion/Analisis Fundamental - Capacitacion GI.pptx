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1">
                <a:solidFill>
                  <a:srgbClr val="00DC82"/>
                </a:solidFill>
                <a:latin typeface="Segoe UI"/>
              </a:rPr>
              <a:t>CAPACITACIÓN INTERNA · EQUIPO COMERCIAL E IBS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9692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5400" b="1">
                <a:solidFill>
                  <a:srgbClr val="FFFFFF"/>
                </a:solidFill>
                <a:latin typeface="Segoe UI"/>
              </a:rPr>
              <a:t>Análisis
Fundamental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3611880"/>
            <a:ext cx="1463040" cy="3810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3886200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>
                <a:solidFill>
                  <a:srgbClr val="A9A5B4"/>
                </a:solidFill>
                <a:latin typeface="Segoe UI"/>
              </a:rPr>
              <a:t>Cómo interpretar la publicación de datos económicos: qué mide cada indicador, cómo se lee su resultado y </a:t>
            </a:r>
            <a:r>
              <a:rPr sz="1600" b="1">
                <a:solidFill>
                  <a:srgbClr val="FFFFFF"/>
                </a:solidFill>
                <a:latin typeface="Segoe UI"/>
              </a:rPr>
              <a:t>qué debería hacer el precio</a:t>
            </a:r>
            <a:r>
              <a:rPr sz="1600" b="0">
                <a:solidFill>
                  <a:srgbClr val="A9A5B4"/>
                </a:solidFill>
                <a:latin typeface="Segoe U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257800"/>
            <a:ext cx="2560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1">
                <a:solidFill>
                  <a:srgbClr val="6E6A7C"/>
                </a:solidFill>
                <a:latin typeface="Segoe UI"/>
              </a:rPr>
              <a:t>PREPARADO POR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477256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Área de Estudios y Post-Venta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5257800"/>
            <a:ext cx="2560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1">
                <a:solidFill>
                  <a:srgbClr val="6E6A7C"/>
                </a:solidFill>
                <a:latin typeface="Segoe UI"/>
              </a:rPr>
              <a:t>FECHA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5477256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31 de julio de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4768" y="5257800"/>
            <a:ext cx="2560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1">
                <a:solidFill>
                  <a:srgbClr val="6E6A7C"/>
                </a:solidFill>
                <a:latin typeface="Segoe UI"/>
              </a:rPr>
              <a:t>NATURALEZA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4768" y="5477256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Material educativo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Qué vas a poder hacer al terminar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El objetivo no es memorizar reacciones. Es entender el mecanismo, para poder leer </a:t>
            </a:r>
            <a:r>
              <a:rPr sz="1350" b="1">
                <a:solidFill>
                  <a:srgbClr val="00DC82"/>
                </a:solidFill>
                <a:latin typeface="Segoe UI"/>
              </a:rPr>
              <a:t>incluso un dato que no vimos en clase</a:t>
            </a:r>
            <a:r>
              <a:rPr sz="1350" b="0">
                <a:solidFill>
                  <a:srgbClr val="A9A5B4"/>
                </a:solidFill>
                <a:latin typeface="Segoe UI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79829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615821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1 · Leer cualquier publicación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52295"/>
            <a:ext cx="504428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Reconocer las tres cifras que trae todo dato —anterior, esperado y efectivo— y saber cuál de ellas mueve el mercado.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469007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2404999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2 · Entender qué mide cada indicador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41473"/>
            <a:ext cx="504428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Qué está contando, cómo se construye, qué deja fuera y por qué existe. Sin eso, el número es solo un número.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58185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3194177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3 · Distinguir el detalle que importa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30651"/>
            <a:ext cx="504428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Casi todo dato relevante trae sub-lecturas. Saber cuál pesa evita leer el titular y equivocarse.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4447" y="1679829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89039" y="1615821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4 · Conectarlo con la tasa de interés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9039" y="1852295"/>
            <a:ext cx="504428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Todo dato de EE.UU. se traduce, tarde o temprano, en una expectativa sobre qué hará la Reserva Federal.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4447" y="2469007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89039" y="2404999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5 · Anticipar la dirección del precio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9039" y="2641473"/>
            <a:ext cx="504428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Derivar del concepto —no de memoria— qué debería hacer el dólar, el oro, el petróleo y las bolsas.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4447" y="3258185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89039" y="3194177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6 · Explicárselo a un cliente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3430651"/>
            <a:ext cx="504428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Traducirlo a lenguaje simple, con dirección clara, en menos de 30 segundos y sin jerga sin explicar.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147947"/>
            <a:ext cx="10874959" cy="112598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58368" y="4147947"/>
            <a:ext cx="10874959" cy="28575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41248" y="4294251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LA IDEA QUE ORDENA TODO EL CURSO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4586859"/>
            <a:ext cx="10509199" cy="559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Un dato económico no es una noticia: es </a:t>
            </a:r>
            <a:r>
              <a:rPr sz="1250" b="1">
                <a:solidFill>
                  <a:srgbClr val="FFFFFF"/>
                </a:solidFill>
                <a:latin typeface="Segoe UI"/>
              </a:rPr>
              <a:t>una medición</a:t>
            </a:r>
            <a:r>
              <a:rPr sz="1250" b="0">
                <a:solidFill>
                  <a:srgbClr val="A9A5B4"/>
                </a:solidFill>
                <a:latin typeface="Segoe UI"/>
              </a:rPr>
              <a:t>. Y el mercado no reacciona a la medición, sino a </a:t>
            </a:r>
            <a:r>
              <a:rPr sz="1250" b="1">
                <a:solidFill>
                  <a:srgbClr val="FFFFFF"/>
                </a:solidFill>
                <a:latin typeface="Segoe UI"/>
              </a:rPr>
              <a:t>la diferencia entre lo que se medía y lo que se esperaba medir</a:t>
            </a:r>
            <a:r>
              <a:rPr sz="1250" b="0">
                <a:solidFill>
                  <a:srgbClr val="A9A5B4"/>
                </a:solidFill>
                <a:latin typeface="Segoe UI"/>
              </a:rPr>
              <a:t>. Todo lo demás se deduce de ahí.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1965960"/>
            <a:ext cx="1828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00DC82"/>
                </a:solidFill>
                <a:latin typeface="Consolas"/>
              </a:rPr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95728" y="214884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Fundamentos de lectura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1448" y="3246120"/>
            <a:ext cx="7863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450" b="0">
                <a:solidFill>
                  <a:srgbClr val="A9A5B4"/>
                </a:solidFill>
                <a:latin typeface="Segoe UI"/>
              </a:rPr>
              <a:t>Conceptos que aplican a </a:t>
            </a:r>
            <a:r>
              <a:rPr sz="1450" b="1">
                <a:solidFill>
                  <a:srgbClr val="00DC82"/>
                </a:solidFill>
                <a:latin typeface="Segoe UI"/>
              </a:rPr>
              <a:t>toda</a:t>
            </a:r>
            <a:r>
              <a:rPr sz="1450" b="0">
                <a:solidFill>
                  <a:srgbClr val="A9A5B4"/>
                </a:solidFill>
                <a:latin typeface="Segoe UI"/>
              </a:rPr>
              <a:t> publicación, sea de Estados Unidos, de Chile o de China. Es el bloque que convierte a alguien que memoriza en alguien que interpreta.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La anatomía de toda publicación: tres cifras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Cuando salga cualquier dato, vas a ver estas tres. Aprender a mirarlas en este orden es el 80% del trabajo.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15821"/>
            <a:ext cx="3454298" cy="2265426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615821"/>
            <a:ext cx="3454298" cy="38100"/>
          </a:xfrm>
          <a:prstGeom prst="rect">
            <a:avLst/>
          </a:prstGeom>
          <a:solidFill>
            <a:srgbClr val="A9A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1816989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A9A5B4"/>
                </a:solidFill>
                <a:latin typeface="Segoe UI"/>
              </a:rPr>
              <a:t>CIFRA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91309"/>
            <a:ext cx="3088538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Anterior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88489"/>
            <a:ext cx="3088538" cy="1328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El valor de la </a:t>
            </a:r>
            <a:r>
              <a:rPr sz="1150" b="1">
                <a:solidFill>
                  <a:srgbClr val="A9A5B4"/>
                </a:solidFill>
                <a:latin typeface="Segoe UI"/>
              </a:rPr>
              <a:t>publicación pasada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Sirve para una sola cosa: ver la </a:t>
            </a:r>
            <a:r>
              <a:rPr sz="1150" b="1">
                <a:solidFill>
                  <a:srgbClr val="A9A5B4"/>
                </a:solidFill>
                <a:latin typeface="Segoe UI"/>
              </a:rPr>
              <a:t>tendencia</a:t>
            </a:r>
            <a:r>
              <a:rPr sz="1150" b="0">
                <a:solidFill>
                  <a:srgbClr val="A9A5B4"/>
                </a:solidFill>
                <a:latin typeface="Segoe UI"/>
              </a:rPr>
              <a:t>. ¿El dato viene acelerando o desacelerando?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Ojo: el anterior </a:t>
            </a:r>
            <a:r>
              <a:rPr sz="1150" b="1">
                <a:solidFill>
                  <a:srgbClr val="A9A5B4"/>
                </a:solidFill>
                <a:latin typeface="Segoe UI"/>
              </a:rPr>
              <a:t>puede haber cambiado</a:t>
            </a:r>
            <a:r>
              <a:rPr sz="1150" b="0">
                <a:solidFill>
                  <a:srgbClr val="A9A5B4"/>
                </a:solidFill>
                <a:latin typeface="Segoe UI"/>
              </a:rPr>
              <a:t> desde que se publicó (lo veremos en «revisiones»).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615821"/>
            <a:ext cx="3454298" cy="2265426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68698" y="1615821"/>
            <a:ext cx="3454298" cy="3810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51578" y="1816989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CIFRA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1578" y="2091309"/>
            <a:ext cx="3088538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Esperado o consenso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1578" y="2388489"/>
            <a:ext cx="3088538" cy="1328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Lo que el mercado </a:t>
            </a:r>
            <a:r>
              <a:rPr sz="1150" b="1">
                <a:solidFill>
                  <a:srgbClr val="F5A524"/>
                </a:solidFill>
                <a:latin typeface="Segoe UI"/>
              </a:rPr>
              <a:t>cree</a:t>
            </a:r>
            <a:r>
              <a:rPr sz="1150" b="0">
                <a:solidFill>
                  <a:srgbClr val="A9A5B4"/>
                </a:solidFill>
                <a:latin typeface="Segoe UI"/>
              </a:rPr>
              <a:t> que va a salir.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Es el promedio de las estimaciones de decenas de bancos y casas de análisis.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F5A524"/>
                </a:solidFill>
                <a:latin typeface="Segoe UI"/>
              </a:rPr>
              <a:t>Este número ya está en el precio.</a:t>
            </a:r>
            <a:r>
              <a:rPr sz="1150" b="0">
                <a:solidFill>
                  <a:srgbClr val="A9A5B4"/>
                </a:solidFill>
                <a:latin typeface="Segoe UI"/>
              </a:rPr>
              <a:t> Si el dato sale igual al consenso, en teoría no debería pasar nada.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9028" y="1615821"/>
            <a:ext cx="3454298" cy="2265426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79028" y="1615821"/>
            <a:ext cx="3454298" cy="3810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61908" y="1816989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CIFRA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1908" y="2091309"/>
            <a:ext cx="3088538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Efectivo o actual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908" y="2388489"/>
            <a:ext cx="3088538" cy="1328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El valor que </a:t>
            </a:r>
            <a:r>
              <a:rPr sz="1150" b="1">
                <a:solidFill>
                  <a:srgbClr val="00DC82"/>
                </a:solidFill>
                <a:latin typeface="Segoe UI"/>
              </a:rPr>
              <a:t>realmente</a:t>
            </a:r>
            <a:r>
              <a:rPr sz="1150" b="0">
                <a:solidFill>
                  <a:srgbClr val="A9A5B4"/>
                </a:solidFill>
                <a:latin typeface="Segoe UI"/>
              </a:rPr>
              <a:t> salió.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Por sí solo no dice nada. Solo significa algo </a:t>
            </a:r>
            <a:r>
              <a:rPr sz="1150" b="1">
                <a:solidFill>
                  <a:srgbClr val="00DC82"/>
                </a:solidFill>
                <a:latin typeface="Segoe UI"/>
              </a:rPr>
              <a:t>comparado con el consenso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La resta entre ambos —efectivo menos esperado— es lo que se llama </a:t>
            </a:r>
            <a:r>
              <a:rPr sz="1150" b="1">
                <a:solidFill>
                  <a:srgbClr val="00DC82"/>
                </a:solidFill>
                <a:latin typeface="Segoe UI"/>
              </a:rPr>
              <a:t>la sorpresa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082415"/>
            <a:ext cx="10874959" cy="110947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58368" y="4082415"/>
            <a:ext cx="10874959" cy="2857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8" y="4228719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EL ERROR NÚMERO UNO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521327"/>
            <a:ext cx="10509199" cy="542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Mirar solo la cifra efectiva. Una inflación de 3% puede ser una excelente noticia o una muy mala, y la única forma de saberlo es </a:t>
            </a:r>
            <a:r>
              <a:rPr sz="1200" b="1">
                <a:solidFill>
                  <a:srgbClr val="FFFFFF"/>
                </a:solidFill>
                <a:latin typeface="Segoe UI"/>
              </a:rPr>
              <a:t>mirar contra qué se comparaba</a:t>
            </a:r>
            <a:r>
              <a:rPr sz="1200" b="0">
                <a:solidFill>
                  <a:srgbClr val="A9A5B4"/>
                </a:solidFill>
                <a:latin typeface="Segoe UI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Fundamentos de lectura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Por qué el mercado se mueve con la sorpresa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El concepto se llama </a:t>
            </a:r>
            <a:r>
              <a:rPr sz="1350" b="1">
                <a:solidFill>
                  <a:srgbClr val="00DC82"/>
                </a:solidFill>
                <a:latin typeface="Segoe UI"/>
              </a:rPr>
              <a:t>«ya está en el precio»</a:t>
            </a:r>
            <a:r>
              <a:rPr sz="1350" b="0">
                <a:solidFill>
                  <a:srgbClr val="A9A5B4"/>
                </a:solidFill>
                <a:latin typeface="Segoe UI"/>
              </a:rPr>
              <a:t> (o «descontado»), y es la razón de que un dato buenísimo a veces no mueva nada.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79829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615821"/>
            <a:ext cx="1071036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El precio de hoy contiene lo que se espera de mañana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52295"/>
            <a:ext cx="1071036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Si todo el mercado cree que la inflación va a salir en 3%, los operadores ya compraron o vendieron </a:t>
            </a:r>
            <a:r>
              <a:rPr sz="1250" b="1">
                <a:solidFill>
                  <a:srgbClr val="00DC82"/>
                </a:solidFill>
                <a:latin typeface="Segoe UI"/>
              </a:rPr>
              <a:t>antes</a:t>
            </a:r>
            <a:r>
              <a:rPr sz="1250" b="0">
                <a:solidFill>
                  <a:srgbClr val="A9A5B4"/>
                </a:solidFill>
                <a:latin typeface="Segoe UI"/>
              </a:rPr>
              <a:t> de que salga. Ese 3% ya está incorporado en el precio actual.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469007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2404999"/>
            <a:ext cx="1071036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Entonces, ¿qué queda por descubrir?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41473"/>
            <a:ext cx="10710367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Solo </a:t>
            </a:r>
            <a:r>
              <a:rPr sz="1250" b="1">
                <a:solidFill>
                  <a:srgbClr val="00DC82"/>
                </a:solidFill>
                <a:latin typeface="Segoe UI"/>
              </a:rPr>
              <a:t>la parte que nadie esperaba</a:t>
            </a:r>
            <a:r>
              <a:rPr sz="1250" b="0">
                <a:solidFill>
                  <a:srgbClr val="A9A5B4"/>
                </a:solidFill>
                <a:latin typeface="Segoe UI"/>
              </a:rPr>
              <a:t>. Cuando el dato sale distinto al consenso, el mercado tiene información nueva y ajusta el precio.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054985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2990977"/>
            <a:ext cx="1071036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De ahí que un dato «bueno» pueda hacer caer el precio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27451"/>
            <a:ext cx="10710367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Si se esperaba un crecimiento de 4% y sale 2%, el 2% es un buen número en sí mismo, pero es </a:t>
            </a:r>
            <a:r>
              <a:rPr sz="1250" b="1">
                <a:solidFill>
                  <a:srgbClr val="00DC82"/>
                </a:solidFill>
                <a:latin typeface="Segoe UI"/>
              </a:rPr>
              <a:t>una decepción</a:t>
            </a:r>
            <a:r>
              <a:rPr sz="1250" b="0">
                <a:solidFill>
                  <a:srgbClr val="A9A5B4"/>
                </a:solidFill>
                <a:latin typeface="Segoe UI"/>
              </a:rPr>
              <a:t>. El precio corrige hacia abajo.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40963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" y="3576955"/>
            <a:ext cx="1071036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Y que un dato «malo» pueda hacerlo subir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13429"/>
            <a:ext cx="10710367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Si se esperaba una caída del 5% y solo cae 1%, la economía se contrajo, pero </a:t>
            </a:r>
            <a:r>
              <a:rPr sz="1250" b="1">
                <a:solidFill>
                  <a:srgbClr val="00DC82"/>
                </a:solidFill>
                <a:latin typeface="Segoe UI"/>
              </a:rPr>
              <a:t>mucho menos de lo temido</a:t>
            </a:r>
            <a:r>
              <a:rPr sz="1250" b="0">
                <a:solidFill>
                  <a:srgbClr val="A9A5B4"/>
                </a:solidFill>
                <a:latin typeface="Segoe UI"/>
              </a:rPr>
              <a:t>. El precio sube por alivio.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327525"/>
            <a:ext cx="10874959" cy="112598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58368" y="4327525"/>
            <a:ext cx="10874959" cy="28575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1248" y="4473829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CÓMO DECÍRSELO A UN CLIENTE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766437"/>
            <a:ext cx="10509199" cy="559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«El mercado no premia los buenos resultados: premia las sorpresas. Es como un alumno del que se espera un 7,0 y saca un 6,5: sacó una buena nota, pero </a:t>
            </a:r>
            <a:r>
              <a:rPr sz="1250" b="1">
                <a:solidFill>
                  <a:srgbClr val="FFFFFF"/>
                </a:solidFill>
                <a:latin typeface="Segoe UI"/>
              </a:rPr>
              <a:t>decepcionó</a:t>
            </a:r>
            <a:r>
              <a:rPr sz="1250" b="0">
                <a:solidFill>
                  <a:srgbClr val="A9A5B4"/>
                </a:solidFill>
                <a:latin typeface="Segoe UI"/>
              </a:rPr>
              <a:t>.»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Fundamentos de lectura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Las tres unidades de medida (y por qué se confunden)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El mismo indicador se publica en varias unidades a la vez. Leer la equivocada es la causa más común de una interpretación errónea.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615821"/>
          <a:ext cx="10874957" cy="15511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7098"/>
                <a:gridCol w="2747358"/>
                <a:gridCol w="2976304"/>
                <a:gridCol w="3434197"/>
              </a:tblGrid>
              <a:tr h="24968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00DC82"/>
                          </a:solidFill>
                          <a:latin typeface="Segoe UI"/>
                        </a:rPr>
                        <a:t>UNIDAD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00DC82"/>
                          </a:solidFill>
                          <a:latin typeface="Segoe UI"/>
                        </a:rPr>
                        <a:t>QUÉ COMPARA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00DC82"/>
                          </a:solidFill>
                          <a:latin typeface="Segoe UI"/>
                        </a:rPr>
                        <a:t>PARA QUÉ SIRVE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00DC82"/>
                          </a:solidFill>
                          <a:latin typeface="Segoe UI"/>
                        </a:rPr>
                        <a:t>CUIDADO CON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</a:tr>
              <a:tr h="43383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Mensual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El mes contra el mes anterior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Ver la </a:t>
                      </a: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tendencia reciente</a:t>
                      </a: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: qué está pasando ahora mismo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Es pequeña (0,2%, 0,3%) y muy sensible: un decimal es mucho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43383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Interanual
(o anual)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El mes contra el </a:t>
                      </a: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mismo mes del año pasado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Ver la </a:t>
                      </a: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foto de largo plazo</a:t>
                      </a: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; es la que titula la prensa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Arrastra doce meses de historia: puede bajar sin que nada mejore hoy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  <a:tr h="43383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Anualizado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Proyecta el trimestre </a:t>
                      </a: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como si durara todo un año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Comparar trimestres entre sí; se usa en el PIB de EE.UU.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No es el crecimiento anual: es una </a:t>
                      </a: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proyección</a:t>
                      </a: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 del trimestre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58368" y="3368167"/>
            <a:ext cx="10874959" cy="110947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3368167"/>
            <a:ext cx="10874959" cy="2857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1248" y="3514471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REGLA PRÁCTICA DEL ÁREA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807079"/>
            <a:ext cx="10509199" cy="542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Para saber qué está pasando </a:t>
            </a:r>
            <a:r>
              <a:rPr sz="1200" b="1">
                <a:solidFill>
                  <a:srgbClr val="FFFFFF"/>
                </a:solidFill>
                <a:latin typeface="Segoe UI"/>
              </a:rPr>
              <a:t>hoy</a:t>
            </a:r>
            <a:r>
              <a:rPr sz="1200" b="0">
                <a:solidFill>
                  <a:srgbClr val="A9A5B4"/>
                </a:solidFill>
                <a:latin typeface="Segoe UI"/>
              </a:rPr>
              <a:t>, mira la variación </a:t>
            </a:r>
            <a:r>
              <a:rPr sz="1200" b="1">
                <a:solidFill>
                  <a:srgbClr val="FFFFFF"/>
                </a:solidFill>
                <a:latin typeface="Segoe UI"/>
              </a:rPr>
              <a:t>mensual</a:t>
            </a:r>
            <a:r>
              <a:rPr sz="1200" b="0">
                <a:solidFill>
                  <a:srgbClr val="A9A5B4"/>
                </a:solidFill>
                <a:latin typeface="Segoe UI"/>
              </a:rPr>
              <a:t>. Para saber dónde estamos </a:t>
            </a:r>
            <a:r>
              <a:rPr sz="1200" b="1">
                <a:solidFill>
                  <a:srgbClr val="FFFFFF"/>
                </a:solidFill>
                <a:latin typeface="Segoe UI"/>
              </a:rPr>
              <a:t>paradios</a:t>
            </a:r>
            <a:r>
              <a:rPr sz="1200" b="0">
                <a:solidFill>
                  <a:srgbClr val="A9A5B4"/>
                </a:solidFill>
                <a:latin typeface="Segoe UI"/>
              </a:rPr>
              <a:t>, mira la </a:t>
            </a:r>
            <a:r>
              <a:rPr sz="1200" b="1">
                <a:solidFill>
                  <a:srgbClr val="FFFFFF"/>
                </a:solidFill>
                <a:latin typeface="Segoe UI"/>
              </a:rPr>
              <a:t>interanual</a:t>
            </a:r>
            <a:r>
              <a:rPr sz="1200" b="0">
                <a:solidFill>
                  <a:srgbClr val="A9A5B4"/>
                </a:solidFill>
                <a:latin typeface="Segoe UI"/>
              </a:rPr>
              <a:t>. El mercado, en el corto plazo, reacciona más a la mensual.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Fundamentos de lectura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El efecto base: por qué el dato anual puede engañarte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Concepto poco explicado y absolutamente esencial. La cifra anual puede </a:t>
            </a:r>
            <a:r>
              <a:rPr sz="1350" b="1">
                <a:solidFill>
                  <a:srgbClr val="F5A524"/>
                </a:solidFill>
                <a:latin typeface="Segoe UI"/>
              </a:rPr>
              <a:t>bajar</a:t>
            </a:r>
            <a:r>
              <a:rPr sz="1350" b="0">
                <a:solidFill>
                  <a:srgbClr val="A9A5B4"/>
                </a:solidFill>
                <a:latin typeface="Segoe UI"/>
              </a:rPr>
              <a:t> aunque los precios estén subiendo igual que siempre.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15821"/>
            <a:ext cx="3454298" cy="311696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615821"/>
            <a:ext cx="3454298" cy="3810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1816989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QUÉ 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91309"/>
            <a:ext cx="308853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La comparación arrastra el pasado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94229"/>
            <a:ext cx="3088538" cy="19739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La cifra interanual compara </a:t>
            </a:r>
            <a:r>
              <a:rPr sz="1150" b="1">
                <a:solidFill>
                  <a:srgbClr val="F5A524"/>
                </a:solidFill>
                <a:latin typeface="Segoe UI"/>
              </a:rPr>
              <a:t>este mes</a:t>
            </a:r>
            <a:r>
              <a:rPr sz="1150" b="0">
                <a:solidFill>
                  <a:srgbClr val="A9A5B4"/>
                </a:solidFill>
                <a:latin typeface="Segoe UI"/>
              </a:rPr>
              <a:t> contra </a:t>
            </a:r>
            <a:r>
              <a:rPr sz="1150" b="1">
                <a:solidFill>
                  <a:srgbClr val="F5A524"/>
                </a:solidFill>
                <a:latin typeface="Segoe UI"/>
              </a:rPr>
              <a:t>el mismo mes del año pasado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Entonces depende de dos cosas: lo que pasa hoy… </a:t>
            </a:r>
            <a:r>
              <a:rPr sz="1150" b="1">
                <a:solidFill>
                  <a:srgbClr val="F5A524"/>
                </a:solidFill>
                <a:latin typeface="Segoe UI"/>
              </a:rPr>
              <a:t>y de lo que pasó hace un año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Si hace doce meses hubo un mes excepcionalmente alto, al salir de la comparación la cifra anual </a:t>
            </a:r>
            <a:r>
              <a:rPr sz="1150" b="1">
                <a:solidFill>
                  <a:srgbClr val="F5A524"/>
                </a:solidFill>
                <a:latin typeface="Segoe UI"/>
              </a:rPr>
              <a:t>cae sola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615821"/>
            <a:ext cx="3454298" cy="311696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68698" y="1615821"/>
            <a:ext cx="3454298" cy="381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51578" y="1816989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4C8DFF"/>
                </a:solidFill>
                <a:latin typeface="Segoe UI"/>
              </a:rPr>
              <a:t>EJEMPLO ILUSTRATIVO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1578" y="2091309"/>
            <a:ext cx="308853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Baja sin que mejore nada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1578" y="2594229"/>
            <a:ext cx="3088538" cy="19739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Supongamos que la inflación sube </a:t>
            </a:r>
            <a:r>
              <a:rPr sz="1150" b="1">
                <a:solidFill>
                  <a:srgbClr val="4C8DFF"/>
                </a:solidFill>
                <a:latin typeface="Segoe UI"/>
              </a:rPr>
              <a:t>0,3% todos los meses</a:t>
            </a:r>
            <a:r>
              <a:rPr sz="1150" b="0">
                <a:solidFill>
                  <a:srgbClr val="A9A5B4"/>
                </a:solidFill>
                <a:latin typeface="Segoe UI"/>
              </a:rPr>
              <a:t>, sin cambios.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Pero hace un año hubo un mes de </a:t>
            </a:r>
            <a:r>
              <a:rPr sz="1150" b="1">
                <a:solidFill>
                  <a:srgbClr val="4C8DFF"/>
                </a:solidFill>
                <a:latin typeface="Segoe UI"/>
              </a:rPr>
              <a:t>0,9%</a:t>
            </a:r>
            <a:r>
              <a:rPr sz="1150" b="0">
                <a:solidFill>
                  <a:srgbClr val="A9A5B4"/>
                </a:solidFill>
                <a:latin typeface="Segoe UI"/>
              </a:rPr>
              <a:t> por un alza de combustibles.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Cuando ese 0,9% sale de la ventana de doce meses y lo reemplaza un 0,3%, </a:t>
            </a:r>
            <a:r>
              <a:rPr sz="1150" b="1">
                <a:solidFill>
                  <a:srgbClr val="4C8DFF"/>
                </a:solidFill>
                <a:latin typeface="Segoe UI"/>
              </a:rPr>
              <a:t>la cifra anual baja 0,6 puntos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Nada mejoró. Solo cambió el punto de comparación.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9028" y="1615821"/>
            <a:ext cx="3454298" cy="311696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79028" y="1615821"/>
            <a:ext cx="3454298" cy="3810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61908" y="1816989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CÓMO SE 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1908" y="2091309"/>
            <a:ext cx="308853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Para anticipar, no para sorprenderse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908" y="2594229"/>
            <a:ext cx="3088538" cy="19739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El efecto base es </a:t>
            </a:r>
            <a:r>
              <a:rPr sz="1150" b="1">
                <a:solidFill>
                  <a:srgbClr val="00DC82"/>
                </a:solidFill>
                <a:latin typeface="Segoe UI"/>
              </a:rPr>
              <a:t>conocido de antemano</a:t>
            </a:r>
            <a:r>
              <a:rPr sz="1150" b="0">
                <a:solidFill>
                  <a:srgbClr val="A9A5B4"/>
                </a:solidFill>
                <a:latin typeface="Segoe UI"/>
              </a:rPr>
              <a:t>: los meses del año pasado ya están publicados.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Por eso los analistas ya lo tienen en su consenso.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Sirve para </a:t>
            </a:r>
            <a:r>
              <a:rPr sz="1150" b="1">
                <a:solidFill>
                  <a:srgbClr val="00DC82"/>
                </a:solidFill>
                <a:latin typeface="Segoe UI"/>
              </a:rPr>
              <a:t>anticipar</a:t>
            </a:r>
            <a:r>
              <a:rPr sz="1150" b="0">
                <a:solidFill>
                  <a:srgbClr val="A9A5B4"/>
                </a:solidFill>
                <a:latin typeface="Segoe UI"/>
              </a:rPr>
              <a:t> que la cifra anual va a bajar (o subir) en los próximos meses casi por inercia.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Y para no atribuirle mérito a una baja que era aritmética.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Fundamentos de lectura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7513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General y subyacente: por qué se excluyen alimentos y energía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54836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537716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Suena arbitrario y no lo es. Entender esta distinción es entender cómo piensa un banco central.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991487"/>
            <a:ext cx="3454298" cy="3028950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991487"/>
            <a:ext cx="3454298" cy="381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2192655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4C8DFF"/>
                </a:solidFill>
                <a:latin typeface="Segoe UI"/>
              </a:rPr>
              <a:t>DATO GENERAL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66975"/>
            <a:ext cx="3088538" cy="3977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FFFFFF"/>
                </a:solidFill>
                <a:latin typeface="Segoe UI"/>
              </a:rPr>
              <a:t>Todo lo que la gente paga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956179"/>
            <a:ext cx="3088538" cy="1899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A9A5B4"/>
                </a:solidFill>
                <a:latin typeface="Segoe UI"/>
              </a:rPr>
              <a:t>Incluye </a:t>
            </a:r>
            <a:r>
              <a:rPr sz="1100" b="1">
                <a:solidFill>
                  <a:srgbClr val="4C8DFF"/>
                </a:solidFill>
                <a:latin typeface="Segoe UI"/>
              </a:rPr>
              <a:t>absolutamente todo</a:t>
            </a:r>
            <a:r>
              <a:rPr sz="1100" b="0">
                <a:solidFill>
                  <a:srgbClr val="A9A5B4"/>
                </a:solidFill>
                <a:latin typeface="Segoe UI"/>
              </a:rPr>
              <a:t>: la cuenta de la luz, la bencina, el pan, el arriendo.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00" b="0">
                <a:solidFill>
                  <a:srgbClr val="A9A5B4"/>
                </a:solidFill>
                <a:latin typeface="Segoe UI"/>
              </a:rPr>
              <a:t>Es el que </a:t>
            </a:r>
            <a:r>
              <a:rPr sz="1100" b="1">
                <a:solidFill>
                  <a:srgbClr val="4C8DFF"/>
                </a:solidFill>
                <a:latin typeface="Segoe UI"/>
              </a:rPr>
              <a:t>siente</a:t>
            </a:r>
            <a:r>
              <a:rPr sz="1100" b="0">
                <a:solidFill>
                  <a:srgbClr val="A9A5B4"/>
                </a:solidFill>
                <a:latin typeface="Segoe UI"/>
              </a:rPr>
              <a:t> la gente en el bolsillo y el que aparece en las noticias.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00" b="0">
                <a:solidFill>
                  <a:srgbClr val="A9A5B4"/>
                </a:solidFill>
                <a:latin typeface="Segoe UI"/>
              </a:rPr>
              <a:t>Problema: sube y baja con violencia por cosas que nadie controla (una sequía, un conflicto que sube el petróleo).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991487"/>
            <a:ext cx="3454298" cy="3028950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68698" y="1991487"/>
            <a:ext cx="3454298" cy="3810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51578" y="2192655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DATO SUBYACENTE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1578" y="2466975"/>
            <a:ext cx="3088538" cy="3977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FFFFFF"/>
                </a:solidFill>
                <a:latin typeface="Segoe UI"/>
              </a:rPr>
              <a:t>Sin alimentos ni energía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1578" y="2956179"/>
            <a:ext cx="3088538" cy="1899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A9A5B4"/>
                </a:solidFill>
                <a:latin typeface="Segoe UI"/>
              </a:rPr>
              <a:t>Se le quitan los dos componentes </a:t>
            </a:r>
            <a:r>
              <a:rPr sz="1100" b="1">
                <a:solidFill>
                  <a:srgbClr val="00DC82"/>
                </a:solidFill>
                <a:latin typeface="Segoe UI"/>
              </a:rPr>
              <a:t>más volátiles</a:t>
            </a:r>
            <a:r>
              <a:rPr sz="1100" b="0">
                <a:solidFill>
                  <a:srgbClr val="A9A5B4"/>
                </a:solidFill>
                <a:latin typeface="Segoe UI"/>
              </a:rPr>
              <a:t>: alimentos y energía.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00" b="0">
                <a:solidFill>
                  <a:srgbClr val="A9A5B4"/>
                </a:solidFill>
                <a:latin typeface="Segoe UI"/>
              </a:rPr>
              <a:t>Lo que queda muestra </a:t>
            </a:r>
            <a:r>
              <a:rPr sz="1100" b="1">
                <a:solidFill>
                  <a:srgbClr val="00DC82"/>
                </a:solidFill>
                <a:latin typeface="Segoe UI"/>
              </a:rPr>
              <a:t>la tendencia de fondo</a:t>
            </a:r>
            <a:r>
              <a:rPr sz="1100" b="0">
                <a:solidFill>
                  <a:srgbClr val="A9A5B4"/>
                </a:solidFill>
                <a:latin typeface="Segoe UI"/>
              </a:rPr>
              <a:t>: si la inflación está metida en los servicios, los arriendos, los sueldos.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00" b="0">
                <a:solidFill>
                  <a:srgbClr val="A9A5B4"/>
                </a:solidFill>
                <a:latin typeface="Segoe UI"/>
              </a:rPr>
              <a:t>En inglés se le dice </a:t>
            </a:r>
            <a:r>
              <a:rPr sz="1100" b="1">
                <a:solidFill>
                  <a:srgbClr val="00DC82"/>
                </a:solidFill>
                <a:latin typeface="Segoe UI"/>
              </a:rPr>
              <a:t>core</a:t>
            </a:r>
            <a:r>
              <a:rPr sz="1100" b="0">
                <a:solidFill>
                  <a:srgbClr val="A9A5B4"/>
                </a:solidFill>
                <a:latin typeface="Segoe UI"/>
              </a:rPr>
              <a:t>, y verás ese nombre en muchas plataformas.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9028" y="1991487"/>
            <a:ext cx="3454298" cy="3028950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79028" y="1991487"/>
            <a:ext cx="3454298" cy="3810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61908" y="2192655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POR QUÉ IMPORTA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1908" y="2466975"/>
            <a:ext cx="3088538" cy="3977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FFFFFF"/>
                </a:solidFill>
                <a:latin typeface="Segoe UI"/>
              </a:rPr>
              <a:t>El banco central no controla el clima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908" y="2956179"/>
            <a:ext cx="3088538" cy="1899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A9A5B4"/>
                </a:solidFill>
                <a:latin typeface="Segoe UI"/>
              </a:rPr>
              <a:t>Una tasa de interés más alta </a:t>
            </a:r>
            <a:r>
              <a:rPr sz="1100" b="1">
                <a:solidFill>
                  <a:srgbClr val="F5A524"/>
                </a:solidFill>
                <a:latin typeface="Segoe UI"/>
              </a:rPr>
              <a:t>no baja el precio del petróleo</a:t>
            </a:r>
            <a:r>
              <a:rPr sz="1100" b="0">
                <a:solidFill>
                  <a:srgbClr val="A9A5B4"/>
                </a:solidFill>
                <a:latin typeface="Segoe UI"/>
              </a:rPr>
              <a:t>: eso lo fija la geopolítica y la OPEP+.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00" b="0">
                <a:solidFill>
                  <a:srgbClr val="A9A5B4"/>
                </a:solidFill>
                <a:latin typeface="Segoe UI"/>
              </a:rPr>
              <a:t>Pero sí puede enfriar el consumo, los arriendos y las presiones de sueldos.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00" b="0">
                <a:solidFill>
                  <a:srgbClr val="A9A5B4"/>
                </a:solidFill>
                <a:latin typeface="Segoe UI"/>
              </a:rPr>
              <a:t>Por eso el banco central mira </a:t>
            </a:r>
            <a:r>
              <a:rPr sz="1100" b="1">
                <a:solidFill>
                  <a:srgbClr val="F5A524"/>
                </a:solidFill>
                <a:latin typeface="Segoe UI"/>
              </a:rPr>
              <a:t>el subyacente</a:t>
            </a:r>
            <a:r>
              <a:rPr sz="1100" b="0">
                <a:solidFill>
                  <a:srgbClr val="A9A5B4"/>
                </a:solidFill>
                <a:latin typeface="Segoe UI"/>
              </a:rPr>
              <a:t>: es la parte de la inflación sobre la que su herramienta </a:t>
            </a:r>
            <a:r>
              <a:rPr sz="1100" b="1">
                <a:solidFill>
                  <a:srgbClr val="F5A524"/>
                </a:solidFill>
                <a:latin typeface="Segoe UI"/>
              </a:rPr>
              <a:t>sí</a:t>
            </a:r>
            <a:r>
              <a:rPr sz="1100" b="0">
                <a:solidFill>
                  <a:srgbClr val="A9A5B4"/>
                </a:solidFill>
                <a:latin typeface="Segoe UI"/>
              </a:rPr>
              <a:t> actúa.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00" b="0">
                <a:solidFill>
                  <a:srgbClr val="A9A5B4"/>
                </a:solidFill>
                <a:latin typeface="Segoe UI"/>
              </a:rPr>
              <a:t>Y por eso el mercado también lo pondera más.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5090160"/>
            <a:ext cx="10874959" cy="110947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58368" y="5090160"/>
            <a:ext cx="10874959" cy="2857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8" y="5236464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CONSECUENCIA DIRECTA PARA LA LECTURA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529072"/>
            <a:ext cx="10509199" cy="542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Si el dato general sorprende al alza </a:t>
            </a:r>
            <a:r>
              <a:rPr sz="1200" b="1">
                <a:solidFill>
                  <a:srgbClr val="FFFFFF"/>
                </a:solidFill>
                <a:latin typeface="Segoe UI"/>
              </a:rPr>
              <a:t>pero el subyacente sale en línea</a:t>
            </a:r>
            <a:r>
              <a:rPr sz="1200" b="0">
                <a:solidFill>
                  <a:srgbClr val="A9A5B4"/>
                </a:solidFill>
                <a:latin typeface="Segoe UI"/>
              </a:rPr>
              <a:t>, la reacción del precio suele ser corta y revertirse: el mercado concluye que fue energía, no inflación de fondo.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Fundamentos de lectura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Dos conceptos que explican por qué el número «cambia»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Desestacionalización y revisiones. Sin estos dos, tarde o temprano vas a pensar que la fuente se equivocó.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79829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615821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Desestacionalización · qué 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52295"/>
            <a:ext cx="504428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Hay movimientos que se repiten </a:t>
            </a:r>
            <a:r>
              <a:rPr sz="1250" b="1">
                <a:solidFill>
                  <a:srgbClr val="00DC82"/>
                </a:solidFill>
                <a:latin typeface="Segoe UI"/>
              </a:rPr>
              <a:t>todos los años</a:t>
            </a:r>
            <a:r>
              <a:rPr sz="1250" b="0">
                <a:solidFill>
                  <a:srgbClr val="A9A5B4"/>
                </a:solidFill>
                <a:latin typeface="Segoe UI"/>
              </a:rPr>
              <a:t>: en diciembre se contrata para las fiestas, en marzo suben los útiles escolares.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469007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2404999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Desestacionalización · para qué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41473"/>
            <a:ext cx="5044287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Si no se corrigiera, cada diciembre parecería un auge y cada enero una crisis. El ajuste </a:t>
            </a:r>
            <a:r>
              <a:rPr sz="1250" b="1">
                <a:solidFill>
                  <a:srgbClr val="00DC82"/>
                </a:solidFill>
                <a:latin typeface="Segoe UI"/>
              </a:rPr>
              <a:t>quita el patrón estacional</a:t>
            </a:r>
            <a:r>
              <a:rPr sz="1250" b="0">
                <a:solidFill>
                  <a:srgbClr val="A9A5B4"/>
                </a:solidFill>
                <a:latin typeface="Segoe UI"/>
              </a:rPr>
              <a:t> para dejar ver lo real.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461385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3397377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Desestacionalización · cómo se lee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3851"/>
            <a:ext cx="5044287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El dato que publica el calendario y que mueve el mercado es </a:t>
            </a:r>
            <a:r>
              <a:rPr sz="1250" b="1">
                <a:solidFill>
                  <a:srgbClr val="00DC82"/>
                </a:solidFill>
                <a:latin typeface="Segoe UI"/>
              </a:rPr>
              <a:t>el ajustado</a:t>
            </a:r>
            <a:r>
              <a:rPr sz="1250" b="0">
                <a:solidFill>
                  <a:srgbClr val="A9A5B4"/>
                </a:solidFill>
                <a:latin typeface="Segoe UI"/>
              </a:rPr>
              <a:t>. El «sin ajustar» existe, pero se usa para otras cosas (reajustes, contratos).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4447" y="1679829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89039" y="1615821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Revisiones · qué 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9039" y="1852295"/>
            <a:ext cx="504428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El primer número sale con información </a:t>
            </a:r>
            <a:r>
              <a:rPr sz="1250" b="1">
                <a:solidFill>
                  <a:srgbClr val="00DC82"/>
                </a:solidFill>
                <a:latin typeface="Segoe UI"/>
              </a:rPr>
              <a:t>incompleta</a:t>
            </a:r>
            <a:r>
              <a:rPr sz="1250" b="0">
                <a:solidFill>
                  <a:srgbClr val="A9A5B4"/>
                </a:solidFill>
                <a:latin typeface="Segoe UI"/>
              </a:rPr>
              <a:t>: no todas las empresas respondieron la encuesta a tiempo. Después se corrige.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4447" y="2469007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89039" y="2404999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Revisiones · dónde pegan más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9039" y="2641473"/>
            <a:ext cx="5044287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En el empleo de EE.UU. cada publicación </a:t>
            </a:r>
            <a:r>
              <a:rPr sz="1250" b="1">
                <a:solidFill>
                  <a:srgbClr val="00DC82"/>
                </a:solidFill>
                <a:latin typeface="Segoe UI"/>
              </a:rPr>
              <a:t>revisa los dos meses anteriores</a:t>
            </a:r>
            <a:r>
              <a:rPr sz="1250" b="0">
                <a:solidFill>
                  <a:srgbClr val="A9A5B4"/>
                </a:solidFill>
                <a:latin typeface="Segoe UI"/>
              </a:rPr>
              <a:t>. En el PIB hay tres estimaciones sucesivas del mismo trimestre.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4447" y="3461385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89039" y="3397377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Revisiones · por qué te importan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3633851"/>
            <a:ext cx="5044287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Una revisión grande </a:t>
            </a:r>
            <a:r>
              <a:rPr sz="1250" b="1">
                <a:solidFill>
                  <a:srgbClr val="00DC82"/>
                </a:solidFill>
                <a:latin typeface="Segoe UI"/>
              </a:rPr>
              <a:t>puede mover más que el dato del mes</a:t>
            </a:r>
            <a:r>
              <a:rPr sz="1250" b="0">
                <a:solidFill>
                  <a:srgbClr val="A9A5B4"/>
                </a:solidFill>
                <a:latin typeface="Segoe UI"/>
              </a:rPr>
              <a:t>: si el mes pasado se crearon 100 mil empleos menos de lo informado, la foto del empleo cambia entera.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554347"/>
            <a:ext cx="10874959" cy="112598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58368" y="4554347"/>
            <a:ext cx="10874959" cy="28575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41248" y="4700651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LO QUE ESTO TE ENSEÑA SOBRE LA NATURALEZA DEL DATO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4993259"/>
            <a:ext cx="10509199" cy="559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Un indicador económico es </a:t>
            </a:r>
            <a:r>
              <a:rPr sz="1250" b="1">
                <a:solidFill>
                  <a:srgbClr val="FFFFFF"/>
                </a:solidFill>
                <a:latin typeface="Segoe UI"/>
              </a:rPr>
              <a:t>una estimación que mejora con el tiempo</a:t>
            </a:r>
            <a:r>
              <a:rPr sz="1250" b="0">
                <a:solidFill>
                  <a:srgbClr val="A9A5B4"/>
                </a:solidFill>
                <a:latin typeface="Segoe UI"/>
              </a:rPr>
              <a:t>, no una verdad definitiva. Quien interpreta bien trata el primer número como </a:t>
            </a:r>
            <a:r>
              <a:rPr sz="1250" b="1">
                <a:solidFill>
                  <a:srgbClr val="FFFFFF"/>
                </a:solidFill>
                <a:latin typeface="Segoe UI"/>
              </a:rPr>
              <a:t>la mejor aproximación disponible</a:t>
            </a:r>
            <a:r>
              <a:rPr sz="1250" b="0">
                <a:solidFill>
                  <a:srgbClr val="A9A5B4"/>
                </a:solidFill>
                <a:latin typeface="Segoe UI"/>
              </a:rPr>
              <a:t>, no como un hecho cerrado.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Fundamentos de lectura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Dos formas de medir la economía: encuesta y registro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Saber de qué tipo es el dato que estás leyendo te dice </a:t>
            </a:r>
            <a:r>
              <a:rPr sz="1350" b="1">
                <a:solidFill>
                  <a:srgbClr val="00DC82"/>
                </a:solidFill>
                <a:latin typeface="Segoe UI"/>
              </a:rPr>
              <a:t>cuánta confianza</a:t>
            </a:r>
            <a:r>
              <a:rPr sz="1350" b="0">
                <a:solidFill>
                  <a:srgbClr val="A9A5B4"/>
                </a:solidFill>
                <a:latin typeface="Segoe UI"/>
              </a:rPr>
              <a:t> darle y </a:t>
            </a:r>
            <a:r>
              <a:rPr sz="1350" b="1">
                <a:solidFill>
                  <a:srgbClr val="00DC82"/>
                </a:solidFill>
                <a:latin typeface="Segoe UI"/>
              </a:rPr>
              <a:t>cuánto se adelanta</a:t>
            </a:r>
            <a:r>
              <a:rPr sz="1350" b="0">
                <a:solidFill>
                  <a:srgbClr val="A9A5B4"/>
                </a:solidFill>
                <a:latin typeface="Segoe UI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15821"/>
            <a:ext cx="3454298" cy="3306826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615821"/>
            <a:ext cx="3454298" cy="381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1816989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4C8DFF"/>
                </a:solidFill>
                <a:latin typeface="Segoe UI"/>
              </a:rPr>
              <a:t>TIPO 1 · REGISTRO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91309"/>
            <a:ext cx="308853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Se cuenta lo que ya ocurrió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94229"/>
            <a:ext cx="3088538" cy="21638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Se suman hechos concretos: sueldos pagados, cajas registradas, barriles almacenados, contenedores exportados.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4C8DFF"/>
                </a:solidFill>
                <a:latin typeface="Segoe UI"/>
              </a:rPr>
              <a:t>Ventaja:</a:t>
            </a:r>
            <a:r>
              <a:rPr sz="1150" b="0">
                <a:solidFill>
                  <a:srgbClr val="A9A5B4"/>
                </a:solidFill>
                <a:latin typeface="Segoe UI"/>
              </a:rPr>
              <a:t> es preciso y difícil de discutir.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4C8DFF"/>
                </a:solidFill>
                <a:latin typeface="Segoe UI"/>
              </a:rPr>
              <a:t>Desventaja:</a:t>
            </a:r>
            <a:r>
              <a:rPr sz="1150" b="0">
                <a:solidFill>
                  <a:srgbClr val="A9A5B4"/>
                </a:solidFill>
                <a:latin typeface="Segoe UI"/>
              </a:rPr>
              <a:t> llega tarde. Cuando se publica, el hecho ya pasó.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Ejemplos: nóminas, ventas minoristas, balanza comercial, PIB.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615821"/>
            <a:ext cx="3454298" cy="3306826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68698" y="1615821"/>
            <a:ext cx="3454298" cy="3810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51578" y="1816989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TIPO 2 · ENCUESTA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1578" y="2091309"/>
            <a:ext cx="308853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Se pregunta cómo se ve el futuro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1578" y="2594229"/>
            <a:ext cx="3088538" cy="21638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Se consulta a gerentes de compra, a empresas o a consumidores: </a:t>
            </a:r>
            <a:r>
              <a:rPr sz="1150" b="1">
                <a:solidFill>
                  <a:srgbClr val="00DC82"/>
                </a:solidFill>
                <a:latin typeface="Segoe UI"/>
              </a:rPr>
              <a:t>¿mejor o peor que el mes pasado?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00DC82"/>
                </a:solidFill>
                <a:latin typeface="Segoe UI"/>
              </a:rPr>
              <a:t>Ventaja:</a:t>
            </a:r>
            <a:r>
              <a:rPr sz="1150" b="0">
                <a:solidFill>
                  <a:srgbClr val="A9A5B4"/>
                </a:solidFill>
                <a:latin typeface="Segoe UI"/>
              </a:rPr>
              <a:t> se adelanta. Quien compra insumos hoy sabe qué va a producir en tres meses.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00DC82"/>
                </a:solidFill>
                <a:latin typeface="Segoe UI"/>
              </a:rPr>
              <a:t>Desventaja:</a:t>
            </a:r>
            <a:r>
              <a:rPr sz="1150" b="0">
                <a:solidFill>
                  <a:srgbClr val="A9A5B4"/>
                </a:solidFill>
                <a:latin typeface="Segoe UI"/>
              </a:rPr>
              <a:t> mide </a:t>
            </a:r>
            <a:r>
              <a:rPr sz="1150" b="1">
                <a:solidFill>
                  <a:srgbClr val="00DC82"/>
                </a:solidFill>
                <a:latin typeface="Segoe UI"/>
              </a:rPr>
              <a:t>percepción</a:t>
            </a:r>
            <a:r>
              <a:rPr sz="1150" b="0">
                <a:solidFill>
                  <a:srgbClr val="A9A5B4"/>
                </a:solidFill>
                <a:latin typeface="Segoe UI"/>
              </a:rPr>
              <a:t>, y la percepción puede equivocarse o contagiarse del ánimo general.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Ejemplos: PMI, ISM, confianza del consumidor.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9028" y="1615821"/>
            <a:ext cx="3454298" cy="3306826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79028" y="1615821"/>
            <a:ext cx="3454298" cy="3810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61908" y="1816989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CÓMO SE COMBINAN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1908" y="2091309"/>
            <a:ext cx="308853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Uno avisa, el otro confirma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908" y="2594229"/>
            <a:ext cx="3088538" cy="21638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La lectura profesional los usa </a:t>
            </a:r>
            <a:r>
              <a:rPr sz="1150" b="1">
                <a:solidFill>
                  <a:srgbClr val="F5A524"/>
                </a:solidFill>
                <a:latin typeface="Segoe UI"/>
              </a:rPr>
              <a:t>en secuencia</a:t>
            </a:r>
            <a:r>
              <a:rPr sz="1150" b="0">
                <a:solidFill>
                  <a:srgbClr val="A9A5B4"/>
                </a:solidFill>
                <a:latin typeface="Segoe UI"/>
              </a:rPr>
              <a:t>: la encuesta </a:t>
            </a:r>
            <a:r>
              <a:rPr sz="1150" b="1">
                <a:solidFill>
                  <a:srgbClr val="F5A524"/>
                </a:solidFill>
                <a:latin typeface="Segoe UI"/>
              </a:rPr>
              <a:t>anticipa</a:t>
            </a:r>
            <a:r>
              <a:rPr sz="1150" b="0">
                <a:solidFill>
                  <a:srgbClr val="A9A5B4"/>
                </a:solidFill>
                <a:latin typeface="Segoe UI"/>
              </a:rPr>
              <a:t> el giro, el registro lo </a:t>
            </a:r>
            <a:r>
              <a:rPr sz="1150" b="1">
                <a:solidFill>
                  <a:srgbClr val="F5A524"/>
                </a:solidFill>
                <a:latin typeface="Segoe UI"/>
              </a:rPr>
              <a:t>confirma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Si las encuestas se deterioran tres meses seguidos y luego las ventas caen, había aviso.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Si la encuesta se deteriora y el registro </a:t>
            </a:r>
            <a:r>
              <a:rPr sz="1150" b="1">
                <a:solidFill>
                  <a:srgbClr val="F5A524"/>
                </a:solidFill>
                <a:latin typeface="Segoe UI"/>
              </a:rPr>
              <a:t>no</a:t>
            </a:r>
            <a:r>
              <a:rPr sz="1150" b="0">
                <a:solidFill>
                  <a:srgbClr val="A9A5B4"/>
                </a:solidFill>
                <a:latin typeface="Segoe UI"/>
              </a:rPr>
              <a:t> la sigue, fue ruido de ánimo.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Nunca contrapongas uno al otro: </a:t>
            </a:r>
            <a:r>
              <a:rPr sz="1150" b="1">
                <a:solidFill>
                  <a:srgbClr val="F5A524"/>
                </a:solidFill>
                <a:latin typeface="Segoe UI"/>
              </a:rPr>
              <a:t>miden cosas distintas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Fundamentos de lectura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Índices de difusión: por qué 50 es la frontera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Todos los PMI e ISM se leen igual. Entendido una vez, aplica a Estados Unidos, a China, a la Zona Euro y a Chile.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15821"/>
            <a:ext cx="3454298" cy="2850896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615821"/>
            <a:ext cx="3454298" cy="381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1816989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4C8DFF"/>
                </a:solidFill>
                <a:latin typeface="Segoe UI"/>
              </a:rPr>
              <a:t>CÓMO SE CONSTRUYE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91309"/>
            <a:ext cx="308853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Se cuenta cuántos mejoran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94229"/>
            <a:ext cx="3088538" cy="1707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Se le pregunta a cientos de gerentes de compra: </a:t>
            </a:r>
            <a:r>
              <a:rPr sz="1150" b="1">
                <a:solidFill>
                  <a:srgbClr val="4C8DFF"/>
                </a:solidFill>
                <a:latin typeface="Segoe UI"/>
              </a:rPr>
              <a:t>¿su actividad está mejor, igual o peor que el mes pasado?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El índice es el </a:t>
            </a:r>
            <a:r>
              <a:rPr sz="1150" b="1">
                <a:solidFill>
                  <a:srgbClr val="4C8DFF"/>
                </a:solidFill>
                <a:latin typeface="Segoe UI"/>
              </a:rPr>
              <a:t>porcentaje que responde «mejor»</a:t>
            </a:r>
            <a:r>
              <a:rPr sz="1150" b="0">
                <a:solidFill>
                  <a:srgbClr val="A9A5B4"/>
                </a:solidFill>
                <a:latin typeface="Segoe UI"/>
              </a:rPr>
              <a:t>, más la mitad de los que responden «igual».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Por eso el resultado va siempre entre 0 y 100.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615821"/>
            <a:ext cx="3454298" cy="2850896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68698" y="1615821"/>
            <a:ext cx="3454298" cy="3810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51578" y="1816989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QUÉ SIGNIFICA EL 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1578" y="2091309"/>
            <a:ext cx="308853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La mitad mejora, la mitad empeora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1578" y="2594229"/>
            <a:ext cx="3088538" cy="1707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00DC82"/>
                </a:solidFill>
                <a:latin typeface="Segoe UI"/>
              </a:rPr>
              <a:t>Sobre 50</a:t>
            </a:r>
            <a:r>
              <a:rPr sz="1150" b="0">
                <a:solidFill>
                  <a:srgbClr val="A9A5B4"/>
                </a:solidFill>
                <a:latin typeface="Segoe UI"/>
              </a:rPr>
              <a:t> → más empresas mejoran que empeoran: la actividad </a:t>
            </a:r>
            <a:r>
              <a:rPr sz="1150" b="1">
                <a:solidFill>
                  <a:srgbClr val="00DC82"/>
                </a:solidFill>
                <a:latin typeface="Segoe UI"/>
              </a:rPr>
              <a:t>se está expandiendo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00DC82"/>
                </a:solidFill>
                <a:latin typeface="Segoe UI"/>
              </a:rPr>
              <a:t>Bajo 50</a:t>
            </a:r>
            <a:r>
              <a:rPr sz="1150" b="0">
                <a:solidFill>
                  <a:srgbClr val="A9A5B4"/>
                </a:solidFill>
                <a:latin typeface="Segoe UI"/>
              </a:rPr>
              <a:t> → más empresas empeoran: la actividad </a:t>
            </a:r>
            <a:r>
              <a:rPr sz="1150" b="1">
                <a:solidFill>
                  <a:srgbClr val="00DC82"/>
                </a:solidFill>
                <a:latin typeface="Segoe UI"/>
              </a:rPr>
              <a:t>se está contrayendo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00DC82"/>
                </a:solidFill>
                <a:latin typeface="Segoe UI"/>
              </a:rPr>
              <a:t>En 50</a:t>
            </a:r>
            <a:r>
              <a:rPr sz="1150" b="0">
                <a:solidFill>
                  <a:srgbClr val="A9A5B4"/>
                </a:solidFill>
                <a:latin typeface="Segoe UI"/>
              </a:rPr>
              <a:t> → equilibrio exacto, sin cambio.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La distancia respecto de 50 indica </a:t>
            </a:r>
            <a:r>
              <a:rPr sz="1150" b="1">
                <a:solidFill>
                  <a:srgbClr val="00DC82"/>
                </a:solidFill>
                <a:latin typeface="Segoe UI"/>
              </a:rPr>
              <a:t>qué tan generalizado</a:t>
            </a:r>
            <a:r>
              <a:rPr sz="1150" b="0">
                <a:solidFill>
                  <a:srgbClr val="A9A5B4"/>
                </a:solidFill>
                <a:latin typeface="Segoe UI"/>
              </a:rPr>
              <a:t> es el movimiento.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9028" y="1615821"/>
            <a:ext cx="3454298" cy="2850896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79028" y="1615821"/>
            <a:ext cx="3454298" cy="3810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61908" y="1816989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LA TRAMPA CLÁSICA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1908" y="2091309"/>
            <a:ext cx="308853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Mide dirección, no tamaño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908" y="2594229"/>
            <a:ext cx="3088538" cy="1707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Un PMI de 52 </a:t>
            </a:r>
            <a:r>
              <a:rPr sz="1150" b="1">
                <a:solidFill>
                  <a:srgbClr val="F5A524"/>
                </a:solidFill>
                <a:latin typeface="Segoe UI"/>
              </a:rPr>
              <a:t>no</a:t>
            </a:r>
            <a:r>
              <a:rPr sz="1150" b="0">
                <a:solidFill>
                  <a:srgbClr val="A9A5B4"/>
                </a:solidFill>
                <a:latin typeface="Segoe UI"/>
              </a:rPr>
              <a:t> significa que la economía creció 52, ni un 2%. Significa que </a:t>
            </a:r>
            <a:r>
              <a:rPr sz="1150" b="1">
                <a:solidFill>
                  <a:srgbClr val="F5A524"/>
                </a:solidFill>
                <a:latin typeface="Segoe UI"/>
              </a:rPr>
              <a:t>más empresas mejoraron que empeoraron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Un PMI que cae de 58 a 53 sigue indicando </a:t>
            </a:r>
            <a:r>
              <a:rPr sz="1150" b="1">
                <a:solidFill>
                  <a:srgbClr val="F5A524"/>
                </a:solidFill>
                <a:latin typeface="Segoe UI"/>
              </a:rPr>
              <a:t>expansión</a:t>
            </a:r>
            <a:r>
              <a:rPr sz="1150" b="0">
                <a:solidFill>
                  <a:srgbClr val="A9A5B4"/>
                </a:solidFill>
                <a:latin typeface="Segoe UI"/>
              </a:rPr>
              <a:t>, solo que menos generalizada. No es contracción.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Y una empresa gigante cuenta </a:t>
            </a:r>
            <a:r>
              <a:rPr sz="1150" b="1">
                <a:solidFill>
                  <a:srgbClr val="F5A524"/>
                </a:solidFill>
                <a:latin typeface="Segoe UI"/>
              </a:rPr>
              <a:t>lo mismo</a:t>
            </a:r>
            <a:r>
              <a:rPr sz="1150" b="0">
                <a:solidFill>
                  <a:srgbClr val="A9A5B4"/>
                </a:solidFill>
                <a:latin typeface="Segoe UI"/>
              </a:rPr>
              <a:t> que una chica: el índice no pondera por tamaño.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Fundamentos de lectura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Adelantados, coincidentes y atrasados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El tercer eje de clasificación. Te dice </a:t>
            </a:r>
            <a:r>
              <a:rPr sz="1350" b="1">
                <a:solidFill>
                  <a:srgbClr val="00DC82"/>
                </a:solidFill>
                <a:latin typeface="Segoe UI"/>
              </a:rPr>
              <a:t>para qué</a:t>
            </a:r>
            <a:r>
              <a:rPr sz="1350" b="0">
                <a:solidFill>
                  <a:srgbClr val="A9A5B4"/>
                </a:solidFill>
                <a:latin typeface="Segoe UI"/>
              </a:rPr>
              <a:t> sirve cada dato: para anticipar, para confirmar o para explicar.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615821"/>
          <a:ext cx="10874957" cy="1713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3807"/>
                <a:gridCol w="2578598"/>
                <a:gridCol w="2914937"/>
                <a:gridCol w="3587615"/>
              </a:tblGrid>
              <a:tr h="24968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00DC82"/>
                          </a:solidFill>
                          <a:latin typeface="Segoe UI"/>
                        </a:rPr>
                        <a:t>TIPO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00DC82"/>
                          </a:solidFill>
                          <a:latin typeface="Segoe UI"/>
                        </a:rPr>
                        <a:t>QUÉ HACE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00DC82"/>
                          </a:solidFill>
                          <a:latin typeface="Segoe UI"/>
                        </a:rPr>
                        <a:t>EJEMPLOS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00DC82"/>
                          </a:solidFill>
                          <a:latin typeface="Segoe UI"/>
                        </a:rPr>
                        <a:t>CÓMO SE USA AL INTERPRETAR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</a:tr>
              <a:tr h="595884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Adelantados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Se mueven </a:t>
                      </a: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antes</a:t>
                      </a: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 que la economía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PMI e ISM, peticiones de subsidio, permisos de construcción, expectativas de inflación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Para </a:t>
                      </a: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anticipar</a:t>
                      </a: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 el giro. Son los que más mueven el precio, porque traen información nueva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43383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Coincidentes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Se mueven </a:t>
                      </a: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junto con</a:t>
                      </a: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 la economía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Nóminas de empleo, producción industrial, ventas minoristas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Para </a:t>
                      </a: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confirmar</a:t>
                      </a: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 que el giro anticipado se está materializando de verdad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  <a:tr h="43383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Atrasados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Se mueven </a:t>
                      </a: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después</a:t>
                      </a: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 que la economía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Tasa de desempleo, PIB, inflación subyacente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Para </a:t>
                      </a: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explicar</a:t>
                      </a: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 y para medir consecuencias. Mueven menos… salvo que sorprendan mucho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58368" y="3530219"/>
            <a:ext cx="10874959" cy="110947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3530219"/>
            <a:ext cx="10874959" cy="2857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1248" y="3676523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POR QUÉ LA INFLACIÓN, SIENDO ATRASADA, MUEVE TANTO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969131"/>
            <a:ext cx="10509199" cy="542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Porque el banco central </a:t>
            </a:r>
            <a:r>
              <a:rPr sz="1200" b="1">
                <a:solidFill>
                  <a:srgbClr val="FFFFFF"/>
                </a:solidFill>
                <a:latin typeface="Segoe UI"/>
              </a:rPr>
              <a:t>decide sobre ella</a:t>
            </a:r>
            <a:r>
              <a:rPr sz="1200" b="0">
                <a:solidFill>
                  <a:srgbClr val="A9A5B4"/>
                </a:solidFill>
                <a:latin typeface="Segoe UI"/>
              </a:rPr>
              <a:t>. Un dato atrasado que define la política monetaria pesa más que un adelantado que no define nada. </a:t>
            </a:r>
            <a:r>
              <a:rPr sz="1200" b="1">
                <a:solidFill>
                  <a:srgbClr val="FFFFFF"/>
                </a:solidFill>
                <a:latin typeface="Segoe UI"/>
              </a:rPr>
              <a:t>El peso lo da la consecuencia, no el timing.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Fundamentos de lectura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La cadena de transmisión: del dato al precio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Este es el mapa mental que hay que tener siempre. </a:t>
            </a:r>
            <a:r>
              <a:rPr sz="1350" b="1">
                <a:solidFill>
                  <a:srgbClr val="00DC82"/>
                </a:solidFill>
                <a:latin typeface="Segoe UI"/>
              </a:rPr>
              <a:t>Todo</a:t>
            </a:r>
            <a:r>
              <a:rPr sz="1350" b="0">
                <a:solidFill>
                  <a:srgbClr val="A9A5B4"/>
                </a:solidFill>
                <a:latin typeface="Segoe UI"/>
              </a:rPr>
              <a:t> dato de Estados Unidos recorre este camino.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79829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615821"/>
            <a:ext cx="1071036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Paso 1 · Sale el dato y se compara con el consenso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52295"/>
            <a:ext cx="10710367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Nace la sorpresa. Sin sorpresa, la cadena no arranca.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65807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2201799"/>
            <a:ext cx="1071036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Paso 2 · Cambia la expectativa sobre la tasa de interés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38273"/>
            <a:ext cx="10710367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El mercado recalcula: </a:t>
            </a:r>
            <a:r>
              <a:rPr sz="1250" b="1">
                <a:solidFill>
                  <a:srgbClr val="00DC82"/>
                </a:solidFill>
                <a:latin typeface="Segoe UI"/>
              </a:rPr>
              <a:t>¿esto hace más o menos probable que la Reserva Federal baje la tasa?</a:t>
            </a:r>
            <a:r>
              <a:rPr sz="1250" b="0">
                <a:solidFill>
                  <a:srgbClr val="A9A5B4"/>
                </a:solidFill>
                <a:latin typeface="Segoe UI"/>
              </a:rPr>
              <a:t> Acá se decide todo lo que sigue.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851785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2787777"/>
            <a:ext cx="1071036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Paso 3 · Se mueve el rendimiento de los bonos del Tesoro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24251"/>
            <a:ext cx="10710367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Los bonos son el termómetro de esa expectativa. Si se espera tasa más alta por más tiempo, </a:t>
            </a:r>
            <a:r>
              <a:rPr sz="1250" b="1">
                <a:solidFill>
                  <a:srgbClr val="00DC82"/>
                </a:solidFill>
                <a:latin typeface="Segoe UI"/>
              </a:rPr>
              <a:t>el rendimiento sube</a:t>
            </a:r>
            <a:r>
              <a:rPr sz="1250" b="0">
                <a:solidFill>
                  <a:srgbClr val="A9A5B4"/>
                </a:solidFill>
                <a:latin typeface="Segoe UI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437763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" y="3373755"/>
            <a:ext cx="1071036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Paso 4 · Se mueve el dólar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10229"/>
            <a:ext cx="10710367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Rendimiento más alto = tener dólares paga más = </a:t>
            </a:r>
            <a:r>
              <a:rPr sz="1250" b="1">
                <a:solidFill>
                  <a:srgbClr val="00DC82"/>
                </a:solidFill>
                <a:latin typeface="Segoe UI"/>
              </a:rPr>
              <a:t>entra capital y el dólar se fortalece</a:t>
            </a:r>
            <a:r>
              <a:rPr sz="1250" b="0">
                <a:solidFill>
                  <a:srgbClr val="A9A5B4"/>
                </a:solidFill>
                <a:latin typeface="Segoe UI"/>
              </a:rPr>
              <a:t>. Es el eslabón que conecta con nuestros activos.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023741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60" y="3959733"/>
            <a:ext cx="1071036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Paso 5 · Reaccionan los activos, cada uno por su razón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96207"/>
            <a:ext cx="1071036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El oro </a:t>
            </a:r>
            <a:r>
              <a:rPr sz="1250" b="1">
                <a:solidFill>
                  <a:srgbClr val="00DC82"/>
                </a:solidFill>
                <a:latin typeface="Segoe UI"/>
              </a:rPr>
              <a:t>baja</a:t>
            </a:r>
            <a:r>
              <a:rPr sz="1250" b="0">
                <a:solidFill>
                  <a:srgbClr val="A9A5B4"/>
                </a:solidFill>
                <a:latin typeface="Segoe UI"/>
              </a:rPr>
              <a:t> (compite con un bono que ahora paga más). El Nasdaq </a:t>
            </a:r>
            <a:r>
              <a:rPr sz="1250" b="1">
                <a:solidFill>
                  <a:srgbClr val="00DC82"/>
                </a:solidFill>
                <a:latin typeface="Segoe UI"/>
              </a:rPr>
              <a:t>baja</a:t>
            </a:r>
            <a:r>
              <a:rPr sz="1250" b="0">
                <a:solidFill>
                  <a:srgbClr val="A9A5B4"/>
                </a:solidFill>
                <a:latin typeface="Segoe UI"/>
              </a:rPr>
              <a:t> (vale por ganancias futuras, que a tasa alta valen menos hoy). El USD/CLP </a:t>
            </a:r>
            <a:r>
              <a:rPr sz="1250" b="1">
                <a:solidFill>
                  <a:srgbClr val="00DC82"/>
                </a:solidFill>
                <a:latin typeface="Segoe UI"/>
              </a:rPr>
              <a:t>sube</a:t>
            </a:r>
            <a:r>
              <a:rPr sz="1250" b="0">
                <a:solidFill>
                  <a:srgbClr val="A9A5B4"/>
                </a:solidFill>
                <a:latin typeface="Segoe UI"/>
              </a:rPr>
              <a:t> (el dólar se fortalece frente a todo).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913503"/>
            <a:ext cx="10874959" cy="112598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58368" y="4913503"/>
            <a:ext cx="10874959" cy="28575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8" y="5059807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LA PREGUNTA ÚNICA QUE RESUME LA CADENA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352415"/>
            <a:ext cx="10509199" cy="559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Frente a cualquier dato de EE.UU., pregúntate solo esto: </a:t>
            </a:r>
            <a:r>
              <a:rPr sz="1250" b="1">
                <a:solidFill>
                  <a:srgbClr val="FFFFFF"/>
                </a:solidFill>
                <a:latin typeface="Segoe UI"/>
              </a:rPr>
              <a:t>¿le da a la Reserva Federal una razón para mantener la tasa alta, o para bajarla?</a:t>
            </a:r>
            <a:r>
              <a:rPr sz="1250" b="0">
                <a:solidFill>
                  <a:srgbClr val="A9A5B4"/>
                </a:solidFill>
                <a:latin typeface="Segoe UI"/>
              </a:rPr>
              <a:t> Con esa respuesta, la dirección de los cuatro activos se deduce sola.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Fundamentos de lectura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1965960"/>
            <a:ext cx="1828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4C8DFF"/>
                </a:solidFill>
                <a:latin typeface="Consola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95728" y="214884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Indicadores de Estados Unidos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1448" y="3246120"/>
            <a:ext cx="7863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450" b="0">
                <a:solidFill>
                  <a:srgbClr val="A9A5B4"/>
                </a:solidFill>
                <a:latin typeface="Segoe UI"/>
              </a:rPr>
              <a:t>Son los que mandan en el mercado global, porque definen la tasa de interés del dólar — y el dólar es </a:t>
            </a:r>
            <a:r>
              <a:rPr sz="1450" b="1">
                <a:solidFill>
                  <a:srgbClr val="4C8DFF"/>
                </a:solidFill>
                <a:latin typeface="Segoe UI"/>
              </a:rPr>
              <a:t>la moneda en la que se cotiza casi todo lo que operamos</a:t>
            </a:r>
            <a:r>
              <a:rPr sz="1450" b="0">
                <a:solidFill>
                  <a:srgbClr val="A9A5B4"/>
                </a:solidFill>
                <a:latin typeface="Segoe U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El mes macro de Estados Unidos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Los datos no salen al azar: siguen una secuencia que se repite todos los meses. Conocerla te permite </a:t>
            </a:r>
            <a:r>
              <a:rPr sz="1350" b="1">
                <a:solidFill>
                  <a:srgbClr val="4C8DFF"/>
                </a:solidFill>
                <a:latin typeface="Segoe UI"/>
              </a:rPr>
              <a:t>preparar</a:t>
            </a:r>
            <a:r>
              <a:rPr sz="1350" b="0">
                <a:solidFill>
                  <a:srgbClr val="A9A5B4"/>
                </a:solidFill>
                <a:latin typeface="Segoe UI"/>
              </a:rPr>
              <a:t> la semana.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615821"/>
          <a:ext cx="10874957" cy="21521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2259"/>
                <a:gridCol w="4708745"/>
                <a:gridCol w="1681694"/>
                <a:gridCol w="2242259"/>
              </a:tblGrid>
              <a:tr h="24968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4C8DFF"/>
                          </a:solidFill>
                          <a:latin typeface="Segoe UI"/>
                        </a:rPr>
                        <a:t>MOMENTO DEL MES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4C8DFF"/>
                          </a:solidFill>
                          <a:latin typeface="Segoe UI"/>
                        </a:rPr>
                        <a:t>QUÉ SE PUBLICA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4C8DFF"/>
                          </a:solidFill>
                          <a:latin typeface="Segoe UI"/>
                        </a:rPr>
                        <a:t>HORA CHILE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4C8DFF"/>
                          </a:solidFill>
                          <a:latin typeface="Segoe UI"/>
                        </a:rPr>
                        <a:t>TIPO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Día hábil 1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Índice de gerentes de compra manufacturero (ISM)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10:00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Encuesta · adelantado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Día hábil 3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Índice de gerentes de compra de servicios (ISM)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10:00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Encuesta · adelantado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Viernes 1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Informe de empleo: nóminas, desempleo y salarios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08:30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Registro + encuesta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Días 10 a 15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Inflación al consumidor (IPC) y al productor (IPP)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08:30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Registro · atrasado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Mitad de mes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Ventas minoristas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08:30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Registro · coincidente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Fin de mes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Gasto en consumo personal (PCE) y PIB trimestral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08:30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Registro · atrasado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Todos los jueves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Peticiones de subsidio por desempleo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08:30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Registro · adelantado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58368" y="3969131"/>
            <a:ext cx="10874959" cy="110947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3969131"/>
            <a:ext cx="10874959" cy="2857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1248" y="4115435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SOBRE LAS HORAS: NUNCA LAS ASUMAS FIJAS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408043"/>
            <a:ext cx="10509199" cy="542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Los horarios de arriba son los de </a:t>
            </a:r>
            <a:r>
              <a:rPr sz="1200" b="1">
                <a:solidFill>
                  <a:srgbClr val="FFFFFF"/>
                </a:solidFill>
                <a:latin typeface="Segoe UI"/>
              </a:rPr>
              <a:t>hoy, 31 de julio</a:t>
            </a:r>
            <a:r>
              <a:rPr sz="1200" b="0">
                <a:solidFill>
                  <a:srgbClr val="A9A5B4"/>
                </a:solidFill>
                <a:latin typeface="Segoe UI"/>
              </a:rPr>
              <a:t>. Estados Unidos y Chile cambian su horario de verano en meses distintos, así que la misma publicación puede caer una hora antes o después según la época del año. </a:t>
            </a:r>
            <a:r>
              <a:rPr sz="1200" b="1">
                <a:solidFill>
                  <a:srgbClr val="FFFFFF"/>
                </a:solidFill>
                <a:latin typeface="Segoe UI"/>
              </a:rPr>
              <a:t>Confirma siempre en el calendario.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Indicadores EE.UU.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1">
                <a:solidFill>
                  <a:srgbClr val="4C8DFF"/>
                </a:solidFill>
                <a:latin typeface="Segoe UI"/>
              </a:rPr>
              <a:t>FICHA DEL INDICADOR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Índice de precios al consumidor (IPC)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3490"/>
            <a:ext cx="960120" cy="3175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43637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El indicador más observado del planeta. Si vas a dominar uno solo, que sea este.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1890141"/>
            <a:ext cx="28575" cy="566928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QUIÉN LO PUBLICA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Oficina de Estadísticas Laborales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5687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445687" y="1890141"/>
            <a:ext cx="28575" cy="566928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591991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CUÁNDO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1991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Entre el día 10 y 15 · 08:30 Chile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33007" y="1890141"/>
            <a:ext cx="28575" cy="566928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79311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FRECUENCIA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9311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Mensual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20327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20327" y="1890141"/>
            <a:ext cx="28575" cy="566928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66631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TIPO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631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Registro · atrasado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2694813"/>
            <a:ext cx="5300319" cy="292303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58368" y="2694813"/>
            <a:ext cx="5300319" cy="28575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1248" y="2841117"/>
            <a:ext cx="4934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4C8DFF"/>
                </a:solidFill>
                <a:latin typeface="Segoe UI"/>
              </a:rPr>
              <a:t>QUÉ MIDE EXACTAMENTE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133725"/>
            <a:ext cx="4934559" cy="2356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Cuánto cambió el precio de </a:t>
            </a:r>
            <a:r>
              <a:rPr sz="1200" b="1">
                <a:solidFill>
                  <a:srgbClr val="FFFFFF"/>
                </a:solidFill>
                <a:latin typeface="Segoe UI"/>
              </a:rPr>
              <a:t>una canasta fija</a:t>
            </a:r>
            <a:r>
              <a:rPr sz="1200" b="0">
                <a:solidFill>
                  <a:srgbClr val="A9A5B4"/>
                </a:solidFill>
                <a:latin typeface="Segoe UI"/>
              </a:rPr>
              <a:t> de bienes y servicios que compra un hogar urbano típico.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«Fija» es la palabra clave: se mide </a:t>
            </a:r>
            <a:r>
              <a:rPr sz="1200" b="1">
                <a:solidFill>
                  <a:srgbClr val="FFFFFF"/>
                </a:solidFill>
                <a:latin typeface="Segoe UI"/>
              </a:rPr>
              <a:t>siempre la misma canasta</a:t>
            </a:r>
            <a:r>
              <a:rPr sz="1200" b="0">
                <a:solidFill>
                  <a:srgbClr val="A9A5B4"/>
                </a:solidFill>
                <a:latin typeface="Segoe UI"/>
              </a:rPr>
              <a:t>, para que el cambio sea de precio y no de hábitos de consumo.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El componente más grande es la </a:t>
            </a:r>
            <a:r>
              <a:rPr sz="1200" b="1">
                <a:solidFill>
                  <a:srgbClr val="FFFFFF"/>
                </a:solidFill>
                <a:latin typeface="Segoe UI"/>
              </a:rPr>
              <a:t>vivienda</a:t>
            </a:r>
            <a:r>
              <a:rPr sz="1200" b="0">
                <a:solidFill>
                  <a:srgbClr val="A9A5B4"/>
                </a:solidFill>
                <a:latin typeface="Segoe UI"/>
              </a:rPr>
              <a:t> (arriendos y su equivalente para propietarios): alrededor de un tercio del índice.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Es </a:t>
            </a:r>
            <a:r>
              <a:rPr sz="1200" b="1">
                <a:solidFill>
                  <a:srgbClr val="FFFFFF"/>
                </a:solidFill>
                <a:latin typeface="Segoe UI"/>
              </a:rPr>
              <a:t>la inflación que siente la gente</a:t>
            </a:r>
            <a:r>
              <a:rPr sz="1200" b="0">
                <a:solidFill>
                  <a:srgbClr val="A9A5B4"/>
                </a:solidFill>
                <a:latin typeface="Segoe UI"/>
              </a:rPr>
              <a:t>, y por eso es la que tiene peso político y mediático.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2694813"/>
            <a:ext cx="5300319" cy="292303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33007" y="2694813"/>
            <a:ext cx="5300319" cy="28575"/>
          </a:xfrm>
          <a:prstGeom prst="rect">
            <a:avLst/>
          </a:prstGeom>
          <a:solidFill>
            <a:srgbClr val="A9A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15887" y="2841117"/>
            <a:ext cx="4934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A9A5B4"/>
                </a:solidFill>
                <a:latin typeface="Segoe UI"/>
              </a:rPr>
              <a:t>CÓMO ESTÁ CONSTRUIDO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5887" y="3133725"/>
            <a:ext cx="4934559" cy="2356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Se recolectan decenas de miles de precios en comercios y viviendas de todo el país, cada mes.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Cada categoría </a:t>
            </a:r>
            <a:r>
              <a:rPr sz="1200" b="1">
                <a:solidFill>
                  <a:srgbClr val="FFFFFF"/>
                </a:solidFill>
                <a:latin typeface="Segoe UI"/>
              </a:rPr>
              <a:t>pesa</a:t>
            </a:r>
            <a:r>
              <a:rPr sz="1200" b="0">
                <a:solidFill>
                  <a:srgbClr val="A9A5B4"/>
                </a:solidFill>
                <a:latin typeface="Segoe UI"/>
              </a:rPr>
              <a:t> según cuánto gasta en ella un hogar promedio: si la vivienda es un tercio del gasto, es un tercio del índice.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El resultado se ajusta por estacionalidad para poder comparar meses.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Limitación importante:</a:t>
            </a:r>
            <a:r>
              <a:rPr sz="1200" b="0">
                <a:solidFill>
                  <a:srgbClr val="A9A5B4"/>
                </a:solidFill>
                <a:latin typeface="Segoe UI"/>
              </a:rPr>
              <a:t> al ser una canasta fija, si la carne sube y la gente se cambia al pollo, el índice sigue midiendo la carne. Tiende a </a:t>
            </a:r>
            <a:r>
              <a:rPr sz="1200" b="1">
                <a:solidFill>
                  <a:srgbClr val="FFFFFF"/>
                </a:solidFill>
                <a:latin typeface="Segoe UI"/>
              </a:rPr>
              <a:t>sobreestimar</a:t>
            </a:r>
            <a:r>
              <a:rPr sz="1200" b="0">
                <a:solidFill>
                  <a:srgbClr val="A9A5B4"/>
                </a:solidFill>
                <a:latin typeface="Segoe UI"/>
              </a:rPr>
              <a:t> la inflación real. Este defecto es la razón de que exista el PCE.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Indicadores EE.UU.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IPC: cómo se lee la publicación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Salen cuatro cifras al mismo tiempo. El orden en que las mires determina si interpretas bien o mal.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15821"/>
            <a:ext cx="3454298" cy="329095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615821"/>
            <a:ext cx="3454298" cy="3810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1816989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MIRA PRIMERO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91309"/>
            <a:ext cx="3088538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Subyacente mensual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88489"/>
            <a:ext cx="3088538" cy="23536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00DC82"/>
                </a:solidFill>
                <a:latin typeface="Segoe UI"/>
              </a:rPr>
              <a:t>La más importante de las cuatro.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Sin alimentos ni energía, mes contra mes.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Muestra la </a:t>
            </a:r>
            <a:r>
              <a:rPr sz="1150" b="1">
                <a:solidFill>
                  <a:srgbClr val="00DC82"/>
                </a:solidFill>
                <a:latin typeface="Segoe UI"/>
              </a:rPr>
              <a:t>tendencia de fondo, ahora</a:t>
            </a:r>
            <a:r>
              <a:rPr sz="1150" b="0">
                <a:solidFill>
                  <a:srgbClr val="A9A5B4"/>
                </a:solidFill>
                <a:latin typeface="Segoe UI"/>
              </a:rPr>
              <a:t>: si la inflación está metida en servicios y arriendos.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Es la que el banco central mira y la que más mueve el precio.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Referencia conceptual: un 0,2% mensual sostenido equivale, más o menos, a la meta de 2% anual.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615821"/>
            <a:ext cx="3454298" cy="329095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68698" y="1615821"/>
            <a:ext cx="3454298" cy="381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51578" y="1816989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4C8DFF"/>
                </a:solidFill>
                <a:latin typeface="Segoe UI"/>
              </a:rPr>
              <a:t>MIRA SEGUNDO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1578" y="2091309"/>
            <a:ext cx="3088538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Subyacente anual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1578" y="2388489"/>
            <a:ext cx="3088538" cy="23536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La misma exclusión, pero contra el mismo mes del año pasado.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Da el </a:t>
            </a:r>
            <a:r>
              <a:rPr sz="1150" b="1">
                <a:solidFill>
                  <a:srgbClr val="4C8DFF"/>
                </a:solidFill>
                <a:latin typeface="Segoe UI"/>
              </a:rPr>
              <a:t>contexto</a:t>
            </a:r>
            <a:r>
              <a:rPr sz="1150" b="0">
                <a:solidFill>
                  <a:srgbClr val="A9A5B4"/>
                </a:solidFill>
                <a:latin typeface="Segoe UI"/>
              </a:rPr>
              <a:t>: ¿venimos bajando o estancados?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Recuerda el </a:t>
            </a:r>
            <a:r>
              <a:rPr sz="1150" b="1">
                <a:solidFill>
                  <a:srgbClr val="4C8DFF"/>
                </a:solidFill>
                <a:latin typeface="Segoe UI"/>
              </a:rPr>
              <a:t>efecto base</a:t>
            </a:r>
            <a:r>
              <a:rPr sz="1150" b="0">
                <a:solidFill>
                  <a:srgbClr val="A9A5B4"/>
                </a:solidFill>
                <a:latin typeface="Segoe UI"/>
              </a:rPr>
              <a:t>: parte de su movimiento puede ser pura aritmética del año anterior.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Es la que se compara contra la meta oficial del banco central.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9028" y="1615821"/>
            <a:ext cx="3454298" cy="329095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79028" y="1615821"/>
            <a:ext cx="3454298" cy="3810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61908" y="1816989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MIRA AL FINAL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1908" y="2091309"/>
            <a:ext cx="3088538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General, mensual y anual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908" y="2388489"/>
            <a:ext cx="3088538" cy="23536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Es el titular de la prensa, y el que </a:t>
            </a:r>
            <a:r>
              <a:rPr sz="1150" b="1">
                <a:solidFill>
                  <a:srgbClr val="F5A524"/>
                </a:solidFill>
                <a:latin typeface="Segoe UI"/>
              </a:rPr>
              <a:t>menos</a:t>
            </a:r>
            <a:r>
              <a:rPr sz="1150" b="0">
                <a:solidFill>
                  <a:srgbClr val="A9A5B4"/>
                </a:solidFill>
                <a:latin typeface="Segoe UI"/>
              </a:rPr>
              <a:t> define la política monetaria.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Su diferencia con el subyacente te dice </a:t>
            </a:r>
            <a:r>
              <a:rPr sz="1150" b="1">
                <a:solidFill>
                  <a:srgbClr val="F5A524"/>
                </a:solidFill>
                <a:latin typeface="Segoe UI"/>
              </a:rPr>
              <a:t>qué hicieron la energía y los alimentos</a:t>
            </a:r>
            <a:r>
              <a:rPr sz="1150" b="0">
                <a:solidFill>
                  <a:srgbClr val="A9A5B4"/>
                </a:solidFill>
                <a:latin typeface="Segoe UI"/>
              </a:rPr>
              <a:t> este mes.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Si el general sorprende y el subyacente no: fue energía. Reacción típica </a:t>
            </a:r>
            <a:r>
              <a:rPr sz="1150" b="1">
                <a:solidFill>
                  <a:srgbClr val="F5A524"/>
                </a:solidFill>
                <a:latin typeface="Segoe UI"/>
              </a:rPr>
              <a:t>corta y con reversión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Si </a:t>
            </a:r>
            <a:r>
              <a:rPr sz="1150" b="1">
                <a:solidFill>
                  <a:srgbClr val="F5A524"/>
                </a:solidFill>
                <a:latin typeface="Segoe UI"/>
              </a:rPr>
              <a:t>ambos</a:t>
            </a:r>
            <a:r>
              <a:rPr sz="1150" b="0">
                <a:solidFill>
                  <a:srgbClr val="A9A5B4"/>
                </a:solidFill>
                <a:latin typeface="Segoe UI"/>
              </a:rPr>
              <a:t> sorprenden en la misma dirección: la señal es sólida y el movimiento tiende a sostenerse.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Indicadores EE.UU.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IPC: qué debería hacer el precio, y por qué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Ejemplo ilustrativo con consenso de </a:t>
            </a:r>
            <a:r>
              <a:rPr sz="1350" b="1">
                <a:solidFill>
                  <a:srgbClr val="00DC82"/>
                </a:solidFill>
                <a:latin typeface="Segoe UI"/>
              </a:rPr>
              <a:t>0,2%</a:t>
            </a:r>
            <a:r>
              <a:rPr sz="1350" b="0">
                <a:solidFill>
                  <a:srgbClr val="A9A5B4"/>
                </a:solidFill>
                <a:latin typeface="Segoe UI"/>
              </a:rPr>
              <a:t> en la variación mensual subyacente. Fíjate en que la dirección </a:t>
            </a:r>
            <a:r>
              <a:rPr sz="1350" b="1">
                <a:solidFill>
                  <a:srgbClr val="00DC82"/>
                </a:solidFill>
                <a:latin typeface="Segoe UI"/>
              </a:rPr>
              <a:t>se deduce</a:t>
            </a:r>
            <a:r>
              <a:rPr sz="1350" b="0">
                <a:solidFill>
                  <a:srgbClr val="A9A5B4"/>
                </a:solidFill>
                <a:latin typeface="Segoe UI"/>
              </a:rPr>
              <a:t>, no se memoriza.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15821"/>
            <a:ext cx="3454298" cy="374688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615821"/>
            <a:ext cx="3454298" cy="38100"/>
          </a:xfrm>
          <a:prstGeom prst="rect">
            <a:avLst/>
          </a:prstGeom>
          <a:solidFill>
            <a:srgbClr val="E8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1816989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E84040"/>
                </a:solidFill>
                <a:latin typeface="Segoe UI"/>
              </a:rPr>
              <a:t>SALE 0,4% · SOBRE LO ESPERADO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91309"/>
            <a:ext cx="3088538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La inflación no cede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88489"/>
            <a:ext cx="3088538" cy="28096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E84040"/>
                </a:solidFill>
                <a:latin typeface="Segoe UI"/>
              </a:rPr>
              <a:t>Razonamiento:</a:t>
            </a:r>
            <a:r>
              <a:rPr sz="1150" b="0">
                <a:solidFill>
                  <a:srgbClr val="A9A5B4"/>
                </a:solidFill>
                <a:latin typeface="Segoe UI"/>
              </a:rPr>
              <a:t> si los precios siguen subiendo, el banco central no puede bajar la tasa. Dinero caro por más tiempo.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E84040"/>
                </a:solidFill>
                <a:latin typeface="Segoe UI"/>
              </a:rPr>
              <a:t>Dólar (índice DXY):</a:t>
            </a:r>
            <a:r>
              <a:rPr sz="1150" b="0">
                <a:solidFill>
                  <a:srgbClr val="A9A5B4"/>
                </a:solidFill>
                <a:latin typeface="Segoe UI"/>
              </a:rPr>
              <a:t> sube ⬆️ — un rendimiento más alto atrae capital hacia el dólar.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E84040"/>
                </a:solidFill>
                <a:latin typeface="Segoe UI"/>
              </a:rPr>
              <a:t>Oro:</a:t>
            </a:r>
            <a:r>
              <a:rPr sz="1150" b="0">
                <a:solidFill>
                  <a:srgbClr val="A9A5B4"/>
                </a:solidFill>
                <a:latin typeface="Segoe UI"/>
              </a:rPr>
              <a:t> baja ⬇️ — no paga interés; si el bono paga más, el oro pierde atractivo relativo.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E84040"/>
                </a:solidFill>
                <a:latin typeface="Segoe UI"/>
              </a:rPr>
              <a:t>Nasdaq 100:</a:t>
            </a:r>
            <a:r>
              <a:rPr sz="1150" b="0">
                <a:solidFill>
                  <a:srgbClr val="A9A5B4"/>
                </a:solidFill>
                <a:latin typeface="Segoe UI"/>
              </a:rPr>
              <a:t> baja ⬇️ — vale por ganancias futuras, y a tasa más alta esas ganancias valen menos hoy.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E84040"/>
                </a:solidFill>
                <a:latin typeface="Segoe UI"/>
              </a:rPr>
              <a:t>USD/CLP:</a:t>
            </a:r>
            <a:r>
              <a:rPr sz="1150" b="0">
                <a:solidFill>
                  <a:srgbClr val="A9A5B4"/>
                </a:solidFill>
                <a:latin typeface="Segoe UI"/>
              </a:rPr>
              <a:t> sube ⬆️ — el dólar se fortalece frente a todo, y el peso es una moneda emergente.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615821"/>
            <a:ext cx="3454298" cy="374688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68698" y="1615821"/>
            <a:ext cx="3454298" cy="3810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51578" y="1816989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SALE 0,1% · BAJO LO ESPERADO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1578" y="2091309"/>
            <a:ext cx="3088538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Se abre el camino a recortes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1578" y="2388489"/>
            <a:ext cx="3088538" cy="28096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00DC82"/>
                </a:solidFill>
                <a:latin typeface="Segoe UI"/>
              </a:rPr>
              <a:t>Razonamiento:</a:t>
            </a:r>
            <a:r>
              <a:rPr sz="1150" b="0">
                <a:solidFill>
                  <a:srgbClr val="A9A5B4"/>
                </a:solidFill>
                <a:latin typeface="Segoe UI"/>
              </a:rPr>
              <a:t> si los precios se calman, el banco central gana espacio para abaratar el dinero.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00DC82"/>
                </a:solidFill>
                <a:latin typeface="Segoe UI"/>
              </a:rPr>
              <a:t>Dólar:</a:t>
            </a:r>
            <a:r>
              <a:rPr sz="1150" b="0">
                <a:solidFill>
                  <a:srgbClr val="A9A5B4"/>
                </a:solidFill>
                <a:latin typeface="Segoe UI"/>
              </a:rPr>
              <a:t> baja ⬇️ — el rendimiento esperado cae y el dólar pierde atractivo.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00DC82"/>
                </a:solidFill>
                <a:latin typeface="Segoe UI"/>
              </a:rPr>
              <a:t>Oro:</a:t>
            </a:r>
            <a:r>
              <a:rPr sz="1150" b="0">
                <a:solidFill>
                  <a:srgbClr val="A9A5B4"/>
                </a:solidFill>
                <a:latin typeface="Segoe UI"/>
              </a:rPr>
              <a:t> sube ⬆️ — enfrenta menos competencia de los bonos y además se abarata para quien compra en otra moneda.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00DC82"/>
                </a:solidFill>
                <a:latin typeface="Segoe UI"/>
              </a:rPr>
              <a:t>Nasdaq 100:</a:t>
            </a:r>
            <a:r>
              <a:rPr sz="1150" b="0">
                <a:solidFill>
                  <a:srgbClr val="A9A5B4"/>
                </a:solidFill>
                <a:latin typeface="Segoe UI"/>
              </a:rPr>
              <a:t> sube ⬆️ — tasa más baja hace valer más las ganancias futuras.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00DC82"/>
                </a:solidFill>
                <a:latin typeface="Segoe UI"/>
              </a:rPr>
              <a:t>USD/CLP:</a:t>
            </a:r>
            <a:r>
              <a:rPr sz="1150" b="0">
                <a:solidFill>
                  <a:srgbClr val="A9A5B4"/>
                </a:solidFill>
                <a:latin typeface="Segoe UI"/>
              </a:rPr>
              <a:t> baja ⬇️ — dólar global más débil y más apetito por activos emergentes.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9028" y="1615821"/>
            <a:ext cx="3454298" cy="374688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79028" y="1615821"/>
            <a:ext cx="3454298" cy="3810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61908" y="1816989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SALE 0,2% · EN LÍNEA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1908" y="2091309"/>
            <a:ext cx="3088538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Ya estaba en el precio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908" y="2388489"/>
            <a:ext cx="3088538" cy="28096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F5A524"/>
                </a:solidFill>
                <a:latin typeface="Segoe UI"/>
              </a:rPr>
              <a:t>Razonamiento:</a:t>
            </a:r>
            <a:r>
              <a:rPr sz="1150" b="0">
                <a:solidFill>
                  <a:srgbClr val="A9A5B4"/>
                </a:solidFill>
                <a:latin typeface="Segoe UI"/>
              </a:rPr>
              <a:t> no hay información nueva. La cadena de transmisión no arranca.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F5A524"/>
                </a:solidFill>
                <a:latin typeface="Segoe UI"/>
              </a:rPr>
              <a:t>Reacción típica:</a:t>
            </a:r>
            <a:r>
              <a:rPr sz="1150" b="0">
                <a:solidFill>
                  <a:srgbClr val="A9A5B4"/>
                </a:solidFill>
                <a:latin typeface="Segoe UI"/>
              </a:rPr>
              <a:t> movimiento breve por el ruido de los primeros segundos, y </a:t>
            </a:r>
            <a:r>
              <a:rPr sz="1150" b="1">
                <a:solidFill>
                  <a:srgbClr val="F5A524"/>
                </a:solidFill>
                <a:latin typeface="Segoe UI"/>
              </a:rPr>
              <a:t>reversión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F5A524"/>
                </a:solidFill>
                <a:latin typeface="Segoe UI"/>
              </a:rPr>
              <a:t>Dónde se va el mercado entonces:</a:t>
            </a:r>
            <a:r>
              <a:rPr sz="1150" b="0">
                <a:solidFill>
                  <a:srgbClr val="A9A5B4"/>
                </a:solidFill>
                <a:latin typeface="Segoe UI"/>
              </a:rPr>
              <a:t> al detalle. Busca la vivienda, los servicios, la diferencia general-subyacente.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F5A524"/>
                </a:solidFill>
                <a:latin typeface="Segoe UI"/>
              </a:rPr>
              <a:t>Lectura para el cliente:</a:t>
            </a:r>
            <a:r>
              <a:rPr sz="1150" b="0">
                <a:solidFill>
                  <a:srgbClr val="A9A5B4"/>
                </a:solidFill>
                <a:latin typeface="Segoe UI"/>
              </a:rPr>
              <a:t> «salió como se esperaba, así que el mercado ya lo tenía incorporado».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Es el escenario donde más se equivoca quien opera el titular.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Indicadores EE.UU.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1">
                <a:solidFill>
                  <a:srgbClr val="4C8DFF"/>
                </a:solidFill>
                <a:latin typeface="Segoe UI"/>
              </a:rPr>
              <a:t>FICHA DEL INDICADOR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Índice de precios al productor (IPP)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3490"/>
            <a:ext cx="960120" cy="3175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43637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La inflación </a:t>
            </a:r>
            <a:r>
              <a:rPr sz="1350" b="1">
                <a:solidFill>
                  <a:srgbClr val="4C8DFF"/>
                </a:solidFill>
                <a:latin typeface="Segoe UI"/>
              </a:rPr>
              <a:t>antes</a:t>
            </a:r>
            <a:r>
              <a:rPr sz="1350" b="0">
                <a:solidFill>
                  <a:srgbClr val="A9A5B4"/>
                </a:solidFill>
                <a:latin typeface="Segoe UI"/>
              </a:rPr>
              <a:t> de llegar a la góndola. Se subestima, y es uno de los mejores adelantos que existen.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1890141"/>
            <a:ext cx="28575" cy="566928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QUIÉN LO PUBLICA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Oficina de Estadísticas Laborales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5687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445687" y="1890141"/>
            <a:ext cx="28575" cy="566928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591991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CUÁNDO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1991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Junto al IPC, a un día · 08:30 Chile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33007" y="1890141"/>
            <a:ext cx="28575" cy="566928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79311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FRECUENCIA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9311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Mensual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20327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20327" y="1890141"/>
            <a:ext cx="28575" cy="566928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66631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TIPO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631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Registro · adelantado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2694813"/>
            <a:ext cx="5300319" cy="299923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58368" y="2694813"/>
            <a:ext cx="5300319" cy="28575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1248" y="2841117"/>
            <a:ext cx="4934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4C8DFF"/>
                </a:solidFill>
                <a:latin typeface="Segoe UI"/>
              </a:rPr>
              <a:t>QUÉ MIDE EXACTAMENTE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133725"/>
            <a:ext cx="4934559" cy="2432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Los precios que </a:t>
            </a:r>
            <a:r>
              <a:rPr sz="1200" b="1">
                <a:solidFill>
                  <a:srgbClr val="FFFFFF"/>
                </a:solidFill>
                <a:latin typeface="Segoe UI"/>
              </a:rPr>
              <a:t>reciben los productores</a:t>
            </a:r>
            <a:r>
              <a:rPr sz="1200" b="0">
                <a:solidFill>
                  <a:srgbClr val="A9A5B4"/>
                </a:solidFill>
                <a:latin typeface="Segoe UI"/>
              </a:rPr>
              <a:t> por lo que venden — no los que paga el consumidor.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Es decir: mide la inflación </a:t>
            </a:r>
            <a:r>
              <a:rPr sz="1200" b="1">
                <a:solidFill>
                  <a:srgbClr val="FFFFFF"/>
                </a:solidFill>
                <a:latin typeface="Segoe UI"/>
              </a:rPr>
              <a:t>aguas arriba</a:t>
            </a:r>
            <a:r>
              <a:rPr sz="1200" b="0">
                <a:solidFill>
                  <a:srgbClr val="A9A5B4"/>
                </a:solidFill>
                <a:latin typeface="Segoe UI"/>
              </a:rPr>
              <a:t>, en la fábrica y en el mayorista, antes de que llegue al público.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También tiene su versión </a:t>
            </a:r>
            <a:r>
              <a:rPr sz="1200" b="1">
                <a:solidFill>
                  <a:srgbClr val="FFFFFF"/>
                </a:solidFill>
                <a:latin typeface="Segoe UI"/>
              </a:rPr>
              <a:t>subyacente</a:t>
            </a:r>
            <a:r>
              <a:rPr sz="1200" b="0">
                <a:solidFill>
                  <a:srgbClr val="A9A5B4"/>
                </a:solidFill>
                <a:latin typeface="Segoe UI"/>
              </a:rPr>
              <a:t>, sin alimentos ni energía, por la misma razón que el IPC.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Incluye bienes y también servicios de transporte y almacenamiento.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2694813"/>
            <a:ext cx="5300319" cy="299923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33007" y="2694813"/>
            <a:ext cx="5300319" cy="28575"/>
          </a:xfrm>
          <a:prstGeom prst="rect">
            <a:avLst/>
          </a:prstGeom>
          <a:solidFill>
            <a:srgbClr val="A9A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15887" y="2841117"/>
            <a:ext cx="4934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A9A5B4"/>
                </a:solidFill>
                <a:latin typeface="Segoe UI"/>
              </a:rPr>
              <a:t>CÓMO SE INTERPRETA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5887" y="3133725"/>
            <a:ext cx="4934559" cy="2432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Su valor está en la secuencia:</a:t>
            </a:r>
            <a:r>
              <a:rPr sz="1200" b="0">
                <a:solidFill>
                  <a:srgbClr val="A9A5B4"/>
                </a:solidFill>
                <a:latin typeface="Segoe UI"/>
              </a:rPr>
              <a:t> si al productor le suben los costos hoy, tenderá a traspasarlos al consumidor en los meses siguientes.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Si IPP e IPC apuntan en la misma dirección</a:t>
            </a:r>
            <a:r>
              <a:rPr sz="1200" b="0">
                <a:solidFill>
                  <a:srgbClr val="A9A5B4"/>
                </a:solidFill>
                <a:latin typeface="Segoe UI"/>
              </a:rPr>
              <a:t> → la señal se refuerza mucho: la presión es real y viene por toda la cadena.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Si se contradicen</a:t>
            </a:r>
            <a:r>
              <a:rPr sz="1200" b="0">
                <a:solidFill>
                  <a:srgbClr val="A9A5B4"/>
                </a:solidFill>
                <a:latin typeface="Segoe UI"/>
              </a:rPr>
              <a:t> → en el corto plazo gana el IPC (es el que mira el banco central), pero el IPP te está avisando del </a:t>
            </a:r>
            <a:r>
              <a:rPr sz="1200" b="1">
                <a:solidFill>
                  <a:srgbClr val="FFFFFF"/>
                </a:solidFill>
                <a:latin typeface="Segoe UI"/>
              </a:rPr>
              <a:t>próximo</a:t>
            </a:r>
            <a:r>
              <a:rPr sz="1200" b="0">
                <a:solidFill>
                  <a:srgbClr val="A9A5B4"/>
                </a:solidFill>
                <a:latin typeface="Segoe UI"/>
              </a:rPr>
              <a:t> IPC.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Dato adicional:</a:t>
            </a:r>
            <a:r>
              <a:rPr sz="1200" b="0">
                <a:solidFill>
                  <a:srgbClr val="A9A5B4"/>
                </a:solidFill>
                <a:latin typeface="Segoe UI"/>
              </a:rPr>
              <a:t> algunos componentes del IPP alimentan el cálculo del PCE, así que un IPP alto suele adelantar un PCE alto.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Efecto en precio:</a:t>
            </a:r>
            <a:r>
              <a:rPr sz="1200" b="0">
                <a:solidFill>
                  <a:srgbClr val="A9A5B4"/>
                </a:solidFill>
                <a:latin typeface="Segoe UI"/>
              </a:rPr>
              <a:t> la misma dirección que el IPC, pero con menos intensidad — salvo que sorprenda mucho.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Indicadores EE.UU.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1">
                <a:solidFill>
                  <a:srgbClr val="4C8DFF"/>
                </a:solidFill>
                <a:latin typeface="Segoe UI"/>
              </a:rPr>
              <a:t>FICHA DEL INDICADOR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Gasto en consumo personal (PCE)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3490"/>
            <a:ext cx="960120" cy="3175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43637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La medida de inflación que el banco central </a:t>
            </a:r>
            <a:r>
              <a:rPr sz="1350" b="1">
                <a:solidFill>
                  <a:srgbClr val="4C8DFF"/>
                </a:solidFill>
                <a:latin typeface="Segoe UI"/>
              </a:rPr>
              <a:t>eligió como su meta oficial</a:t>
            </a:r>
            <a:r>
              <a:rPr sz="1350" b="0">
                <a:solidFill>
                  <a:srgbClr val="A9A5B4"/>
                </a:solidFill>
                <a:latin typeface="Segoe UI"/>
              </a:rPr>
              <a:t>. Entender por qué la eligió es entender el indicador.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1890141"/>
            <a:ext cx="28575" cy="566928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QUIÉN LO PUBLICA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Oficina de Análisis Económico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5687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445687" y="1890141"/>
            <a:ext cx="28575" cy="566928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591991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CUÁNDO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1991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Fin de mes · 08:30 Chile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33007" y="1890141"/>
            <a:ext cx="28575" cy="566928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79311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FRECUENCIA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9311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Mensual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20327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20327" y="1890141"/>
            <a:ext cx="28575" cy="566928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66631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LA META OFICIAL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631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2% anual en la versión subyacente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2694813"/>
            <a:ext cx="5300319" cy="339547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58368" y="2694813"/>
            <a:ext cx="5300319" cy="28575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1248" y="2841117"/>
            <a:ext cx="4934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4C8DFF"/>
                </a:solidFill>
                <a:latin typeface="Segoe UI"/>
              </a:rPr>
              <a:t>QUÉ MIDE, Y EN QUÉ SE DIFERENCIA DEL IPC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133725"/>
            <a:ext cx="4934559" cy="2828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Mide la inflación sobre </a:t>
            </a:r>
            <a:r>
              <a:rPr sz="1200" b="1">
                <a:solidFill>
                  <a:srgbClr val="FFFFFF"/>
                </a:solidFill>
                <a:latin typeface="Segoe UI"/>
              </a:rPr>
              <a:t>lo que la gente efectivamente gastó</a:t>
            </a:r>
            <a:r>
              <a:rPr sz="1200" b="0">
                <a:solidFill>
                  <a:srgbClr val="A9A5B4"/>
                </a:solidFill>
                <a:latin typeface="Segoe UI"/>
              </a:rPr>
              <a:t>, no sobre una canasta fija.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Diferencia 1 — la canasta se adapta:</a:t>
            </a:r>
            <a:r>
              <a:rPr sz="1200" b="0">
                <a:solidFill>
                  <a:srgbClr val="A9A5B4"/>
                </a:solidFill>
                <a:latin typeface="Segoe UI"/>
              </a:rPr>
              <a:t> si la carne sube y la gente se cambia al pollo, el PCE lo registra. El IPC no.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Diferencia 2 — cobertura más amplia:</a:t>
            </a:r>
            <a:r>
              <a:rPr sz="1200" b="0">
                <a:solidFill>
                  <a:srgbClr val="A9A5B4"/>
                </a:solidFill>
                <a:latin typeface="Segoe UI"/>
              </a:rPr>
              <a:t> incluye gasto hecho </a:t>
            </a:r>
            <a:r>
              <a:rPr sz="1200" b="1">
                <a:solidFill>
                  <a:srgbClr val="FFFFFF"/>
                </a:solidFill>
                <a:latin typeface="Segoe UI"/>
              </a:rPr>
              <a:t>por cuenta del consumidor</a:t>
            </a:r>
            <a:r>
              <a:rPr sz="1200" b="0">
                <a:solidFill>
                  <a:srgbClr val="A9A5B4"/>
                </a:solidFill>
                <a:latin typeface="Segoe UI"/>
              </a:rPr>
              <a:t>, como la salud que paga el seguro o el empleador. El IPC solo cuenta lo que sale del bolsillo.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Diferencia 3 — distintos pesos:</a:t>
            </a:r>
            <a:r>
              <a:rPr sz="1200" b="0">
                <a:solidFill>
                  <a:srgbClr val="A9A5B4"/>
                </a:solidFill>
                <a:latin typeface="Segoe UI"/>
              </a:rPr>
              <a:t> la vivienda pesa mucho menos que en el IPC, y la salud mucho más.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Consecuencia práctica: el PCE suele resultar </a:t>
            </a:r>
            <a:r>
              <a:rPr sz="1200" b="1">
                <a:solidFill>
                  <a:srgbClr val="FFFFFF"/>
                </a:solidFill>
                <a:latin typeface="Segoe UI"/>
              </a:rPr>
              <a:t>algo más bajo</a:t>
            </a:r>
            <a:r>
              <a:rPr sz="1200" b="0">
                <a:solidFill>
                  <a:srgbClr val="A9A5B4"/>
                </a:solidFill>
                <a:latin typeface="Segoe UI"/>
              </a:rPr>
              <a:t> que el IPC.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2694813"/>
            <a:ext cx="5300319" cy="339547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33007" y="2694813"/>
            <a:ext cx="5300319" cy="28575"/>
          </a:xfrm>
          <a:prstGeom prst="rect">
            <a:avLst/>
          </a:prstGeom>
          <a:solidFill>
            <a:srgbClr val="A9A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15887" y="2841117"/>
            <a:ext cx="4934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A9A5B4"/>
                </a:solidFill>
                <a:latin typeface="Segoe UI"/>
              </a:rPr>
              <a:t>CÓMO SE LEE SU PUBLICACIÓN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5887" y="3133725"/>
            <a:ext cx="4934559" cy="2828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Mira el subyacente:</a:t>
            </a:r>
            <a:r>
              <a:rPr sz="1200" b="0">
                <a:solidFill>
                  <a:srgbClr val="A9A5B4"/>
                </a:solidFill>
                <a:latin typeface="Segoe UI"/>
              </a:rPr>
              <a:t> es la cifra sobre la que está definida la meta de 2%. Es </a:t>
            </a:r>
            <a:r>
              <a:rPr sz="1200" b="1">
                <a:solidFill>
                  <a:srgbClr val="FFFFFF"/>
                </a:solidFill>
                <a:latin typeface="Segoe UI"/>
              </a:rPr>
              <a:t>el número</a:t>
            </a:r>
            <a:r>
              <a:rPr sz="1200" b="0">
                <a:solidFill>
                  <a:srgbClr val="A9A5B4"/>
                </a:solidFill>
                <a:latin typeface="Segoe UI"/>
              </a:rPr>
              <a:t> de la política monetaria.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Sale después del IPC</a:t>
            </a:r>
            <a:r>
              <a:rPr sz="1200" b="0">
                <a:solidFill>
                  <a:srgbClr val="A9A5B4"/>
                </a:solidFill>
                <a:latin typeface="Segoe UI"/>
              </a:rPr>
              <a:t>, así que el mercado ya lo estimó a partir de aquel. Por eso suele mover menos de lo que su importancia sugeriría.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Cuándo sí mueve fuerte:</a:t>
            </a:r>
            <a:r>
              <a:rPr sz="1200" b="0">
                <a:solidFill>
                  <a:srgbClr val="A9A5B4"/>
                </a:solidFill>
                <a:latin typeface="Segoe UI"/>
              </a:rPr>
              <a:t> cuando </a:t>
            </a:r>
            <a:r>
              <a:rPr sz="1200" b="1">
                <a:solidFill>
                  <a:srgbClr val="FFFFFF"/>
                </a:solidFill>
                <a:latin typeface="Segoe UI"/>
              </a:rPr>
              <a:t>contradice</a:t>
            </a:r>
            <a:r>
              <a:rPr sz="1200" b="0">
                <a:solidFill>
                  <a:srgbClr val="A9A5B4"/>
                </a:solidFill>
                <a:latin typeface="Segoe UI"/>
              </a:rPr>
              <a:t> al IPC. Ahí obliga a recalcular todo el escenario de tasas.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Viene acompañado</a:t>
            </a:r>
            <a:r>
              <a:rPr sz="1200" b="0">
                <a:solidFill>
                  <a:srgbClr val="A9A5B4"/>
                </a:solidFill>
                <a:latin typeface="Segoe UI"/>
              </a:rPr>
              <a:t> del ingreso y del gasto personal: si el gasto crece más que el ingreso, la gente está usando ahorros o deuda — consumo fuerte pero </a:t>
            </a:r>
            <a:r>
              <a:rPr sz="1200" b="1">
                <a:solidFill>
                  <a:srgbClr val="FFFFFF"/>
                </a:solidFill>
                <a:latin typeface="Segoe UI"/>
              </a:rPr>
              <a:t>menos sostenible</a:t>
            </a:r>
            <a:r>
              <a:rPr sz="120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Efecto en precio:</a:t>
            </a:r>
            <a:r>
              <a:rPr sz="1200" b="0">
                <a:solidFill>
                  <a:srgbClr val="A9A5B4"/>
                </a:solidFill>
                <a:latin typeface="Segoe UI"/>
              </a:rPr>
              <a:t> idéntica lógica al IPC, y con más autoridad, porque es la vara oficial.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Indicadores EE.UU.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Las tres inflaciones, comparadas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Miden lo mismo en apariencia y responden preguntas distintas. Esta tabla es la que conviene tener a mano.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615821"/>
          <a:ext cx="10874956" cy="17706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7492"/>
                <a:gridCol w="2936238"/>
                <a:gridCol w="2936238"/>
                <a:gridCol w="3044988"/>
              </a:tblGrid>
              <a:tr h="24968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4C8DFF"/>
                          </a:solidFill>
                          <a:latin typeface="Segoe UI"/>
                        </a:rPr>
                        <a:t>IPC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4C8DFF"/>
                          </a:solidFill>
                          <a:latin typeface="Segoe UI"/>
                        </a:rPr>
                        <a:t>IPP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4C8DFF"/>
                          </a:solidFill>
                          <a:latin typeface="Segoe UI"/>
                        </a:rPr>
                        <a:t>PCE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¿Qué precios mide?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Los que paga el consumidor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Los que recibe el productor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Los del consumo efectivamente realizado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¿Canasta?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Fija: siempre la misma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Producción nacional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Se adapta al cambio de hábitos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¿Para qué sirve?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Saber qué siente la gente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Anticipar la inflación futura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Medir contra la meta oficial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¿Quién lo mira más?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La prensa y el público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Los analistas de costos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El banco central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  <a:tr h="43383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¿Cuánto mueve el precio?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Mucho — es el de mayor impacto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Moderado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Mucho, pero ya anticipado por el IPC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58368" y="3587623"/>
            <a:ext cx="10874959" cy="110947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3587623"/>
            <a:ext cx="10874959" cy="2857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1248" y="3733927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CÓMO EXPLICÁRSELO A UN CLIENTE EN UNA FRASE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026535"/>
            <a:ext cx="10509199" cy="542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«El IPC mide lo que subió el supermercado; el IPP, lo que subió la fábrica antes de llegar al supermercado; y el PCE es la medida que el banco central usa para decidir si sube o baja las tasas.»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Indicadores EE.UU.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7513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El informe de empleo: tres mediciones en un solo documento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54836"/>
            <a:ext cx="960120" cy="3175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537716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Sale todo junto el primer viernes del mes, a las 08:30 de Chile. Y sus tres partes </a:t>
            </a:r>
            <a:r>
              <a:rPr sz="1350" b="1">
                <a:solidFill>
                  <a:srgbClr val="4C8DFF"/>
                </a:solidFill>
                <a:latin typeface="Segoe UI"/>
              </a:rPr>
              <a:t>pueden contradecirse entre sí</a:t>
            </a:r>
            <a:r>
              <a:rPr sz="1350" b="0">
                <a:solidFill>
                  <a:srgbClr val="A9A5B4"/>
                </a:solidFill>
                <a:latin typeface="Segoe UI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991487"/>
            <a:ext cx="3454298" cy="301167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991487"/>
            <a:ext cx="3454298" cy="3810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2192655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PARTE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66975"/>
            <a:ext cx="3088538" cy="1988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FFFFFF"/>
                </a:solidFill>
                <a:latin typeface="Segoe UI"/>
              </a:rPr>
              <a:t>Nóminas no agrícolas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57297"/>
            <a:ext cx="3088538" cy="20812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A9A5B4"/>
                </a:solidFill>
                <a:latin typeface="Segoe UI"/>
              </a:rPr>
              <a:t>Cuántos </a:t>
            </a:r>
            <a:r>
              <a:rPr sz="1100" b="1">
                <a:solidFill>
                  <a:srgbClr val="00DC82"/>
                </a:solidFill>
                <a:latin typeface="Segoe UI"/>
              </a:rPr>
              <a:t>puestos de trabajo netos</a:t>
            </a:r>
            <a:r>
              <a:rPr sz="1100" b="0">
                <a:solidFill>
                  <a:srgbClr val="A9A5B4"/>
                </a:solidFill>
                <a:latin typeface="Segoe UI"/>
              </a:rPr>
              <a:t> se crearon el mes pasado.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00" b="0">
                <a:solidFill>
                  <a:srgbClr val="A9A5B4"/>
                </a:solidFill>
                <a:latin typeface="Segoe UI"/>
              </a:rPr>
              <a:t>Sale de una encuesta a </a:t>
            </a:r>
            <a:r>
              <a:rPr sz="1100" b="1">
                <a:solidFill>
                  <a:srgbClr val="00DC82"/>
                </a:solidFill>
                <a:latin typeface="Segoe UI"/>
              </a:rPr>
              <a:t>empresas</a:t>
            </a:r>
            <a:r>
              <a:rPr sz="1100" b="0">
                <a:solidFill>
                  <a:srgbClr val="A9A5B4"/>
                </a:solidFill>
                <a:latin typeface="Segoe UI"/>
              </a:rPr>
              <a:t> (unas 120 mil establecimientos): cuenta puestos, no personas.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00" b="0">
                <a:solidFill>
                  <a:srgbClr val="A9A5B4"/>
                </a:solidFill>
                <a:latin typeface="Segoe UI"/>
              </a:rPr>
              <a:t>Excluye el sector agrícola —muy estacional— y el trabajo por cuenta propia.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00" b="1">
                <a:solidFill>
                  <a:srgbClr val="00DC82"/>
                </a:solidFill>
                <a:latin typeface="Segoe UI"/>
              </a:rPr>
              <a:t>Es la cifra que titula</a:t>
            </a:r>
            <a:r>
              <a:rPr sz="1100" b="0">
                <a:solidFill>
                  <a:srgbClr val="A9A5B4"/>
                </a:solidFill>
                <a:latin typeface="Segoe UI"/>
              </a:rPr>
              <a:t>, y la que más mueve el mercado.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991487"/>
            <a:ext cx="3454298" cy="301167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68698" y="1991487"/>
            <a:ext cx="3454298" cy="3810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51578" y="2192655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PARTE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1578" y="2466975"/>
            <a:ext cx="3088538" cy="1988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FFFFFF"/>
                </a:solidFill>
                <a:latin typeface="Segoe UI"/>
              </a:rPr>
              <a:t>Tasa de desempleo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1578" y="2757297"/>
            <a:ext cx="3088538" cy="20812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A9A5B4"/>
                </a:solidFill>
                <a:latin typeface="Segoe UI"/>
              </a:rPr>
              <a:t>Sale de una encuesta </a:t>
            </a:r>
            <a:r>
              <a:rPr sz="1100" b="1">
                <a:solidFill>
                  <a:srgbClr val="F5A524"/>
                </a:solidFill>
                <a:latin typeface="Segoe UI"/>
              </a:rPr>
              <a:t>distinta</a:t>
            </a:r>
            <a:r>
              <a:rPr sz="1100" b="0">
                <a:solidFill>
                  <a:srgbClr val="A9A5B4"/>
                </a:solidFill>
                <a:latin typeface="Segoe UI"/>
              </a:rPr>
              <a:t>: a </a:t>
            </a:r>
            <a:r>
              <a:rPr sz="1100" b="1">
                <a:solidFill>
                  <a:srgbClr val="F5A524"/>
                </a:solidFill>
                <a:latin typeface="Segoe UI"/>
              </a:rPr>
              <a:t>hogares</a:t>
            </a:r>
            <a:r>
              <a:rPr sz="1100" b="0">
                <a:solidFill>
                  <a:srgbClr val="A9A5B4"/>
                </a:solidFill>
                <a:latin typeface="Segoe UI"/>
              </a:rPr>
              <a:t> (unos 60 mil).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00" b="0">
                <a:solidFill>
                  <a:srgbClr val="A9A5B4"/>
                </a:solidFill>
                <a:latin typeface="Segoe UI"/>
              </a:rPr>
              <a:t>Por eso puede contradecir a las nóminas: son dos muestras diferentes midiendo cosas diferentes.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00" b="0">
                <a:solidFill>
                  <a:srgbClr val="A9A5B4"/>
                </a:solidFill>
                <a:latin typeface="Segoe UI"/>
              </a:rPr>
              <a:t>Cuenta </a:t>
            </a:r>
            <a:r>
              <a:rPr sz="1100" b="1">
                <a:solidFill>
                  <a:srgbClr val="F5A524"/>
                </a:solidFill>
                <a:latin typeface="Segoe UI"/>
              </a:rPr>
              <a:t>personas que buscan trabajo y no encuentran</a:t>
            </a:r>
            <a:r>
              <a:rPr sz="1100" b="0">
                <a:solidFill>
                  <a:srgbClr val="A9A5B4"/>
                </a:solidFill>
                <a:latin typeface="Segoe UI"/>
              </a:rPr>
              <a:t>, como porcentaje de la fuerza laboral.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00" b="0">
                <a:solidFill>
                  <a:srgbClr val="A9A5B4"/>
                </a:solidFill>
                <a:latin typeface="Segoe UI"/>
              </a:rPr>
              <a:t>Tiene una trampa grande, que vemos en la slide siguiente.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9028" y="1991487"/>
            <a:ext cx="3454298" cy="301167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79028" y="1991487"/>
            <a:ext cx="3454298" cy="381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61908" y="2192655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4C8DFF"/>
                </a:solidFill>
                <a:latin typeface="Segoe UI"/>
              </a:rPr>
              <a:t>PARTE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1908" y="2466975"/>
            <a:ext cx="3088538" cy="1988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FFFFFF"/>
                </a:solidFill>
                <a:latin typeface="Segoe UI"/>
              </a:rPr>
              <a:t>Salario promedio por hora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908" y="2757297"/>
            <a:ext cx="3088538" cy="20812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A9A5B4"/>
                </a:solidFill>
                <a:latin typeface="Segoe UI"/>
              </a:rPr>
              <a:t>Cuánto crecieron los sueldos, mensual y anualmente.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00" b="1">
                <a:solidFill>
                  <a:srgbClr val="4C8DFF"/>
                </a:solidFill>
                <a:latin typeface="Segoe UI"/>
              </a:rPr>
              <a:t>Es el puente conceptual hacia la inflación:</a:t>
            </a:r>
            <a:r>
              <a:rPr sz="1100" b="0">
                <a:solidFill>
                  <a:srgbClr val="A9A5B4"/>
                </a:solidFill>
                <a:latin typeface="Segoe UI"/>
              </a:rPr>
              <a:t> si los sueldos suben rápido, las empresas traspasan ese costo a los precios.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00" b="0">
                <a:solidFill>
                  <a:srgbClr val="A9A5B4"/>
                </a:solidFill>
                <a:latin typeface="Segoe UI"/>
              </a:rPr>
              <a:t>El banco central lo vigila de cerca por eso mismo.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00" b="0">
                <a:solidFill>
                  <a:srgbClr val="A9A5B4"/>
                </a:solidFill>
                <a:latin typeface="Segoe UI"/>
              </a:rPr>
              <a:t>Referencia conceptual: un crecimiento en torno a 3%-3,5% anual es </a:t>
            </a:r>
            <a:r>
              <a:rPr sz="1100" b="1">
                <a:solidFill>
                  <a:srgbClr val="4C8DFF"/>
                </a:solidFill>
                <a:latin typeface="Segoe UI"/>
              </a:rPr>
              <a:t>compatible</a:t>
            </a:r>
            <a:r>
              <a:rPr sz="1100" b="0">
                <a:solidFill>
                  <a:srgbClr val="A9A5B4"/>
                </a:solidFill>
                <a:latin typeface="Segoe UI"/>
              </a:rPr>
              <a:t> con una inflación de 2%.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5090160"/>
            <a:ext cx="10874959" cy="110947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58368" y="5090160"/>
            <a:ext cx="10874959" cy="2857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8" y="5236464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POR QUÉ ESTE INFORME MUEVE TANTO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529072"/>
            <a:ext cx="10509199" cy="542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Porque toca </a:t>
            </a:r>
            <a:r>
              <a:rPr sz="1200" b="1">
                <a:solidFill>
                  <a:srgbClr val="FFFFFF"/>
                </a:solidFill>
                <a:latin typeface="Segoe UI"/>
              </a:rPr>
              <a:t>directamente la mitad del mandato</a:t>
            </a:r>
            <a:r>
              <a:rPr sz="1200" b="0">
                <a:solidFill>
                  <a:srgbClr val="A9A5B4"/>
                </a:solidFill>
                <a:latin typeface="Segoe UI"/>
              </a:rPr>
              <a:t> del banco central (el empleo) y, a través de los salarios, también la otra mitad (los precios). Es el único dato del mes que habla de las dos cosas.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Indicadores EE.UU.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Nóminas y desempleo: las dos trampas de lectura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Son los dos errores de interpretación más frecuentes del mercado, y los dos se evitan entendiendo </a:t>
            </a:r>
            <a:r>
              <a:rPr sz="1350" b="1">
                <a:solidFill>
                  <a:srgbClr val="00DC82"/>
                </a:solidFill>
                <a:latin typeface="Segoe UI"/>
              </a:rPr>
              <a:t>cómo se construye</a:t>
            </a:r>
            <a:r>
              <a:rPr sz="1350" b="0">
                <a:solidFill>
                  <a:srgbClr val="A9A5B4"/>
                </a:solidFill>
                <a:latin typeface="Segoe UI"/>
              </a:rPr>
              <a:t> cada cifra.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15821"/>
            <a:ext cx="5309463" cy="336715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615821"/>
            <a:ext cx="5309463" cy="38100"/>
          </a:xfrm>
          <a:prstGeom prst="rect">
            <a:avLst/>
          </a:prstGeom>
          <a:solidFill>
            <a:srgbClr val="E8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1816989"/>
            <a:ext cx="49437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E84040"/>
                </a:solidFill>
                <a:latin typeface="Segoe UI"/>
              </a:rPr>
              <a:t>TRAMPA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91309"/>
            <a:ext cx="4943703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El desempleo puede bajar por mala razón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88489"/>
            <a:ext cx="4943703" cy="24298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La tasa es una </a:t>
            </a:r>
            <a:r>
              <a:rPr sz="1150" b="1">
                <a:solidFill>
                  <a:srgbClr val="E84040"/>
                </a:solidFill>
                <a:latin typeface="Segoe UI"/>
              </a:rPr>
              <a:t>división</a:t>
            </a:r>
            <a:r>
              <a:rPr sz="1150" b="0">
                <a:solidFill>
                  <a:srgbClr val="A9A5B4"/>
                </a:solidFill>
                <a:latin typeface="Segoe UI"/>
              </a:rPr>
              <a:t>: desocupados dividido por </a:t>
            </a:r>
            <a:r>
              <a:rPr sz="1150" b="1">
                <a:solidFill>
                  <a:srgbClr val="E84040"/>
                </a:solidFill>
                <a:latin typeface="Segoe UI"/>
              </a:rPr>
              <a:t>fuerza laboral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Y solo se cuenta en la fuerza laboral a quien </a:t>
            </a:r>
            <a:r>
              <a:rPr sz="1150" b="1">
                <a:solidFill>
                  <a:srgbClr val="E84040"/>
                </a:solidFill>
                <a:latin typeface="Segoe UI"/>
              </a:rPr>
              <a:t>está buscando</a:t>
            </a:r>
            <a:r>
              <a:rPr sz="1150" b="0">
                <a:solidFill>
                  <a:srgbClr val="A9A5B4"/>
                </a:solidFill>
                <a:latin typeface="Segoe UI"/>
              </a:rPr>
              <a:t> trabajo activamente.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Entonces, si alguien se desanima y deja de buscar, </a:t>
            </a:r>
            <a:r>
              <a:rPr sz="1150" b="1">
                <a:solidFill>
                  <a:srgbClr val="E84040"/>
                </a:solidFill>
                <a:latin typeface="Segoe UI"/>
              </a:rPr>
              <a:t>sale del denominador</a:t>
            </a:r>
            <a:r>
              <a:rPr sz="1150" b="0">
                <a:solidFill>
                  <a:srgbClr val="A9A5B4"/>
                </a:solidFill>
                <a:latin typeface="Segoe UI"/>
              </a:rPr>
              <a:t>: la tasa de desempleo </a:t>
            </a:r>
            <a:r>
              <a:rPr sz="1150" b="1">
                <a:solidFill>
                  <a:srgbClr val="E84040"/>
                </a:solidFill>
                <a:latin typeface="Segoe UI"/>
              </a:rPr>
              <a:t>baja</a:t>
            </a:r>
            <a:r>
              <a:rPr sz="1150" b="0">
                <a:solidFill>
                  <a:srgbClr val="A9A5B4"/>
                </a:solidFill>
                <a:latin typeface="Segoe UI"/>
              </a:rPr>
              <a:t> aunque esa persona siga sin trabajo.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E84040"/>
                </a:solidFill>
                <a:latin typeface="Segoe UI"/>
              </a:rPr>
              <a:t>Cómo se resuelve:</a:t>
            </a:r>
            <a:r>
              <a:rPr sz="1150" b="0">
                <a:solidFill>
                  <a:srgbClr val="A9A5B4"/>
                </a:solidFill>
                <a:latin typeface="Segoe UI"/>
              </a:rPr>
              <a:t> mirar siempre la </a:t>
            </a:r>
            <a:r>
              <a:rPr sz="1150" b="1">
                <a:solidFill>
                  <a:srgbClr val="E84040"/>
                </a:solidFill>
                <a:latin typeface="Segoe UI"/>
              </a:rPr>
              <a:t>tasa de participación</a:t>
            </a:r>
            <a:r>
              <a:rPr sz="1150" b="0">
                <a:solidFill>
                  <a:srgbClr val="A9A5B4"/>
                </a:solidFill>
                <a:latin typeface="Segoe UI"/>
              </a:rPr>
              <a:t>. Si el desempleo bajó y la participación también, la mejora es falsa.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Y al revés: si el desempleo sube </a:t>
            </a:r>
            <a:r>
              <a:rPr sz="1150" b="1">
                <a:solidFill>
                  <a:srgbClr val="E84040"/>
                </a:solidFill>
                <a:latin typeface="Segoe UI"/>
              </a:rPr>
              <a:t>porque entró más gente a buscar</a:t>
            </a:r>
            <a:r>
              <a:rPr sz="1150" b="0">
                <a:solidFill>
                  <a:srgbClr val="A9A5B4"/>
                </a:solidFill>
                <a:latin typeface="Segoe UI"/>
              </a:rPr>
              <a:t>, es señal de una economía que </a:t>
            </a:r>
            <a:r>
              <a:rPr sz="1150" b="1">
                <a:solidFill>
                  <a:srgbClr val="E84040"/>
                </a:solidFill>
                <a:latin typeface="Segoe UI"/>
              </a:rPr>
              <a:t>atrae</a:t>
            </a:r>
            <a:r>
              <a:rPr sz="1150" b="0">
                <a:solidFill>
                  <a:srgbClr val="A9A5B4"/>
                </a:solidFill>
                <a:latin typeface="Segoe UI"/>
              </a:rPr>
              <a:t> trabajadores.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3863" y="1615821"/>
            <a:ext cx="5309463" cy="336715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23863" y="1615821"/>
            <a:ext cx="5309463" cy="3810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6743" y="1816989"/>
            <a:ext cx="49437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TRAMPA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6743" y="2091309"/>
            <a:ext cx="4943703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Un empleo muy fuerte puede ser mala noticia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6743" y="2388489"/>
            <a:ext cx="4943703" cy="24298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Contraintuitivo y central: </a:t>
            </a:r>
            <a:r>
              <a:rPr sz="1150" b="1">
                <a:solidFill>
                  <a:srgbClr val="F5A524"/>
                </a:solidFill>
                <a:latin typeface="Segoe UI"/>
              </a:rPr>
              <a:t>«buenas noticias económicas» no siempre son «buenas noticias para el mercado»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Si la economía crea mucho más empleo de lo esperado, sube la presión sobre los sueldos y, con ella, la inflación.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Eso obliga al banco central a </a:t>
            </a:r>
            <a:r>
              <a:rPr sz="1150" b="1">
                <a:solidFill>
                  <a:srgbClr val="F5A524"/>
                </a:solidFill>
                <a:latin typeface="Segoe UI"/>
              </a:rPr>
              <a:t>mantener la tasa alta más tiempo</a:t>
            </a:r>
            <a:r>
              <a:rPr sz="1150" b="0">
                <a:solidFill>
                  <a:srgbClr val="A9A5B4"/>
                </a:solidFill>
                <a:latin typeface="Segoe UI"/>
              </a:rPr>
              <a:t> → el dólar se fortalece y las bolsas caen.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F5A524"/>
                </a:solidFill>
                <a:latin typeface="Segoe UI"/>
              </a:rPr>
              <a:t>Cuándo se invierte esta lógica:</a:t>
            </a:r>
            <a:r>
              <a:rPr sz="1150" b="0">
                <a:solidFill>
                  <a:srgbClr val="A9A5B4"/>
                </a:solidFill>
                <a:latin typeface="Segoe UI"/>
              </a:rPr>
              <a:t> cuando el miedo dominante es la recesión y no la inflación. Ahí un empleo fuerte </a:t>
            </a:r>
            <a:r>
              <a:rPr sz="1150" b="1">
                <a:solidFill>
                  <a:srgbClr val="F5A524"/>
                </a:solidFill>
                <a:latin typeface="Segoe UI"/>
              </a:rPr>
              <a:t>sí</a:t>
            </a:r>
            <a:r>
              <a:rPr sz="1150" b="0">
                <a:solidFill>
                  <a:srgbClr val="A9A5B4"/>
                </a:solidFill>
                <a:latin typeface="Segoe UI"/>
              </a:rPr>
              <a:t> es celebrado por las bolsas.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F5A524"/>
                </a:solidFill>
                <a:latin typeface="Segoe UI"/>
              </a:rPr>
              <a:t>Conclusión:</a:t>
            </a:r>
            <a:r>
              <a:rPr sz="1150" b="0">
                <a:solidFill>
                  <a:srgbClr val="A9A5B4"/>
                </a:solidFill>
                <a:latin typeface="Segoe UI"/>
              </a:rPr>
              <a:t> el signo de la reacción depende de </a:t>
            </a:r>
            <a:r>
              <a:rPr sz="1150" b="1">
                <a:solidFill>
                  <a:srgbClr val="F5A524"/>
                </a:solidFill>
                <a:latin typeface="Segoe UI"/>
              </a:rPr>
              <a:t>qué problema le preocupa hoy al mercado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090160"/>
            <a:ext cx="10874959" cy="110947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58368" y="5090160"/>
            <a:ext cx="10874959" cy="2857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41248" y="5236464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Y LA TERCERA COSA QUE HAY QUE MIRAR SIEMPRE: LAS REVISIONES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529072"/>
            <a:ext cx="10509199" cy="542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Cada informe </a:t>
            </a:r>
            <a:r>
              <a:rPr sz="1200" b="1">
                <a:solidFill>
                  <a:srgbClr val="FFFFFF"/>
                </a:solidFill>
                <a:latin typeface="Segoe UI"/>
              </a:rPr>
              <a:t>corrige los dos meses anteriores</a:t>
            </a:r>
            <a:r>
              <a:rPr sz="1200" b="0">
                <a:solidFill>
                  <a:srgbClr val="A9A5B4"/>
                </a:solidFill>
                <a:latin typeface="Segoe UI"/>
              </a:rPr>
              <a:t>. Una revisión de -100 mil empleos cambia la foto del mercado laboral más que el dato del mes, y muchas veces el mercado reacciona a eso y no al titular.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Indicadores EE.UU.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1">
                <a:solidFill>
                  <a:srgbClr val="4C8DFF"/>
                </a:solidFill>
                <a:latin typeface="Segoe UI"/>
              </a:rPr>
              <a:t>FICHA DEL INDICADOR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Producto interno bruto (PIB)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3490"/>
            <a:ext cx="960120" cy="3175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43637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La medida más completa de una economía… y una de las que menos mueve el precio. Vale la pena entender por qué.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1890141"/>
            <a:ext cx="28575" cy="566928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QUIÉN LO PUBLICA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Oficina de Análisis Económico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5687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445687" y="1890141"/>
            <a:ext cx="28575" cy="566928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591991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CUÁNDO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1991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Fin de mes · 08:30 Chile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33007" y="1890141"/>
            <a:ext cx="28575" cy="566928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79311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FRECUENCIA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9311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Trimestral, en tres estimaciones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20327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20327" y="1890141"/>
            <a:ext cx="28575" cy="566928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66631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UNIDAD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631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Anualizado y desestacionalizado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2694813"/>
            <a:ext cx="5300319" cy="339547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58368" y="2694813"/>
            <a:ext cx="5300319" cy="28575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1248" y="2841117"/>
            <a:ext cx="4934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4C8DFF"/>
                </a:solidFill>
                <a:latin typeface="Segoe UI"/>
              </a:rPr>
              <a:t>QUÉ MIDE Y CÓMO SE COMPONE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133725"/>
            <a:ext cx="4934559" cy="2828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El valor de </a:t>
            </a:r>
            <a:r>
              <a:rPr sz="1200" b="1">
                <a:solidFill>
                  <a:srgbClr val="FFFFFF"/>
                </a:solidFill>
                <a:latin typeface="Segoe UI"/>
              </a:rPr>
              <a:t>todos los bienes y servicios finales</a:t>
            </a:r>
            <a:r>
              <a:rPr sz="1200" b="0">
                <a:solidFill>
                  <a:srgbClr val="A9A5B4"/>
                </a:solidFill>
                <a:latin typeface="Segoe UI"/>
              </a:rPr>
              <a:t> producidos en el país durante el trimestre.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Se compone de cuatro patas: </a:t>
            </a:r>
            <a:r>
              <a:rPr sz="1200" b="1">
                <a:solidFill>
                  <a:srgbClr val="FFFFFF"/>
                </a:solidFill>
                <a:latin typeface="Segoe UI"/>
              </a:rPr>
              <a:t>consumo de los hogares</a:t>
            </a:r>
            <a:r>
              <a:rPr sz="1200" b="0">
                <a:solidFill>
                  <a:srgbClr val="A9A5B4"/>
                </a:solidFill>
                <a:latin typeface="Segoe UI"/>
              </a:rPr>
              <a:t> (alrededor del 70% en EE.UU.), </a:t>
            </a:r>
            <a:r>
              <a:rPr sz="1200" b="1">
                <a:solidFill>
                  <a:srgbClr val="FFFFFF"/>
                </a:solidFill>
                <a:latin typeface="Segoe UI"/>
              </a:rPr>
              <a:t>inversión</a:t>
            </a:r>
            <a:r>
              <a:rPr sz="1200" b="0">
                <a:solidFill>
                  <a:srgbClr val="A9A5B4"/>
                </a:solidFill>
                <a:latin typeface="Segoe UI"/>
              </a:rPr>
              <a:t> de las empresas, </a:t>
            </a:r>
            <a:r>
              <a:rPr sz="1200" b="1">
                <a:solidFill>
                  <a:srgbClr val="FFFFFF"/>
                </a:solidFill>
                <a:latin typeface="Segoe UI"/>
              </a:rPr>
              <a:t>gasto público</a:t>
            </a:r>
            <a:r>
              <a:rPr sz="1200" b="0">
                <a:solidFill>
                  <a:srgbClr val="A9A5B4"/>
                </a:solidFill>
                <a:latin typeface="Segoe UI"/>
              </a:rPr>
              <a:t> y </a:t>
            </a:r>
            <a:r>
              <a:rPr sz="1200" b="1">
                <a:solidFill>
                  <a:srgbClr val="FFFFFF"/>
                </a:solidFill>
                <a:latin typeface="Segoe UI"/>
              </a:rPr>
              <a:t>exportaciones menos importaciones</a:t>
            </a:r>
            <a:r>
              <a:rPr sz="120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Se publica </a:t>
            </a:r>
            <a:r>
              <a:rPr sz="1200" b="1">
                <a:solidFill>
                  <a:srgbClr val="FFFFFF"/>
                </a:solidFill>
                <a:latin typeface="Segoe UI"/>
              </a:rPr>
              <a:t>anualizado</a:t>
            </a:r>
            <a:r>
              <a:rPr sz="1200" b="0">
                <a:solidFill>
                  <a:srgbClr val="A9A5B4"/>
                </a:solidFill>
                <a:latin typeface="Segoe UI"/>
              </a:rPr>
              <a:t>: el trimestre se proyecta como si el ritmo durara doce meses. Un 2,5% trimestral anualizado </a:t>
            </a:r>
            <a:r>
              <a:rPr sz="1200" b="1">
                <a:solidFill>
                  <a:srgbClr val="FFFFFF"/>
                </a:solidFill>
                <a:latin typeface="Segoe UI"/>
              </a:rPr>
              <a:t>no</a:t>
            </a:r>
            <a:r>
              <a:rPr sz="1200" b="0">
                <a:solidFill>
                  <a:srgbClr val="A9A5B4"/>
                </a:solidFill>
                <a:latin typeface="Segoe UI"/>
              </a:rPr>
              <a:t> es un 2,5% anual.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Dónde está la calidad del dato:</a:t>
            </a:r>
            <a:r>
              <a:rPr sz="1200" b="0">
                <a:solidFill>
                  <a:srgbClr val="A9A5B4"/>
                </a:solidFill>
                <a:latin typeface="Segoe UI"/>
              </a:rPr>
              <a:t> en la composición. Un PIB que crece por </a:t>
            </a:r>
            <a:r>
              <a:rPr sz="1200" b="1">
                <a:solidFill>
                  <a:srgbClr val="FFFFFF"/>
                </a:solidFill>
                <a:latin typeface="Segoe UI"/>
              </a:rPr>
              <a:t>consumo</a:t>
            </a:r>
            <a:r>
              <a:rPr sz="1200" b="0">
                <a:solidFill>
                  <a:srgbClr val="A9A5B4"/>
                </a:solidFill>
                <a:latin typeface="Segoe UI"/>
              </a:rPr>
              <a:t> es sólido; uno que crece por </a:t>
            </a:r>
            <a:r>
              <a:rPr sz="1200" b="1">
                <a:solidFill>
                  <a:srgbClr val="FFFFFF"/>
                </a:solidFill>
                <a:latin typeface="Segoe UI"/>
              </a:rPr>
              <a:t>acumulación de inventarios</a:t>
            </a:r>
            <a:r>
              <a:rPr sz="1200" b="0">
                <a:solidFill>
                  <a:srgbClr val="A9A5B4"/>
                </a:solidFill>
                <a:latin typeface="Segoe UI"/>
              </a:rPr>
              <a:t> —productos que se fabricaron y no se vendieron— es frágil y suele revertirse el trimestre siguiente.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2694813"/>
            <a:ext cx="5300319" cy="339547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33007" y="2694813"/>
            <a:ext cx="5300319" cy="28575"/>
          </a:xfrm>
          <a:prstGeom prst="rect">
            <a:avLst/>
          </a:prstGeom>
          <a:solidFill>
            <a:srgbClr val="A9A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15887" y="2841117"/>
            <a:ext cx="4934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A9A5B4"/>
                </a:solidFill>
                <a:latin typeface="Segoe UI"/>
              </a:rPr>
              <a:t>CÓMO SE LEE, Y POR QUÉ MUEVE POCO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5887" y="3133725"/>
            <a:ext cx="4934559" cy="2828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Tres estimaciones del mismo trimestre:</a:t>
            </a:r>
            <a:r>
              <a:rPr sz="1200" b="0">
                <a:solidFill>
                  <a:srgbClr val="A9A5B4"/>
                </a:solidFill>
                <a:latin typeface="Segoe UI"/>
              </a:rPr>
              <a:t> la </a:t>
            </a:r>
            <a:r>
              <a:rPr sz="1200" b="1">
                <a:solidFill>
                  <a:srgbClr val="FFFFFF"/>
                </a:solidFill>
                <a:latin typeface="Segoe UI"/>
              </a:rPr>
              <a:t>adelantada</a:t>
            </a:r>
            <a:r>
              <a:rPr sz="1200" b="0">
                <a:solidFill>
                  <a:srgbClr val="A9A5B4"/>
                </a:solidFill>
                <a:latin typeface="Segoe UI"/>
              </a:rPr>
              <a:t> (unos 30 días después del cierre), la </a:t>
            </a:r>
            <a:r>
              <a:rPr sz="1200" b="1">
                <a:solidFill>
                  <a:srgbClr val="FFFFFF"/>
                </a:solidFill>
                <a:latin typeface="Segoe UI"/>
              </a:rPr>
              <a:t>segunda</a:t>
            </a:r>
            <a:r>
              <a:rPr sz="1200" b="0">
                <a:solidFill>
                  <a:srgbClr val="A9A5B4"/>
                </a:solidFill>
                <a:latin typeface="Segoe UI"/>
              </a:rPr>
              <a:t> (60 días) y la </a:t>
            </a:r>
            <a:r>
              <a:rPr sz="1200" b="1">
                <a:solidFill>
                  <a:srgbClr val="FFFFFF"/>
                </a:solidFill>
                <a:latin typeface="Segoe UI"/>
              </a:rPr>
              <a:t>tercera</a:t>
            </a:r>
            <a:r>
              <a:rPr sz="1200" b="0">
                <a:solidFill>
                  <a:srgbClr val="A9A5B4"/>
                </a:solidFill>
                <a:latin typeface="Segoe UI"/>
              </a:rPr>
              <a:t> (90 días).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La que mueve es la adelantada</a:t>
            </a:r>
            <a:r>
              <a:rPr sz="1200" b="0">
                <a:solidFill>
                  <a:srgbClr val="A9A5B4"/>
                </a:solidFill>
                <a:latin typeface="Segoe UI"/>
              </a:rPr>
              <a:t>: es la que trae información nueva. Las otras dos solo ajustan.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Por qué mueve poco en general:</a:t>
            </a:r>
            <a:r>
              <a:rPr sz="1200" b="0">
                <a:solidFill>
                  <a:srgbClr val="A9A5B4"/>
                </a:solidFill>
                <a:latin typeface="Segoe UI"/>
              </a:rPr>
              <a:t> es un dato </a:t>
            </a:r>
            <a:r>
              <a:rPr sz="1200" b="1">
                <a:solidFill>
                  <a:srgbClr val="FFFFFF"/>
                </a:solidFill>
                <a:latin typeface="Segoe UI"/>
              </a:rPr>
              <a:t>muy atrasado</a:t>
            </a:r>
            <a:r>
              <a:rPr sz="1200" b="0">
                <a:solidFill>
                  <a:srgbClr val="A9A5B4"/>
                </a:solidFill>
                <a:latin typeface="Segoe UI"/>
              </a:rPr>
              <a:t>. Cuando se publica, el mercado ya vio tres meses de empleo, inflación y consumo — es decir, ya sabe cómo venía el trimestre.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Para qué sí sirve:</a:t>
            </a:r>
            <a:r>
              <a:rPr sz="1200" b="0">
                <a:solidFill>
                  <a:srgbClr val="A9A5B4"/>
                </a:solidFill>
                <a:latin typeface="Segoe UI"/>
              </a:rPr>
              <a:t> para </a:t>
            </a:r>
            <a:r>
              <a:rPr sz="1200" b="1">
                <a:solidFill>
                  <a:srgbClr val="FFFFFF"/>
                </a:solidFill>
                <a:latin typeface="Segoe UI"/>
              </a:rPr>
              <a:t>fijar el relato</a:t>
            </a:r>
            <a:r>
              <a:rPr sz="1200" b="0">
                <a:solidFill>
                  <a:srgbClr val="A9A5B4"/>
                </a:solidFill>
                <a:latin typeface="Segoe UI"/>
              </a:rPr>
              <a:t>. Dos trimestres negativos consecutivos activan la conversación de recesión, y eso sí cambia el escenario de tasas.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Efecto en precio:</a:t>
            </a:r>
            <a:r>
              <a:rPr sz="1200" b="0">
                <a:solidFill>
                  <a:srgbClr val="A9A5B4"/>
                </a:solidFill>
                <a:latin typeface="Segoe UI"/>
              </a:rPr>
              <a:t> PIB sobre lo esperado → dólar arriba, bolsas usualmente arriba (mejores ganancias), oro abajo.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Indicadores EE.UU.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1">
                <a:solidFill>
                  <a:srgbClr val="4C8DFF"/>
                </a:solidFill>
                <a:latin typeface="Segoe UI"/>
              </a:rPr>
              <a:t>FICHA DEL INDICADOR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ISM y PMI: los índices de gerentes de compra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3490"/>
            <a:ext cx="960120" cy="3175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43637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Los adelantados más importantes. Ya sabes leerlos: se interpretan con la línea de los 50 que vimos en el bloque de fundamentos.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1890141"/>
            <a:ext cx="28575" cy="566928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ISM MANUFACTURERO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Día hábil 1 · 10:00 Chile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5687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445687" y="1890141"/>
            <a:ext cx="28575" cy="566928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591991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ISM DE SERVICIOS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1991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Día hábil 3 · 10:00 Chile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33007" y="1890141"/>
            <a:ext cx="28575" cy="566928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79311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PMI DE S&amp;P GLOBAL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9311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Adelanto a mitad de mes · 09:45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20327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20327" y="1890141"/>
            <a:ext cx="28575" cy="566928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66631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FRONTERA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631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50 = expansión / contracción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2694813"/>
            <a:ext cx="5300319" cy="299923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58368" y="2694813"/>
            <a:ext cx="5300319" cy="28575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1248" y="2841117"/>
            <a:ext cx="4934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4C8DFF"/>
                </a:solidFill>
                <a:latin typeface="Segoe UI"/>
              </a:rPr>
              <a:t>QUÉ MIDEN Y POR QUÉ HAY DOS FAMILIAS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133725"/>
            <a:ext cx="4934559" cy="2432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Ambos preguntan a </a:t>
            </a:r>
            <a:r>
              <a:rPr sz="1200" b="1">
                <a:solidFill>
                  <a:srgbClr val="FFFFFF"/>
                </a:solidFill>
                <a:latin typeface="Segoe UI"/>
              </a:rPr>
              <a:t>gerentes de compra</a:t>
            </a:r>
            <a:r>
              <a:rPr sz="1200" b="0">
                <a:solidFill>
                  <a:srgbClr val="A9A5B4"/>
                </a:solidFill>
                <a:latin typeface="Segoe UI"/>
              </a:rPr>
              <a:t> —las personas que deciden cuántos insumos comprar— si su actividad mejora o empeora.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Por qué a ellos:</a:t>
            </a:r>
            <a:r>
              <a:rPr sz="1200" b="0">
                <a:solidFill>
                  <a:srgbClr val="A9A5B4"/>
                </a:solidFill>
                <a:latin typeface="Segoe UI"/>
              </a:rPr>
              <a:t> quien compra insumos hoy sabe qué va a producir en tres meses. Es información </a:t>
            </a:r>
            <a:r>
              <a:rPr sz="1200" b="1">
                <a:solidFill>
                  <a:srgbClr val="FFFFFF"/>
                </a:solidFill>
                <a:latin typeface="Segoe UI"/>
              </a:rPr>
              <a:t>del futuro</a:t>
            </a:r>
            <a:r>
              <a:rPr sz="120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El </a:t>
            </a:r>
            <a:r>
              <a:rPr sz="1200" b="1">
                <a:solidFill>
                  <a:srgbClr val="FFFFFF"/>
                </a:solidFill>
                <a:latin typeface="Segoe UI"/>
              </a:rPr>
              <a:t>ISM</a:t>
            </a:r>
            <a:r>
              <a:rPr sz="1200" b="0">
                <a:solidFill>
                  <a:srgbClr val="A9A5B4"/>
                </a:solidFill>
                <a:latin typeface="Segoe UI"/>
              </a:rPr>
              <a:t> lo publica el Instituto de Gestión de Suministros; el </a:t>
            </a:r>
            <a:r>
              <a:rPr sz="1200" b="1">
                <a:solidFill>
                  <a:srgbClr val="FFFFFF"/>
                </a:solidFill>
                <a:latin typeface="Segoe UI"/>
              </a:rPr>
              <a:t>PMI</a:t>
            </a:r>
            <a:r>
              <a:rPr sz="1200" b="0">
                <a:solidFill>
                  <a:srgbClr val="A9A5B4"/>
                </a:solidFill>
                <a:latin typeface="Segoe UI"/>
              </a:rPr>
              <a:t> lo publica S&amp;P Global. Miden lo mismo con muestras y metodologías distintas, así que pueden diferir.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El de servicios pesa más que el manufacturero</a:t>
            </a:r>
            <a:r>
              <a:rPr sz="1200" b="0">
                <a:solidFill>
                  <a:srgbClr val="A9A5B4"/>
                </a:solidFill>
                <a:latin typeface="Segoe UI"/>
              </a:rPr>
              <a:t>: los servicios son cerca del 70% de la economía de EE.UU. Un error frecuente es darle más peso a la manufactura porque suena más «económica».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2694813"/>
            <a:ext cx="5300319" cy="299923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33007" y="2694813"/>
            <a:ext cx="5300319" cy="28575"/>
          </a:xfrm>
          <a:prstGeom prst="rect">
            <a:avLst/>
          </a:prstGeom>
          <a:solidFill>
            <a:srgbClr val="A9A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15887" y="2841117"/>
            <a:ext cx="4934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A9A5B4"/>
                </a:solidFill>
                <a:latin typeface="Segoe UI"/>
              </a:rPr>
              <a:t>QUÉ MIRAR DENTRO DEL ÍNDICE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5887" y="3133725"/>
            <a:ext cx="4934559" cy="2432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El titular es un promedio de sub-índices, y </a:t>
            </a:r>
            <a:r>
              <a:rPr sz="1200" b="1">
                <a:solidFill>
                  <a:srgbClr val="FFFFFF"/>
                </a:solidFill>
                <a:latin typeface="Segoe UI"/>
              </a:rPr>
              <a:t>los sub-índices dicen más que el titular</a:t>
            </a:r>
            <a:r>
              <a:rPr sz="120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Nuevos pedidos:</a:t>
            </a:r>
            <a:r>
              <a:rPr sz="1200" b="0">
                <a:solidFill>
                  <a:srgbClr val="A9A5B4"/>
                </a:solidFill>
                <a:latin typeface="Segoe UI"/>
              </a:rPr>
              <a:t> el más adelantado de todos. Es la demanda que viene.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Empleo:</a:t>
            </a:r>
            <a:r>
              <a:rPr sz="1200" b="0">
                <a:solidFill>
                  <a:srgbClr val="A9A5B4"/>
                </a:solidFill>
                <a:latin typeface="Segoe UI"/>
              </a:rPr>
              <a:t> anticipa las nóminas del mes.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Precios pagados:</a:t>
            </a:r>
            <a:r>
              <a:rPr sz="1200" b="0">
                <a:solidFill>
                  <a:srgbClr val="A9A5B4"/>
                </a:solidFill>
                <a:latin typeface="Segoe UI"/>
              </a:rPr>
              <a:t> anticipa la inflación de costos. Cuando este sube fuerte, es un aviso temprano de IPP e IPC.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Efecto en precio:</a:t>
            </a:r>
            <a:r>
              <a:rPr sz="1200" b="0">
                <a:solidFill>
                  <a:srgbClr val="A9A5B4"/>
                </a:solidFill>
                <a:latin typeface="Segoe UI"/>
              </a:rPr>
              <a:t> un ISM de servicios sobre lo esperado fortalece el dólar (economía sólida → tasa alta sostenida) y presiona al oro. Si el sub-índice de precios sube fuerte, el efecto se amplifica.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Indicadores EE.UU.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7513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Consumo y empleo semanal: dos termómetros de frecuencia distinta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54836"/>
            <a:ext cx="960120" cy="3175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537716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Uno mide dónde se juega el 70% de la economía. El otro es el dato macro más frecuente que existe.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991487"/>
            <a:ext cx="5309463" cy="336715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991487"/>
            <a:ext cx="5309463" cy="3810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2192655"/>
            <a:ext cx="49437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MITAD DE MES · 08:30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66975"/>
            <a:ext cx="4943703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Ventas minoristas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64155"/>
            <a:ext cx="4943703" cy="24298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Cuánto vendió el comercio: el termómetro directo del consumo.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00DC82"/>
                </a:solidFill>
                <a:latin typeface="Segoe UI"/>
              </a:rPr>
              <a:t>Por qué importa tanto:</a:t>
            </a:r>
            <a:r>
              <a:rPr sz="1150" b="0">
                <a:solidFill>
                  <a:srgbClr val="A9A5B4"/>
                </a:solidFill>
                <a:latin typeface="Segoe UI"/>
              </a:rPr>
              <a:t> el consumo es cerca del 70% del PIB de EE.UU. Mientras el consumo aguante, no hay recesión.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00DC82"/>
                </a:solidFill>
                <a:latin typeface="Segoe UI"/>
              </a:rPr>
              <a:t>Qué mirar de verdad:</a:t>
            </a:r>
            <a:r>
              <a:rPr sz="1150" b="0">
                <a:solidFill>
                  <a:srgbClr val="A9A5B4"/>
                </a:solidFill>
                <a:latin typeface="Segoe UI"/>
              </a:rPr>
              <a:t> el </a:t>
            </a:r>
            <a:r>
              <a:rPr sz="1150" b="1">
                <a:solidFill>
                  <a:srgbClr val="00DC82"/>
                </a:solidFill>
                <a:latin typeface="Segoe UI"/>
              </a:rPr>
              <a:t>grupo de control</a:t>
            </a:r>
            <a:r>
              <a:rPr sz="1150" b="0">
                <a:solidFill>
                  <a:srgbClr val="A9A5B4"/>
                </a:solidFill>
                <a:latin typeface="Segoe UI"/>
              </a:rPr>
              <a:t>, que excluye autos, bencina, materiales de construcción y comida fuera del hogar.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00DC82"/>
                </a:solidFill>
                <a:latin typeface="Segoe UI"/>
              </a:rPr>
              <a:t>Por qué ese y no el titular:</a:t>
            </a:r>
            <a:r>
              <a:rPr sz="1150" b="0">
                <a:solidFill>
                  <a:srgbClr val="A9A5B4"/>
                </a:solidFill>
                <a:latin typeface="Segoe UI"/>
              </a:rPr>
              <a:t> los excluidos son muy volátiles —el precio de la bencina distorsiona todo— y el grupo de control es el que alimenta el cálculo del PIB.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00DC82"/>
                </a:solidFill>
                <a:latin typeface="Segoe UI"/>
              </a:rPr>
              <a:t>Se publica en pesos, no en unidades:</a:t>
            </a:r>
            <a:r>
              <a:rPr sz="1150" b="0">
                <a:solidFill>
                  <a:srgbClr val="A9A5B4"/>
                </a:solidFill>
                <a:latin typeface="Segoe UI"/>
              </a:rPr>
              <a:t> si los precios subieron, las ventas pueden crecer sin que se venda más. Hay que cruzarlo con la inflación.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3863" y="1991487"/>
            <a:ext cx="5309463" cy="336715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23863" y="1991487"/>
            <a:ext cx="5309463" cy="3810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6743" y="2192655"/>
            <a:ext cx="49437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TODOS LOS JUEVES · 08:30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6743" y="2466975"/>
            <a:ext cx="4943703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Peticiones de subsidio por desempleo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6743" y="2764155"/>
            <a:ext cx="4943703" cy="24298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Cuántas personas pidieron seguro de cesantía </a:t>
            </a:r>
            <a:r>
              <a:rPr sz="1150" b="1">
                <a:solidFill>
                  <a:srgbClr val="F5A524"/>
                </a:solidFill>
                <a:latin typeface="Segoe UI"/>
              </a:rPr>
              <a:t>esa semana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F5A524"/>
                </a:solidFill>
                <a:latin typeface="Segoe UI"/>
              </a:rPr>
              <a:t>Su virtud es la frecuencia:</a:t>
            </a:r>
            <a:r>
              <a:rPr sz="1150" b="0">
                <a:solidFill>
                  <a:srgbClr val="A9A5B4"/>
                </a:solidFill>
                <a:latin typeface="Segoe UI"/>
              </a:rPr>
              <a:t> es el único dato macro relevante que sale cada semana. Detecta un giro antes que cualquier otro.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F5A524"/>
                </a:solidFill>
                <a:latin typeface="Segoe UI"/>
              </a:rPr>
              <a:t>Cómo se lee:</a:t>
            </a:r>
            <a:r>
              <a:rPr sz="1150" b="0">
                <a:solidFill>
                  <a:srgbClr val="A9A5B4"/>
                </a:solidFill>
                <a:latin typeface="Segoe UI"/>
              </a:rPr>
              <a:t> nunca la semana suelta —es muy ruidosa— sino el </a:t>
            </a:r>
            <a:r>
              <a:rPr sz="1150" b="1">
                <a:solidFill>
                  <a:srgbClr val="F5A524"/>
                </a:solidFill>
                <a:latin typeface="Segoe UI"/>
              </a:rPr>
              <a:t>promedio de cuatro semanas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F5A524"/>
                </a:solidFill>
                <a:latin typeface="Segoe UI"/>
              </a:rPr>
              <a:t>Referencias conceptuales:</a:t>
            </a:r>
            <a:r>
              <a:rPr sz="1150" b="0">
                <a:solidFill>
                  <a:srgbClr val="A9A5B4"/>
                </a:solidFill>
                <a:latin typeface="Segoe UI"/>
              </a:rPr>
              <a:t> bajo unas 250 mil indica un mercado laboral sano; sostenidamente sobre 300 mil indica deterioro real.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F5A524"/>
                </a:solidFill>
                <a:latin typeface="Segoe UI"/>
              </a:rPr>
              <a:t>Ojo con feriados y estacionalidad:</a:t>
            </a:r>
            <a:r>
              <a:rPr sz="1150" b="0">
                <a:solidFill>
                  <a:srgbClr val="A9A5B4"/>
                </a:solidFill>
                <a:latin typeface="Segoe UI"/>
              </a:rPr>
              <a:t> semanas cortas o cierres de planta distorsionan el dato puntual.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Indicadores EE.UU.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Los complementarios: qué aportan y qué no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43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No mueven el mercado por sí solos, pero </a:t>
            </a:r>
            <a:r>
              <a:rPr sz="1350" b="1">
                <a:solidFill>
                  <a:srgbClr val="4C8DFF"/>
                </a:solidFill>
                <a:latin typeface="Segoe UI"/>
              </a:rPr>
              <a:t>completan el cuadro</a:t>
            </a:r>
            <a:r>
              <a:rPr sz="1350" b="0">
                <a:solidFill>
                  <a:srgbClr val="A9A5B4"/>
                </a:solidFill>
                <a:latin typeface="Segoe UI"/>
              </a:rPr>
              <a:t>. Conocerlos te permite explicar por qué el mercado se movió sin un dato grande.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831848"/>
          <a:ext cx="10874958" cy="24711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9990"/>
                <a:gridCol w="3697486"/>
                <a:gridCol w="4567482"/>
              </a:tblGrid>
              <a:tr h="24968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4C8DFF"/>
                          </a:solidFill>
                          <a:latin typeface="Segoe UI"/>
                        </a:rPr>
                        <a:t>INDICADOR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4C8DFF"/>
                          </a:solidFill>
                          <a:latin typeface="Segoe UI"/>
                        </a:rPr>
                        <a:t>QUÉ MIDE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4C8DFF"/>
                          </a:solidFill>
                          <a:latin typeface="Segoe UI"/>
                        </a:rPr>
                        <a:t>CÓMO SE INTERPRETA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</a:tr>
              <a:tr h="595884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Vacantes de empleo
(JOLTS)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Cuántos puestos están abiertos sin llenar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Mide la </a:t>
                      </a: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demanda</a:t>
                      </a: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 de trabajo. El banco central mira cuántas vacantes hay por cada desocupado: si sobran vacantes, hay presión sobre los sueldos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43383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Empleo privado ADP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Empleo del sector privado, según una procesadora de nóminas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Sale dos días antes que el informe oficial, pero </a:t>
                      </a: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su correlación mes a mes es baja</a:t>
                      </a: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. Sirve de referencia, no de pronóstico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  <a:tr h="595884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Confianza del
consumidor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Cómo ve su situación y su futuro el consumidor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Su valor está en el sub-índice de </a:t>
                      </a: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expectativas de inflación</a:t>
                      </a: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: si la gente espera más inflación, la exige en sueldos y se vuelve profecía autocumplida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595884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Pedidos de bienes
durables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Pedidos de productos que duran años (maquinaria, autos)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Mide </a:t>
                      </a: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inversión empresarial</a:t>
                      </a: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: si las empresas piden maquinaria, esperan vender. Muy volátil por los pedidos de aviones: mírese sin transporte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Indicadores EE.UU.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Jerarquía: cuáles pesan más, y por qué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La pregunta de Hari. La respuesta corta: </a:t>
            </a:r>
            <a:r>
              <a:rPr sz="1350" b="1">
                <a:solidFill>
                  <a:srgbClr val="00DC82"/>
                </a:solidFill>
                <a:latin typeface="Segoe UI"/>
              </a:rPr>
              <a:t>el peso no es fijo</a:t>
            </a:r>
            <a:r>
              <a:rPr sz="1350" b="0">
                <a:solidFill>
                  <a:srgbClr val="A9A5B4"/>
                </a:solidFill>
                <a:latin typeface="Segoe UI"/>
              </a:rPr>
              <a:t>. Depende de qué problema le preocupa al mercado en ese momento.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615821"/>
          <a:ext cx="10874957" cy="19850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2490"/>
                <a:gridCol w="4349983"/>
                <a:gridCol w="4132484"/>
              </a:tblGrid>
              <a:tr h="24968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00DC82"/>
                          </a:solidFill>
                          <a:latin typeface="Segoe UI"/>
                        </a:rPr>
                        <a:t>NIVEL DE IMPACTO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00DC82"/>
                          </a:solidFill>
                          <a:latin typeface="Segoe UI"/>
                        </a:rPr>
                        <a:t>INDICADORES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00DC82"/>
                          </a:solidFill>
                          <a:latin typeface="Segoe UI"/>
                        </a:rPr>
                        <a:t>RAZÓN DE SU PESO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</a:tr>
              <a:tr h="43383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Máximo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Decisión de tasas y su comunicado · IPC · Informe de empleo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Definen o determinan directamente la tasa de interés, que es el precio del dinero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43383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Alto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PCE subyacente · ISM de servicios · Ventas minoristas (grupo de control)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Son la vara oficial de la meta, el adelanto del sector más grande y el pulso del consumo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  <a:tr h="43383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Medio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PIB (primera estimación) · IPP · ISM manufacturero · Peticiones de subsidio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Confirman o anticipan, pero no cambian el escenario por sí solos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43383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Bajo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ADP · confianza · bienes durables · índices regionales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Aportan matices; mueven solo si sorprenden de forma extraordinaria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58368" y="3801999"/>
            <a:ext cx="10874959" cy="110947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3801999"/>
            <a:ext cx="10874959" cy="2857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1248" y="3948303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LA REGLA QUE HAY QUE LLEVARSE: MANDA EL RÉGIMEN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240911"/>
            <a:ext cx="10509199" cy="542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Cuando el problema del mercado es </a:t>
            </a:r>
            <a:r>
              <a:rPr sz="1200" b="1">
                <a:solidFill>
                  <a:srgbClr val="FFFFFF"/>
                </a:solidFill>
                <a:latin typeface="Segoe UI"/>
              </a:rPr>
              <a:t>la inflación</a:t>
            </a:r>
            <a:r>
              <a:rPr sz="1200" b="0">
                <a:solidFill>
                  <a:srgbClr val="A9A5B4"/>
                </a:solidFill>
                <a:latin typeface="Segoe UI"/>
              </a:rPr>
              <a:t>, el IPC manda y un empleo fuerte se lee como amenaza. Cuando el problema es </a:t>
            </a:r>
            <a:r>
              <a:rPr sz="1200" b="1">
                <a:solidFill>
                  <a:srgbClr val="FFFFFF"/>
                </a:solidFill>
                <a:latin typeface="Segoe UI"/>
              </a:rPr>
              <a:t>la recesión</a:t>
            </a:r>
            <a:r>
              <a:rPr sz="1200" b="0">
                <a:solidFill>
                  <a:srgbClr val="A9A5B4"/>
                </a:solidFill>
                <a:latin typeface="Segoe UI"/>
              </a:rPr>
              <a:t>, el empleo manda y un empleo fuerte se celebra. </a:t>
            </a:r>
            <a:r>
              <a:rPr sz="1200" b="1">
                <a:solidFill>
                  <a:srgbClr val="FFFFFF"/>
                </a:solidFill>
                <a:latin typeface="Segoe UI"/>
              </a:rPr>
              <a:t>Antes de interpretar un dato, define qué le preocupa hoy al mercado.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Indicadores EE.UU.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Cuando los datos se contradicen: cómo se resuelve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La otra pregunta de Hari. Los resultados mixtos son </a:t>
            </a:r>
            <a:r>
              <a:rPr sz="1350" b="1">
                <a:solidFill>
                  <a:srgbClr val="F5A524"/>
                </a:solidFill>
                <a:latin typeface="Segoe UI"/>
              </a:rPr>
              <a:t>la norma</a:t>
            </a:r>
            <a:r>
              <a:rPr sz="1350" b="0">
                <a:solidFill>
                  <a:srgbClr val="A9A5B4"/>
                </a:solidFill>
                <a:latin typeface="Segoe UI"/>
              </a:rPr>
              <a:t>, no la excepción, y hay reglas de prioridad para leerlos.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79829"/>
            <a:ext cx="22225" cy="173736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615821"/>
            <a:ext cx="1071036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Regla 1 · El subyacente manda sobre el 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52295"/>
            <a:ext cx="1071036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Porque el general lo mueven energía y alimentos, que la tasa de interés </a:t>
            </a:r>
            <a:r>
              <a:rPr sz="1250" b="1">
                <a:solidFill>
                  <a:srgbClr val="F5A524"/>
                </a:solidFill>
                <a:latin typeface="Segoe UI"/>
              </a:rPr>
              <a:t>no puede controlar</a:t>
            </a:r>
            <a:r>
              <a:rPr sz="1250" b="0">
                <a:solidFill>
                  <a:srgbClr val="A9A5B4"/>
                </a:solidFill>
                <a:latin typeface="Segoe UI"/>
              </a:rPr>
              <a:t>. Si el general sorprende y el subyacente no, el movimiento suele revertirse.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469007"/>
            <a:ext cx="22225" cy="173736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2404999"/>
            <a:ext cx="1071036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Regla 2 · Lo mensual manda sobre lo anual en el corto plazo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41473"/>
            <a:ext cx="10710367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Porque la cifra anual arrastra el efecto base, que ya era conocido. Lo mensual es lo </a:t>
            </a:r>
            <a:r>
              <a:rPr sz="1250" b="1">
                <a:solidFill>
                  <a:srgbClr val="F5A524"/>
                </a:solidFill>
                <a:latin typeface="Segoe UI"/>
              </a:rPr>
              <a:t>nuevo</a:t>
            </a:r>
            <a:r>
              <a:rPr sz="1250" b="0">
                <a:solidFill>
                  <a:srgbClr val="A9A5B4"/>
                </a:solidFill>
                <a:latin typeface="Segoe U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054985"/>
            <a:ext cx="22225" cy="173736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2990977"/>
            <a:ext cx="1071036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Regla 3 · Manda el dato que habla del problema del momento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27451"/>
            <a:ext cx="1071036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Es la regla del régimen. En un mercado preocupado por la inflación, un empleo fuerte con salarios contenidos se lee </a:t>
            </a:r>
            <a:r>
              <a:rPr sz="1250" b="1">
                <a:solidFill>
                  <a:srgbClr val="F5A524"/>
                </a:solidFill>
                <a:latin typeface="Segoe UI"/>
              </a:rPr>
              <a:t>bien</a:t>
            </a:r>
            <a:r>
              <a:rPr sz="1250" b="0">
                <a:solidFill>
                  <a:srgbClr val="A9A5B4"/>
                </a:solidFill>
                <a:latin typeface="Segoe UI"/>
              </a:rPr>
              <a:t>; con salarios al alza, se lee </a:t>
            </a:r>
            <a:r>
              <a:rPr sz="1250" b="1">
                <a:solidFill>
                  <a:srgbClr val="F5A524"/>
                </a:solidFill>
                <a:latin typeface="Segoe UI"/>
              </a:rPr>
              <a:t>mal</a:t>
            </a:r>
            <a:r>
              <a:rPr sz="1250" b="0">
                <a:solidFill>
                  <a:srgbClr val="A9A5B4"/>
                </a:solidFill>
                <a:latin typeface="Segoe UI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844163"/>
            <a:ext cx="22225" cy="173736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" y="3780155"/>
            <a:ext cx="1071036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Regla 4 · Si dos partes del mismo informe se contradicen, no operes el primer minuto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16629"/>
            <a:ext cx="1071036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El mercado reacciona primero al titular y después al detalle. Es el patrón </a:t>
            </a:r>
            <a:r>
              <a:rPr sz="1250" b="1">
                <a:solidFill>
                  <a:srgbClr val="F5A524"/>
                </a:solidFill>
                <a:latin typeface="Segoe UI"/>
              </a:rPr>
              <a:t>reacción y reversión</a:t>
            </a:r>
            <a:r>
              <a:rPr sz="1250" b="0">
                <a:solidFill>
                  <a:srgbClr val="A9A5B4"/>
                </a:solidFill>
                <a:latin typeface="Segoe UI"/>
              </a:rPr>
              <a:t>: es donde más pierde quien opera por reflejo.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733925"/>
            <a:ext cx="10874959" cy="1332357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58368" y="4733925"/>
            <a:ext cx="10874959" cy="2857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1248" y="4880229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CÓMO SE VE ESTO EN LA PRÁCTICA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172837"/>
            <a:ext cx="10509199" cy="7654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Nóminas muy sobre lo esperado, pero desempleo que </a:t>
            </a:r>
            <a:r>
              <a:rPr sz="1250" b="1">
                <a:solidFill>
                  <a:srgbClr val="FFFFFF"/>
                </a:solidFill>
                <a:latin typeface="Segoe UI"/>
              </a:rPr>
              <a:t>sube</a:t>
            </a:r>
            <a:r>
              <a:rPr sz="1250" b="0">
                <a:solidFill>
                  <a:srgbClr val="A9A5B4"/>
                </a:solidFill>
                <a:latin typeface="Segoe UI"/>
              </a:rPr>
              <a:t> y salarios </a:t>
            </a:r>
            <a:r>
              <a:rPr sz="1250" b="1">
                <a:solidFill>
                  <a:srgbClr val="FFFFFF"/>
                </a:solidFill>
                <a:latin typeface="Segoe UI"/>
              </a:rPr>
              <a:t>en línea</a:t>
            </a:r>
            <a:r>
              <a:rPr sz="1250" b="0">
                <a:solidFill>
                  <a:srgbClr val="A9A5B4"/>
                </a:solidFill>
                <a:latin typeface="Segoe UI"/>
              </a:rPr>
              <a:t>. Parece contradictorio y no lo es: entró más gente a buscar trabajo. Es </a:t>
            </a:r>
            <a:r>
              <a:rPr sz="1250" b="1">
                <a:solidFill>
                  <a:srgbClr val="FFFFFF"/>
                </a:solidFill>
                <a:latin typeface="Segoe UI"/>
              </a:rPr>
              <a:t>crecimiento sin presión inflacionaria</a:t>
            </a:r>
            <a:r>
              <a:rPr sz="1250" b="0">
                <a:solidFill>
                  <a:srgbClr val="A9A5B4"/>
                </a:solidFill>
                <a:latin typeface="Segoe UI"/>
              </a:rPr>
              <a:t> — el mejor escenario posible. El titular dice «economía recalentada»; el detalle dice lo contrario, y </a:t>
            </a:r>
            <a:r>
              <a:rPr sz="1250" b="1">
                <a:solidFill>
                  <a:srgbClr val="FFFFFF"/>
                </a:solidFill>
                <a:latin typeface="Segoe UI"/>
              </a:rPr>
              <a:t>el detalle tiene razón</a:t>
            </a:r>
            <a:r>
              <a:rPr sz="1250" b="0">
                <a:solidFill>
                  <a:srgbClr val="A9A5B4"/>
                </a:solidFill>
                <a:latin typeface="Segoe UI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Indicadores EE.UU.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1965960"/>
            <a:ext cx="1828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F5A524"/>
                </a:solidFill>
                <a:latin typeface="Consolas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95728" y="214884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Indicadores de Chile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1448" y="3246120"/>
            <a:ext cx="7863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450" b="0">
                <a:solidFill>
                  <a:srgbClr val="A9A5B4"/>
                </a:solidFill>
                <a:latin typeface="Segoe UI"/>
              </a:rPr>
              <a:t>El dólar en Chile tiene </a:t>
            </a:r>
            <a:r>
              <a:rPr sz="1450" b="1">
                <a:solidFill>
                  <a:srgbClr val="F5A524"/>
                </a:solidFill>
                <a:latin typeface="Segoe UI"/>
              </a:rPr>
              <a:t>dos motores</a:t>
            </a:r>
            <a:r>
              <a:rPr sz="1450" b="0">
                <a:solidFill>
                  <a:srgbClr val="A9A5B4"/>
                </a:solidFill>
                <a:latin typeface="Segoe UI"/>
              </a:rPr>
              <a:t>: lo que pasa con el dólar en el mundo y lo que pasa acá. Este bloque cubre el segundo.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Quién publica qué en Chile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Dos instituciones concentran todo. Conocer el reparto evita buscar en la fuente equivocada.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615821"/>
          <a:ext cx="10874958" cy="2528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63255"/>
                <a:gridCol w="2441317"/>
                <a:gridCol w="2441317"/>
                <a:gridCol w="3329069"/>
              </a:tblGrid>
              <a:tr h="24968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F5A524"/>
                          </a:solidFill>
                          <a:latin typeface="Segoe UI"/>
                        </a:rPr>
                        <a:t>INDICADOR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F5A524"/>
                          </a:solidFill>
                          <a:latin typeface="Segoe UI"/>
                        </a:rPr>
                        <a:t>INSTITUCIÓN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F5A524"/>
                          </a:solidFill>
                          <a:latin typeface="Segoe UI"/>
                        </a:rPr>
                        <a:t>CUÁNDO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F5A524"/>
                          </a:solidFill>
                          <a:latin typeface="Segoe UI"/>
                        </a:rPr>
                        <a:t>QUÉ RESPONDE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</a:tr>
              <a:tr h="43383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Inflación (IPC)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Instituto Nacional de Estadísticas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Alrededor del día 8 · 08:00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¿Suben los precios?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43383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Actividad mensual
(IMACEC)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Banco Central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Primeros días del mes · 08:30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¿Crece la economía este mes?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PIB trimestral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Banco Central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Mes siguiente al trimestre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¿Cuánto creció en el trimestre?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43383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Desempleo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Instituto Nacional de Estadísticas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Fin de mes · 08:00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¿Hay trabajo?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Balanza comercial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Banco Central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Primeros días del mes · 08:30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¿Entran o salen dólares del país?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43383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Tasa de política
monetaria (TPM)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Banco Central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8 reuniones al año · 18:00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¿Cuánto cuesta el dinero en Chile?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Indicadores Chile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1">
                <a:solidFill>
                  <a:srgbClr val="F5A524"/>
                </a:solidFill>
                <a:latin typeface="Segoe UI"/>
              </a:rPr>
              <a:t>FICHA DEL INDICADOR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IPC de Chile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3490"/>
            <a:ext cx="960120" cy="3175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436370"/>
            <a:ext cx="10874959" cy="43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Mismo concepto que el de Estados Unidos, pero </a:t>
            </a:r>
            <a:r>
              <a:rPr sz="1350" b="1">
                <a:solidFill>
                  <a:srgbClr val="F5A524"/>
                </a:solidFill>
                <a:latin typeface="Segoe UI"/>
              </a:rPr>
              <a:t>la dirección del efecto sobre el dólar es la inversa</a:t>
            </a:r>
            <a:r>
              <a:rPr sz="1350" b="0">
                <a:solidFill>
                  <a:srgbClr val="A9A5B4"/>
                </a:solidFill>
                <a:latin typeface="Segoe UI"/>
              </a:rPr>
              <a:t>. Acá está el detalle que más se confunde.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106168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2106168"/>
            <a:ext cx="28575" cy="566928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2188464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QUIÉN LO PUBLICA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371344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Instituto Nacional de Estadísticas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5687" y="2106168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445687" y="2106168"/>
            <a:ext cx="28575" cy="566928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591991" y="2188464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CUÁNDO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1991" y="2371344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Alrededor del día 8 · 08:00 Chile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2106168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33007" y="2106168"/>
            <a:ext cx="28575" cy="566928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79311" y="2188464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META DEL BANCO CENTRAL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9311" y="2371344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3% anual, con tolerancia de ±1 punto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20327" y="2106168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20327" y="2106168"/>
            <a:ext cx="28575" cy="566928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66631" y="2188464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FRECUENCIA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631" y="2371344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Mensual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2910840"/>
            <a:ext cx="5300319" cy="329641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58368" y="2910840"/>
            <a:ext cx="5300319" cy="2857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1248" y="3057144"/>
            <a:ext cx="4934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CÓMO SE LEE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349752"/>
            <a:ext cx="4934559" cy="27294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Se publica la variación </a:t>
            </a:r>
            <a:r>
              <a:rPr sz="1150" b="1">
                <a:solidFill>
                  <a:srgbClr val="FFFFFF"/>
                </a:solidFill>
                <a:latin typeface="Segoe UI"/>
              </a:rPr>
              <a:t>mensual</a:t>
            </a:r>
            <a:r>
              <a:rPr sz="1150" b="0">
                <a:solidFill>
                  <a:srgbClr val="A9A5B4"/>
                </a:solidFill>
                <a:latin typeface="Segoe UI"/>
              </a:rPr>
              <a:t> y la </a:t>
            </a:r>
            <a:r>
              <a:rPr sz="1150" b="1">
                <a:solidFill>
                  <a:srgbClr val="FFFFFF"/>
                </a:solidFill>
                <a:latin typeface="Segoe UI"/>
              </a:rPr>
              <a:t>acumulada en doce meses</a:t>
            </a:r>
            <a:r>
              <a:rPr sz="1150" b="0">
                <a:solidFill>
                  <a:srgbClr val="A9A5B4"/>
                </a:solidFill>
                <a:latin typeface="Segoe UI"/>
              </a:rPr>
              <a:t>; la segunda es la que se compara contra la meta de 3%.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También tiene versiones </a:t>
            </a:r>
            <a:r>
              <a:rPr sz="1150" b="1">
                <a:solidFill>
                  <a:srgbClr val="FFFFFF"/>
                </a:solidFill>
                <a:latin typeface="Segoe UI"/>
              </a:rPr>
              <a:t>sin volátiles</a:t>
            </a:r>
            <a:r>
              <a:rPr sz="1150" b="0">
                <a:solidFill>
                  <a:srgbClr val="A9A5B4"/>
                </a:solidFill>
                <a:latin typeface="Segoe UI"/>
              </a:rPr>
              <a:t>, que cumplen el mismo rol que el subyacente estadounidense.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50" b="1">
                <a:solidFill>
                  <a:srgbClr val="FFFFFF"/>
                </a:solidFill>
                <a:latin typeface="Segoe UI"/>
              </a:rPr>
              <a:t>Contexto local que importa:</a:t>
            </a:r>
            <a:r>
              <a:rPr sz="1150" b="0">
                <a:solidFill>
                  <a:srgbClr val="A9A5B4"/>
                </a:solidFill>
                <a:latin typeface="Segoe UI"/>
              </a:rPr>
              <a:t> buena parte de la canasta chilena depende de bienes importados, así que </a:t>
            </a:r>
            <a:r>
              <a:rPr sz="1150" b="1">
                <a:solidFill>
                  <a:srgbClr val="FFFFFF"/>
                </a:solidFill>
                <a:latin typeface="Segoe UI"/>
              </a:rPr>
              <a:t>un dólar más alto se traduce en más inflación</a:t>
            </a:r>
            <a:r>
              <a:rPr sz="1150" b="0">
                <a:solidFill>
                  <a:srgbClr val="A9A5B4"/>
                </a:solidFill>
                <a:latin typeface="Segoe UI"/>
              </a:rPr>
              <a:t> unos meses después. Se le llama traspaso del tipo de cambio.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Eso genera un círculo que conviene tener claro: dólar sube → inflación sube → el Banco Central endurece → el peso se fortalece.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2910840"/>
            <a:ext cx="5300319" cy="329641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33007" y="2910840"/>
            <a:ext cx="5300319" cy="28575"/>
          </a:xfrm>
          <a:prstGeom prst="rect">
            <a:avLst/>
          </a:prstGeom>
          <a:solidFill>
            <a:srgbClr val="A9A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15887" y="3057144"/>
            <a:ext cx="4934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A9A5B4"/>
                </a:solidFill>
                <a:latin typeface="Segoe UI"/>
              </a:rPr>
              <a:t>QUÉ DEBERÍA HACER EL USD/CLP, Y POR QUÉ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5887" y="3349752"/>
            <a:ext cx="4934559" cy="27294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Cuidado con la dirección:</a:t>
            </a:r>
            <a:r>
              <a:rPr sz="1150" b="0">
                <a:solidFill>
                  <a:srgbClr val="A9A5B4"/>
                </a:solidFill>
                <a:latin typeface="Segoe UI"/>
              </a:rPr>
              <a:t> en el par USD/CLP, cuando el número sube significa que </a:t>
            </a:r>
            <a:r>
              <a:rPr sz="1150" b="1">
                <a:solidFill>
                  <a:srgbClr val="FFFFFF"/>
                </a:solidFill>
                <a:latin typeface="Segoe UI"/>
              </a:rPr>
              <a:t>el peso se debilita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50" b="1">
                <a:solidFill>
                  <a:srgbClr val="FFFFFF"/>
                </a:solidFill>
                <a:latin typeface="Segoe UI"/>
              </a:rPr>
              <a:t>IPC sobre lo esperado</a:t>
            </a:r>
            <a:r>
              <a:rPr sz="1150" b="0">
                <a:solidFill>
                  <a:srgbClr val="A9A5B4"/>
                </a:solidFill>
                <a:latin typeface="Segoe UI"/>
              </a:rPr>
              <a:t> → el Banco Central </a:t>
            </a:r>
            <a:r>
              <a:rPr sz="1150" b="1">
                <a:solidFill>
                  <a:srgbClr val="FFFFFF"/>
                </a:solidFill>
                <a:latin typeface="Segoe UI"/>
              </a:rPr>
              <a:t>no puede bajar</a:t>
            </a:r>
            <a:r>
              <a:rPr sz="1150" b="0">
                <a:solidFill>
                  <a:srgbClr val="A9A5B4"/>
                </a:solidFill>
                <a:latin typeface="Segoe UI"/>
              </a:rPr>
              <a:t> la tasa, o incluso debe subirla → tener pesos paga más → </a:t>
            </a:r>
            <a:r>
              <a:rPr sz="1150" b="1">
                <a:solidFill>
                  <a:srgbClr val="FFFFFF"/>
                </a:solidFill>
                <a:latin typeface="Segoe UI"/>
              </a:rPr>
              <a:t>el USD/CLP baja</a:t>
            </a:r>
            <a:r>
              <a:rPr sz="1150" b="0">
                <a:solidFill>
                  <a:srgbClr val="A9A5B4"/>
                </a:solidFill>
                <a:latin typeface="Segoe UI"/>
              </a:rPr>
              <a:t> ⬇️.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50" b="1">
                <a:solidFill>
                  <a:srgbClr val="FFFFFF"/>
                </a:solidFill>
                <a:latin typeface="Segoe UI"/>
              </a:rPr>
              <a:t>IPC bajo lo esperado</a:t>
            </a:r>
            <a:r>
              <a:rPr sz="1150" b="0">
                <a:solidFill>
                  <a:srgbClr val="A9A5B4"/>
                </a:solidFill>
                <a:latin typeface="Segoe UI"/>
              </a:rPr>
              <a:t> → se abre espacio para </a:t>
            </a:r>
            <a:r>
              <a:rPr sz="1150" b="1">
                <a:solidFill>
                  <a:srgbClr val="FFFFFF"/>
                </a:solidFill>
                <a:latin typeface="Segoe UI"/>
              </a:rPr>
              <a:t>recortar</a:t>
            </a:r>
            <a:r>
              <a:rPr sz="1150" b="0">
                <a:solidFill>
                  <a:srgbClr val="A9A5B4"/>
                </a:solidFill>
                <a:latin typeface="Segoe UI"/>
              </a:rPr>
              <a:t> la tasa → los pesos rinden menos → </a:t>
            </a:r>
            <a:r>
              <a:rPr sz="1150" b="1">
                <a:solidFill>
                  <a:srgbClr val="FFFFFF"/>
                </a:solidFill>
                <a:latin typeface="Segoe UI"/>
              </a:rPr>
              <a:t>el USD/CLP sube</a:t>
            </a:r>
            <a:r>
              <a:rPr sz="1150" b="0">
                <a:solidFill>
                  <a:srgbClr val="A9A5B4"/>
                </a:solidFill>
                <a:latin typeface="Segoe UI"/>
              </a:rPr>
              <a:t> ⬆️.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50" b="1">
                <a:solidFill>
                  <a:srgbClr val="FFFFFF"/>
                </a:solidFill>
                <a:latin typeface="Segoe UI"/>
              </a:rPr>
              <a:t>Es el efecto espejo del caso estadounidense:</a:t>
            </a:r>
            <a:r>
              <a:rPr sz="1150" b="0">
                <a:solidFill>
                  <a:srgbClr val="A9A5B4"/>
                </a:solidFill>
                <a:latin typeface="Segoe UI"/>
              </a:rPr>
              <a:t> allá una inflación alta </a:t>
            </a:r>
            <a:r>
              <a:rPr sz="1150" b="1">
                <a:solidFill>
                  <a:srgbClr val="FFFFFF"/>
                </a:solidFill>
                <a:latin typeface="Segoe UI"/>
              </a:rPr>
              <a:t>fortalece</a:t>
            </a:r>
            <a:r>
              <a:rPr sz="1150" b="0">
                <a:solidFill>
                  <a:srgbClr val="A9A5B4"/>
                </a:solidFill>
                <a:latin typeface="Segoe UI"/>
              </a:rPr>
              <a:t> al dólar; acá una inflación alta </a:t>
            </a:r>
            <a:r>
              <a:rPr sz="1150" b="1">
                <a:solidFill>
                  <a:srgbClr val="FFFFFF"/>
                </a:solidFill>
                <a:latin typeface="Segoe UI"/>
              </a:rPr>
              <a:t>fortalece al peso</a:t>
            </a:r>
            <a:r>
              <a:rPr sz="1150" b="0">
                <a:solidFill>
                  <a:srgbClr val="A9A5B4"/>
                </a:solidFill>
                <a:latin typeface="Segoe UI"/>
              </a:rPr>
              <a:t>, y por eso el par baja.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50" b="1">
                <a:solidFill>
                  <a:srgbClr val="FFFFFF"/>
                </a:solidFill>
                <a:latin typeface="Segoe UI"/>
              </a:rPr>
              <a:t>Magnitud:</a:t>
            </a:r>
            <a:r>
              <a:rPr sz="1150" b="0">
                <a:solidFill>
                  <a:srgbClr val="A9A5B4"/>
                </a:solidFill>
                <a:latin typeface="Segoe UI"/>
              </a:rPr>
              <a:t> el efecto local suele ser menor que el del dólar global. Si los dos motores apuntan en direcciones opuestas, normalmente gana el global.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Indicadores Chile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1">
                <a:solidFill>
                  <a:srgbClr val="F5A524"/>
                </a:solidFill>
                <a:latin typeface="Segoe UI"/>
              </a:rPr>
              <a:t>FICHA DEL INDICADOR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IMACEC: el termómetro mensual de la economía chilena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3490"/>
            <a:ext cx="960120" cy="3175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43637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No existe un equivalente exacto en Estados Unidos, y es el indicador de actividad más seguido del país.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1890141"/>
            <a:ext cx="28575" cy="566928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NOMBRE COMPLETO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Índice mensual de actividad económica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5687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445687" y="1890141"/>
            <a:ext cx="28575" cy="566928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591991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QUIÉN LO PUBLICA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1991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Banco Central de Chile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33007" y="1890141"/>
            <a:ext cx="28575" cy="566928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79311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CUÁNDO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9311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Primeros días del mes · 08:30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20327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20327" y="1890141"/>
            <a:ext cx="28575" cy="566928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66631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COBERTURA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631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Cerca del 90% de los bienes y servicios del PIB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2694813"/>
            <a:ext cx="5300319" cy="339547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58368" y="2694813"/>
            <a:ext cx="5300319" cy="2857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1248" y="2841117"/>
            <a:ext cx="4934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POR QUÉ EXISTE Y QUÉ MIDE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133725"/>
            <a:ext cx="4934559" cy="2828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El PIB se publica </a:t>
            </a:r>
            <a:r>
              <a:rPr sz="1200" b="1">
                <a:solidFill>
                  <a:srgbClr val="FFFFFF"/>
                </a:solidFill>
                <a:latin typeface="Segoe UI"/>
              </a:rPr>
              <a:t>cada tres meses</a:t>
            </a:r>
            <a:r>
              <a:rPr sz="1200" b="0">
                <a:solidFill>
                  <a:srgbClr val="A9A5B4"/>
                </a:solidFill>
                <a:latin typeface="Segoe UI"/>
              </a:rPr>
              <a:t>: para conducir la política monetaria eso es demasiado lento.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El IMACEC resuelve ese problema estimando </a:t>
            </a:r>
            <a:r>
              <a:rPr sz="1200" b="1">
                <a:solidFill>
                  <a:srgbClr val="FFFFFF"/>
                </a:solidFill>
                <a:latin typeface="Segoe UI"/>
              </a:rPr>
              <a:t>mensualmente</a:t>
            </a:r>
            <a:r>
              <a:rPr sz="1200" b="0">
                <a:solidFill>
                  <a:srgbClr val="A9A5B4"/>
                </a:solidFill>
                <a:latin typeface="Segoe UI"/>
              </a:rPr>
              <a:t> la actividad, cubriendo cerca del 90% de lo que después mide el PIB.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Se compara contra </a:t>
            </a:r>
            <a:r>
              <a:rPr sz="1200" b="1">
                <a:solidFill>
                  <a:srgbClr val="FFFFFF"/>
                </a:solidFill>
                <a:latin typeface="Segoe UI"/>
              </a:rPr>
              <a:t>el mismo mes del año anterior</a:t>
            </a:r>
            <a:r>
              <a:rPr sz="1200" b="0">
                <a:solidFill>
                  <a:srgbClr val="A9A5B4"/>
                </a:solidFill>
                <a:latin typeface="Segoe UI"/>
              </a:rPr>
              <a:t>, así que le aplica todo lo que vimos sobre el efecto base.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Ventaja para nosotros:</a:t>
            </a:r>
            <a:r>
              <a:rPr sz="1200" b="0">
                <a:solidFill>
                  <a:srgbClr val="A9A5B4"/>
                </a:solidFill>
                <a:latin typeface="Segoe UI"/>
              </a:rPr>
              <a:t> llega temprano y con alta frecuencia. Cuando sale el PIB trimestral, el IMACEC ya lo había anticipado casi por completo — por eso el PIB chileno mueve poco.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2694813"/>
            <a:ext cx="5300319" cy="339547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33007" y="2694813"/>
            <a:ext cx="5300319" cy="28575"/>
          </a:xfrm>
          <a:prstGeom prst="rect">
            <a:avLst/>
          </a:prstGeom>
          <a:solidFill>
            <a:srgbClr val="A9A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15887" y="2841117"/>
            <a:ext cx="4934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A9A5B4"/>
                </a:solidFill>
                <a:latin typeface="Segoe UI"/>
              </a:rPr>
              <a:t>EL DESGLOSE QUE HAY QUE MIRAR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5887" y="3133725"/>
            <a:ext cx="4934559" cy="2828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IMACEC minero y no minero:</a:t>
            </a:r>
            <a:r>
              <a:rPr sz="1200" b="0">
                <a:solidFill>
                  <a:srgbClr val="A9A5B4"/>
                </a:solidFill>
                <a:latin typeface="Segoe UI"/>
              </a:rPr>
              <a:t> la distinción clave.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El minero depende del precio del cobre y de la producción de las faenas: puede subir por razones que </a:t>
            </a:r>
            <a:r>
              <a:rPr sz="1200" b="1">
                <a:solidFill>
                  <a:srgbClr val="FFFFFF"/>
                </a:solidFill>
                <a:latin typeface="Segoe UI"/>
              </a:rPr>
              <a:t>no dicen nada</a:t>
            </a:r>
            <a:r>
              <a:rPr sz="1200" b="0">
                <a:solidFill>
                  <a:srgbClr val="A9A5B4"/>
                </a:solidFill>
                <a:latin typeface="Segoe UI"/>
              </a:rPr>
              <a:t> de la economía interna.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El </a:t>
            </a:r>
            <a:r>
              <a:rPr sz="1200" b="1">
                <a:solidFill>
                  <a:srgbClr val="FFFFFF"/>
                </a:solidFill>
                <a:latin typeface="Segoe UI"/>
              </a:rPr>
              <a:t>no minero</a:t>
            </a:r>
            <a:r>
              <a:rPr sz="1200" b="0">
                <a:solidFill>
                  <a:srgbClr val="A9A5B4"/>
                </a:solidFill>
                <a:latin typeface="Segoe UI"/>
              </a:rPr>
              <a:t> es el que refleja de verdad la demanda interna: comercio, servicios, industria.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Qué debería hacer el precio:</a:t>
            </a:r>
            <a:r>
              <a:rPr sz="1200" b="0">
                <a:solidFill>
                  <a:srgbClr val="A9A5B4"/>
                </a:solidFill>
                <a:latin typeface="Segoe UI"/>
              </a:rPr>
              <a:t> IMACEC sobre lo esperado → economía sólida y menos urgencia de recortar la tasa → </a:t>
            </a:r>
            <a:r>
              <a:rPr sz="1200" b="1">
                <a:solidFill>
                  <a:srgbClr val="FFFFFF"/>
                </a:solidFill>
                <a:latin typeface="Segoe UI"/>
              </a:rPr>
              <a:t>el USD/CLP baja</a:t>
            </a:r>
            <a:r>
              <a:rPr sz="1200" b="0">
                <a:solidFill>
                  <a:srgbClr val="A9A5B4"/>
                </a:solidFill>
                <a:latin typeface="Segoe UI"/>
              </a:rPr>
              <a:t> ⬇️. IMACEC decepcionante → más presión para recortar → </a:t>
            </a:r>
            <a:r>
              <a:rPr sz="1200" b="1">
                <a:solidFill>
                  <a:srgbClr val="FFFFFF"/>
                </a:solidFill>
                <a:latin typeface="Segoe UI"/>
              </a:rPr>
              <a:t>el USD/CLP sube</a:t>
            </a:r>
            <a:r>
              <a:rPr sz="1200" b="0">
                <a:solidFill>
                  <a:srgbClr val="A9A5B4"/>
                </a:solidFill>
                <a:latin typeface="Segoe UI"/>
              </a:rPr>
              <a:t> ⬆️.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Matiz importante:</a:t>
            </a:r>
            <a:r>
              <a:rPr sz="1200" b="0">
                <a:solidFill>
                  <a:srgbClr val="A9A5B4"/>
                </a:solidFill>
                <a:latin typeface="Segoe UI"/>
              </a:rPr>
              <a:t> si el IMACEC sube </a:t>
            </a:r>
            <a:r>
              <a:rPr sz="1200" b="1">
                <a:solidFill>
                  <a:srgbClr val="FFFFFF"/>
                </a:solidFill>
                <a:latin typeface="Segoe UI"/>
              </a:rPr>
              <a:t>solo por minería</a:t>
            </a:r>
            <a:r>
              <a:rPr sz="1200" b="0">
                <a:solidFill>
                  <a:srgbClr val="A9A5B4"/>
                </a:solidFill>
                <a:latin typeface="Segoe UI"/>
              </a:rPr>
              <a:t>, el efecto sobre el peso es más débil de lo que sugeriría el titular.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Indicadores Chile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Empleo, precios al productor y PIB en Chile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43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Tres indicadores que se leen con lo que ya sabes. Lo relevante acá es </a:t>
            </a:r>
            <a:r>
              <a:rPr sz="1350" b="1">
                <a:solidFill>
                  <a:srgbClr val="F5A524"/>
                </a:solidFill>
                <a:latin typeface="Segoe UI"/>
              </a:rPr>
              <a:t>cómo cambia su interpretación</a:t>
            </a:r>
            <a:r>
              <a:rPr sz="1350" b="0">
                <a:solidFill>
                  <a:srgbClr val="A9A5B4"/>
                </a:solidFill>
                <a:latin typeface="Segoe UI"/>
              </a:rPr>
              <a:t> por la forma en que se publican.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31848"/>
            <a:ext cx="3454298" cy="3101086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831848"/>
            <a:ext cx="3454298" cy="3810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2033016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FIN DE MES · 08:00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07336"/>
            <a:ext cx="3088538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Tasa de desempleo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04516"/>
            <a:ext cx="3088538" cy="21638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Mismo concepto que en EE.UU. —incluida la trampa de la participación—, con una diferencia de forma importante.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F5A524"/>
                </a:solidFill>
                <a:latin typeface="Segoe UI"/>
              </a:rPr>
              <a:t>Se publica como trimestre móvil:</a:t>
            </a:r>
            <a:r>
              <a:rPr sz="1150" b="0">
                <a:solidFill>
                  <a:srgbClr val="A9A5B4"/>
                </a:solidFill>
                <a:latin typeface="Segoe UI"/>
              </a:rPr>
              <a:t> el promedio de los últimos tres meses.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Consecuencia: </a:t>
            </a:r>
            <a:r>
              <a:rPr sz="1150" b="1">
                <a:solidFill>
                  <a:srgbClr val="F5A524"/>
                </a:solidFill>
                <a:latin typeface="Segoe UI"/>
              </a:rPr>
              <a:t>cambia lento y suaviza los giros</a:t>
            </a:r>
            <a:r>
              <a:rPr sz="1150" b="0">
                <a:solidFill>
                  <a:srgbClr val="A9A5B4"/>
                </a:solidFill>
                <a:latin typeface="Segoe UI"/>
              </a:rPr>
              <a:t>. No esperes que reaccione rápido a un shock.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F5A524"/>
                </a:solidFill>
                <a:latin typeface="Segoe UI"/>
              </a:rPr>
              <a:t>Efecto:</a:t>
            </a:r>
            <a:r>
              <a:rPr sz="1150" b="0">
                <a:solidFill>
                  <a:srgbClr val="A9A5B4"/>
                </a:solidFill>
                <a:latin typeface="Segoe UI"/>
              </a:rPr>
              <a:t> desempleo alto → presión para recortar la tasa → </a:t>
            </a:r>
            <a:r>
              <a:rPr sz="1150" b="1">
                <a:solidFill>
                  <a:srgbClr val="F5A524"/>
                </a:solidFill>
                <a:latin typeface="Segoe UI"/>
              </a:rPr>
              <a:t>USD/CLP sube</a:t>
            </a:r>
            <a:r>
              <a:rPr sz="1150" b="0">
                <a:solidFill>
                  <a:srgbClr val="A9A5B4"/>
                </a:solidFill>
                <a:latin typeface="Segoe UI"/>
              </a:rPr>
              <a:t> ⬆️.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831848"/>
            <a:ext cx="3454298" cy="3101086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68698" y="1831848"/>
            <a:ext cx="3454298" cy="38100"/>
          </a:xfrm>
          <a:prstGeom prst="rect">
            <a:avLst/>
          </a:prstGeom>
          <a:solidFill>
            <a:srgbClr val="A9A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51578" y="2033016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A9A5B4"/>
                </a:solidFill>
                <a:latin typeface="Segoe UI"/>
              </a:rPr>
              <a:t>MENSUAL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1578" y="2307336"/>
            <a:ext cx="3088538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IPC del productor (IPP)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1578" y="2604516"/>
            <a:ext cx="3088538" cy="21638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Mismo concepto que su par estadounidense: precios de fábrica antes del consumidor.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A9A5B4"/>
                </a:solidFill>
                <a:latin typeface="Segoe UI"/>
              </a:rPr>
              <a:t>El mercado local lo sigue mucho menos</a:t>
            </a:r>
            <a:r>
              <a:rPr sz="1150" b="0">
                <a:solidFill>
                  <a:srgbClr val="A9A5B4"/>
                </a:solidFill>
                <a:latin typeface="Segoe UI"/>
              </a:rPr>
              <a:t> que el IPC, así que rara vez mueve el tipo de cambio por sí solo.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A9A5B4"/>
                </a:solidFill>
                <a:latin typeface="Segoe UI"/>
              </a:rPr>
              <a:t>Dónde sí es útil:</a:t>
            </a:r>
            <a:r>
              <a:rPr sz="1150" b="0">
                <a:solidFill>
                  <a:srgbClr val="A9A5B4"/>
                </a:solidFill>
                <a:latin typeface="Segoe UI"/>
              </a:rPr>
              <a:t> como adelanto de costos, y para anticipar presiones sobre el IPC de los meses siguientes.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Úsalo como contexto, no como detonante.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9028" y="1831848"/>
            <a:ext cx="3454298" cy="3101086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79028" y="1831848"/>
            <a:ext cx="3454298" cy="38100"/>
          </a:xfrm>
          <a:prstGeom prst="rect">
            <a:avLst/>
          </a:prstGeom>
          <a:solidFill>
            <a:srgbClr val="A9A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61908" y="2033016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A9A5B4"/>
                </a:solidFill>
                <a:latin typeface="Segoe UI"/>
              </a:rPr>
              <a:t>TRIMESTRAL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1908" y="2307336"/>
            <a:ext cx="3088538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PIB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908" y="2604516"/>
            <a:ext cx="3088538" cy="21638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La medición completa de la economía, con la misma estructura de cuatro patas que vimos para EE.UU.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A9A5B4"/>
                </a:solidFill>
                <a:latin typeface="Segoe UI"/>
              </a:rPr>
              <a:t>Suele mover poco</a:t>
            </a:r>
            <a:r>
              <a:rPr sz="1150" b="0">
                <a:solidFill>
                  <a:srgbClr val="A9A5B4"/>
                </a:solidFill>
                <a:latin typeface="Segoe UI"/>
              </a:rPr>
              <a:t>, por una razón que ya conoces: el IMACEC mensual ya lo adelantó.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A9A5B4"/>
                </a:solidFill>
                <a:latin typeface="Segoe UI"/>
              </a:rPr>
              <a:t>Su valor está en el relato</a:t>
            </a:r>
            <a:r>
              <a:rPr sz="1150" b="0">
                <a:solidFill>
                  <a:srgbClr val="A9A5B4"/>
                </a:solidFill>
                <a:latin typeface="Segoe UI"/>
              </a:rPr>
              <a:t> y en las proyecciones: alimenta las estimaciones del Informe de Política Monetaria.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Trátalo como </a:t>
            </a:r>
            <a:r>
              <a:rPr sz="1150" b="1">
                <a:solidFill>
                  <a:srgbClr val="A9A5B4"/>
                </a:solidFill>
                <a:latin typeface="Segoe UI"/>
              </a:rPr>
              <a:t>confirmación</a:t>
            </a:r>
            <a:r>
              <a:rPr sz="1150" b="0">
                <a:solidFill>
                  <a:srgbClr val="A9A5B4"/>
                </a:solidFill>
                <a:latin typeface="Segoe UI"/>
              </a:rPr>
              <a:t>, no como noticia.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Indicadores Chile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1">
                <a:solidFill>
                  <a:srgbClr val="00DC82"/>
                </a:solidFill>
                <a:latin typeface="Segoe UI"/>
              </a:rPr>
              <a:t>FICHA DEL INDICADOR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Balanza comercial y el cobre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3490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43637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Si tuvieras que elegir </a:t>
            </a:r>
            <a:r>
              <a:rPr sz="1350" b="1">
                <a:solidFill>
                  <a:srgbClr val="00DC82"/>
                </a:solidFill>
                <a:latin typeface="Segoe UI"/>
              </a:rPr>
              <a:t>un solo</a:t>
            </a:r>
            <a:r>
              <a:rPr sz="1350" b="0">
                <a:solidFill>
                  <a:srgbClr val="A9A5B4"/>
                </a:solidFill>
                <a:latin typeface="Segoe UI"/>
              </a:rPr>
              <a:t> driver local del dólar en Chile, sería este. Y es el que conecta a Chile con China.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1890141"/>
            <a:ext cx="28575" cy="566928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QUIÉN LO PUBLICA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Banco Central de Chile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5687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445687" y="1890141"/>
            <a:ext cx="28575" cy="566928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591991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CUÁNDO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1991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Primeros días del mes · 08:30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33007" y="1890141"/>
            <a:ext cx="28575" cy="566928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79311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QUÉ 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9311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Exportaciones menos importaciones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20327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20327" y="1890141"/>
            <a:ext cx="28575" cy="566928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66631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PESO DEL COBRE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631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Cerca de la mitad de las exportaciones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2694813"/>
            <a:ext cx="5300319" cy="280111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58368" y="2694813"/>
            <a:ext cx="5300319" cy="28575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1248" y="2841117"/>
            <a:ext cx="4934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EL MECANISMO, PASO A PASO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133725"/>
            <a:ext cx="4934559" cy="2234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Cuando Chile exporta, el comprador paga en </a:t>
            </a:r>
            <a:r>
              <a:rPr sz="1200" b="1">
                <a:solidFill>
                  <a:srgbClr val="FFFFFF"/>
                </a:solidFill>
                <a:latin typeface="Segoe UI"/>
              </a:rPr>
              <a:t>dólares</a:t>
            </a:r>
            <a:r>
              <a:rPr sz="1200" b="0">
                <a:solidFill>
                  <a:srgbClr val="A9A5B4"/>
                </a:solidFill>
                <a:latin typeface="Segoe UI"/>
              </a:rPr>
              <a:t>. Para gastar ese dinero en el país, hay que </a:t>
            </a:r>
            <a:r>
              <a:rPr sz="1200" b="1">
                <a:solidFill>
                  <a:srgbClr val="FFFFFF"/>
                </a:solidFill>
                <a:latin typeface="Segoe UI"/>
              </a:rPr>
              <a:t>venderlo y comprar pesos</a:t>
            </a:r>
            <a:r>
              <a:rPr sz="120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Más exportaciones → </a:t>
            </a:r>
            <a:r>
              <a:rPr sz="1200" b="1">
                <a:solidFill>
                  <a:srgbClr val="FFFFFF"/>
                </a:solidFill>
                <a:latin typeface="Segoe UI"/>
              </a:rPr>
              <a:t>más oferta de dólares</a:t>
            </a:r>
            <a:r>
              <a:rPr sz="1200" b="0">
                <a:solidFill>
                  <a:srgbClr val="A9A5B4"/>
                </a:solidFill>
                <a:latin typeface="Segoe UI"/>
              </a:rPr>
              <a:t> en el mercado local → el dólar se abarata → </a:t>
            </a:r>
            <a:r>
              <a:rPr sz="1200" b="1">
                <a:solidFill>
                  <a:srgbClr val="FFFFFF"/>
                </a:solidFill>
                <a:latin typeface="Segoe UI"/>
              </a:rPr>
              <a:t>el USD/CLP baja</a:t>
            </a:r>
            <a:r>
              <a:rPr sz="120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Un </a:t>
            </a:r>
            <a:r>
              <a:rPr sz="1200" b="1">
                <a:solidFill>
                  <a:srgbClr val="FFFFFF"/>
                </a:solidFill>
                <a:latin typeface="Segoe UI"/>
              </a:rPr>
              <a:t>superávit</a:t>
            </a:r>
            <a:r>
              <a:rPr sz="1200" b="0">
                <a:solidFill>
                  <a:srgbClr val="A9A5B4"/>
                </a:solidFill>
                <a:latin typeface="Segoe UI"/>
              </a:rPr>
              <a:t> (se exporta más de lo que se importa) presiona el dólar a la baja. Un </a:t>
            </a:r>
            <a:r>
              <a:rPr sz="1200" b="1">
                <a:solidFill>
                  <a:srgbClr val="FFFFFF"/>
                </a:solidFill>
                <a:latin typeface="Segoe UI"/>
              </a:rPr>
              <a:t>déficit</a:t>
            </a:r>
            <a:r>
              <a:rPr sz="1200" b="0">
                <a:solidFill>
                  <a:srgbClr val="A9A5B4"/>
                </a:solidFill>
                <a:latin typeface="Segoe UI"/>
              </a:rPr>
              <a:t> lo presiona al alza.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Y como el cobre es cerca de la mitad de lo que Chile exporta, </a:t>
            </a:r>
            <a:r>
              <a:rPr sz="1200" b="1">
                <a:solidFill>
                  <a:srgbClr val="FFFFFF"/>
                </a:solidFill>
                <a:latin typeface="Segoe UI"/>
              </a:rPr>
              <a:t>el precio del cobre es, en la práctica, el driver de esa oferta de dólares</a:t>
            </a:r>
            <a:r>
              <a:rPr sz="1200" b="0">
                <a:solidFill>
                  <a:srgbClr val="A9A5B4"/>
                </a:solidFill>
                <a:latin typeface="Segoe UI"/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2694813"/>
            <a:ext cx="5300319" cy="280111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33007" y="2694813"/>
            <a:ext cx="5300319" cy="28575"/>
          </a:xfrm>
          <a:prstGeom prst="rect">
            <a:avLst/>
          </a:prstGeom>
          <a:solidFill>
            <a:srgbClr val="A9A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15887" y="2841117"/>
            <a:ext cx="4934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A9A5B4"/>
                </a:solidFill>
                <a:latin typeface="Segoe UI"/>
              </a:rPr>
              <a:t>POR QUÉ EL PESO CHILENO SE MUEVE CON EL COBRE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5887" y="3133725"/>
            <a:ext cx="4934559" cy="2234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El peso es una de las monedas del mundo </a:t>
            </a:r>
            <a:r>
              <a:rPr sz="1200" b="1">
                <a:solidFill>
                  <a:srgbClr val="FFFFFF"/>
                </a:solidFill>
                <a:latin typeface="Segoe UI"/>
              </a:rPr>
              <a:t>más correlacionadas con el cobre</a:t>
            </a:r>
            <a:r>
              <a:rPr sz="1200" b="0">
                <a:solidFill>
                  <a:srgbClr val="A9A5B4"/>
                </a:solidFill>
                <a:latin typeface="Segoe UI"/>
              </a:rPr>
              <a:t>. No es casualidad: es su principal fuente de divisas.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Cobre sube</a:t>
            </a:r>
            <a:r>
              <a:rPr sz="1200" b="0">
                <a:solidFill>
                  <a:srgbClr val="A9A5B4"/>
                </a:solidFill>
                <a:latin typeface="Segoe UI"/>
              </a:rPr>
              <a:t> → entran más dólares → </a:t>
            </a:r>
            <a:r>
              <a:rPr sz="1200" b="1">
                <a:solidFill>
                  <a:srgbClr val="FFFFFF"/>
                </a:solidFill>
                <a:latin typeface="Segoe UI"/>
              </a:rPr>
              <a:t>USD/CLP baja</a:t>
            </a:r>
            <a:r>
              <a:rPr sz="1200" b="0">
                <a:solidFill>
                  <a:srgbClr val="A9A5B4"/>
                </a:solidFill>
                <a:latin typeface="Segoe UI"/>
              </a:rPr>
              <a:t> ⬇️.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Cobre baja</a:t>
            </a:r>
            <a:r>
              <a:rPr sz="1200" b="0">
                <a:solidFill>
                  <a:srgbClr val="A9A5B4"/>
                </a:solidFill>
                <a:latin typeface="Segoe UI"/>
              </a:rPr>
              <a:t> → entran menos dólares → </a:t>
            </a:r>
            <a:r>
              <a:rPr sz="1200" b="1">
                <a:solidFill>
                  <a:srgbClr val="FFFFFF"/>
                </a:solidFill>
                <a:latin typeface="Segoe UI"/>
              </a:rPr>
              <a:t>USD/CLP sube</a:t>
            </a:r>
            <a:r>
              <a:rPr sz="1200" b="0">
                <a:solidFill>
                  <a:srgbClr val="A9A5B4"/>
                </a:solidFill>
                <a:latin typeface="Segoe UI"/>
              </a:rPr>
              <a:t> ⬆️.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Por eso el operador de USD/CLP mira el cobre </a:t>
            </a:r>
            <a:r>
              <a:rPr sz="1200" b="1">
                <a:solidFill>
                  <a:srgbClr val="FFFFFF"/>
                </a:solidFill>
                <a:latin typeface="Segoe UI"/>
              </a:rPr>
              <a:t>tanto como</a:t>
            </a:r>
            <a:r>
              <a:rPr sz="1200" b="0">
                <a:solidFill>
                  <a:srgbClr val="A9A5B4"/>
                </a:solidFill>
                <a:latin typeface="Segoe UI"/>
              </a:rPr>
              <a:t> mira el dólar global. Son los dos motores del par.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Y por eso los datos de China nos importan directamente:</a:t>
            </a:r>
            <a:r>
              <a:rPr sz="1200" b="0">
                <a:solidFill>
                  <a:srgbClr val="A9A5B4"/>
                </a:solidFill>
                <a:latin typeface="Segoe UI"/>
              </a:rPr>
              <a:t> China es el principal comprador del cobre chileno. Lo desarrollamos en el bloque de contexto global.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Indicadores Chile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1">
                <a:solidFill>
                  <a:srgbClr val="F5A524"/>
                </a:solidFill>
                <a:latin typeface="Segoe UI"/>
              </a:rPr>
              <a:t>FICHA DEL INDICADOR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7513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Tasa de política monetaria (TPM) y el diferencial de tasas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29156"/>
            <a:ext cx="960120" cy="3175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812036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El resultado de todo lo anterior: cada dato chileno termina empujando esta decisión.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265807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2265807"/>
            <a:ext cx="28575" cy="566928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2348103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QUIÉN DECIDE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530983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Consejo del Banco Central de Chile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5687" y="2265807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445687" y="2265807"/>
            <a:ext cx="28575" cy="566928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591991" y="2348103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CUÁNDO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1991" y="2530983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8 reuniones al año · comunicado 18:00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2265807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33007" y="2265807"/>
            <a:ext cx="28575" cy="566928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79311" y="2348103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EL INFORME CLAVE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9311" y="2530983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IPoM, cuatro veces al año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20327" y="2265807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20327" y="2265807"/>
            <a:ext cx="28575" cy="566928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66631" y="2348103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SU MANDATO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631" y="2530983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Inflación en 3% y estabilidad financiera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070479"/>
            <a:ext cx="5300319" cy="319735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58368" y="3070479"/>
            <a:ext cx="5300319" cy="2857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1248" y="3216783"/>
            <a:ext cx="4934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QUÉ ES Y CÓMO SE COMUNICA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509391"/>
            <a:ext cx="4934559" cy="2630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A9A5B4"/>
                </a:solidFill>
                <a:latin typeface="Segoe UI"/>
              </a:rPr>
              <a:t>Es </a:t>
            </a:r>
            <a:r>
              <a:rPr sz="1100" b="1">
                <a:solidFill>
                  <a:srgbClr val="FFFFFF"/>
                </a:solidFill>
                <a:latin typeface="Segoe UI"/>
              </a:rPr>
              <a:t>la tasa a la que se presta el dinero entre bancos</a:t>
            </a:r>
            <a:r>
              <a:rPr sz="1100" b="0">
                <a:solidFill>
                  <a:srgbClr val="A9A5B4"/>
                </a:solidFill>
                <a:latin typeface="Segoe UI"/>
              </a:rPr>
              <a:t> en Chile, y el Banco Central la fija. De ella cuelgan todas las demás tasas del país.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>
                <a:solidFill>
                  <a:srgbClr val="A9A5B4"/>
                </a:solidFill>
                <a:latin typeface="Segoe UI"/>
              </a:rPr>
              <a:t>El comunicado de la decisión </a:t>
            </a:r>
            <a:r>
              <a:rPr sz="1100" b="1">
                <a:solidFill>
                  <a:srgbClr val="FFFFFF"/>
                </a:solidFill>
                <a:latin typeface="Segoe UI"/>
              </a:rPr>
              <a:t>importa tanto como la decisión</a:t>
            </a:r>
            <a:r>
              <a:rPr sz="1100" b="0">
                <a:solidFill>
                  <a:srgbClr val="A9A5B4"/>
                </a:solidFill>
                <a:latin typeface="Segoe UI"/>
              </a:rPr>
              <a:t>: en él se señala hacia dónde irá la tasa. El mercado opera esa señal.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>
                <a:solidFill>
                  <a:srgbClr val="A9A5B4"/>
                </a:solidFill>
                <a:latin typeface="Segoe UI"/>
              </a:rPr>
              <a:t>El </a:t>
            </a:r>
            <a:r>
              <a:rPr sz="1100" b="1">
                <a:solidFill>
                  <a:srgbClr val="FFFFFF"/>
                </a:solidFill>
                <a:latin typeface="Segoe UI"/>
              </a:rPr>
              <a:t>Informe de Política Monetaria (IPoM)</a:t>
            </a:r>
            <a:r>
              <a:rPr sz="1100" b="0">
                <a:solidFill>
                  <a:srgbClr val="A9A5B4"/>
                </a:solidFill>
                <a:latin typeface="Segoe UI"/>
              </a:rPr>
              <a:t> trae las proyecciones de inflación y crecimiento, y puede mover el tipo de cambio </a:t>
            </a:r>
            <a:r>
              <a:rPr sz="1100" b="1">
                <a:solidFill>
                  <a:srgbClr val="FFFFFF"/>
                </a:solidFill>
                <a:latin typeface="Segoe UI"/>
              </a:rPr>
              <a:t>más que la decisión misma</a:t>
            </a:r>
            <a:r>
              <a:rPr sz="110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Efecto directo:</a:t>
            </a:r>
            <a:r>
              <a:rPr sz="1100" b="0">
                <a:solidFill>
                  <a:srgbClr val="A9A5B4"/>
                </a:solidFill>
                <a:latin typeface="Segoe UI"/>
              </a:rPr>
              <a:t> si sube la TPM, tener pesos rinde más → </a:t>
            </a:r>
            <a:r>
              <a:rPr sz="1100" b="1">
                <a:solidFill>
                  <a:srgbClr val="FFFFFF"/>
                </a:solidFill>
                <a:latin typeface="Segoe UI"/>
              </a:rPr>
              <a:t>el USD/CLP baja</a:t>
            </a:r>
            <a:r>
              <a:rPr sz="1100" b="0">
                <a:solidFill>
                  <a:srgbClr val="A9A5B4"/>
                </a:solidFill>
                <a:latin typeface="Segoe UI"/>
              </a:rPr>
              <a:t> ⬇️. Si la baja, ocurre lo contrario ⬆️.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3070479"/>
            <a:ext cx="5300319" cy="319735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33007" y="3070479"/>
            <a:ext cx="5300319" cy="28575"/>
          </a:xfrm>
          <a:prstGeom prst="rect">
            <a:avLst/>
          </a:prstGeom>
          <a:solidFill>
            <a:srgbClr val="A9A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15887" y="3216783"/>
            <a:ext cx="4934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A9A5B4"/>
                </a:solidFill>
                <a:latin typeface="Segoe UI"/>
              </a:rPr>
              <a:t>EL DIFERENCIAL DE TASAS: EL CONCEPTO QUE AMARRA TODO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5887" y="3509391"/>
            <a:ext cx="4934559" cy="2630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A9A5B4"/>
                </a:solidFill>
                <a:latin typeface="Segoe UI"/>
              </a:rPr>
              <a:t>El capital busca rendimiento. Lo que importa no es la tasa chilena en sí, sino </a:t>
            </a:r>
            <a:r>
              <a:rPr sz="1100" b="1">
                <a:solidFill>
                  <a:srgbClr val="FFFFFF"/>
                </a:solidFill>
                <a:latin typeface="Segoe UI"/>
              </a:rPr>
              <a:t>la diferencia entre la tasa de Chile y la de Estados Unidos</a:t>
            </a:r>
            <a:r>
              <a:rPr sz="110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Si la Reserva Federal tiene tasas más altas que el Banco Central de Chile</a:t>
            </a:r>
            <a:r>
              <a:rPr sz="1100" b="0">
                <a:solidFill>
                  <a:srgbClr val="A9A5B4"/>
                </a:solidFill>
                <a:latin typeface="Segoe UI"/>
              </a:rPr>
              <a:t>, conviene tener dólares antes que pesos → sale capital → </a:t>
            </a:r>
            <a:r>
              <a:rPr sz="1100" b="1">
                <a:solidFill>
                  <a:srgbClr val="FFFFFF"/>
                </a:solidFill>
                <a:latin typeface="Segoe UI"/>
              </a:rPr>
              <a:t>el USD/CLP sube</a:t>
            </a:r>
            <a:r>
              <a:rPr sz="1100" b="0">
                <a:solidFill>
                  <a:srgbClr val="A9A5B4"/>
                </a:solidFill>
                <a:latin typeface="Segoe UI"/>
              </a:rPr>
              <a:t> ⬆️.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Si el diferencial se estrecha a favor de Chile</a:t>
            </a:r>
            <a:r>
              <a:rPr sz="1100" b="0">
                <a:solidFill>
                  <a:srgbClr val="A9A5B4"/>
                </a:solidFill>
                <a:latin typeface="Segoe UI"/>
              </a:rPr>
              <a:t> → conviene tener pesos → entra capital → </a:t>
            </a:r>
            <a:r>
              <a:rPr sz="1100" b="1">
                <a:solidFill>
                  <a:srgbClr val="FFFFFF"/>
                </a:solidFill>
                <a:latin typeface="Segoe UI"/>
              </a:rPr>
              <a:t>el USD/CLP baja</a:t>
            </a:r>
            <a:r>
              <a:rPr sz="1100" b="0">
                <a:solidFill>
                  <a:srgbClr val="A9A5B4"/>
                </a:solidFill>
                <a:latin typeface="Segoe UI"/>
              </a:rPr>
              <a:t> ⬇️.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Consecuencia práctica:</a:t>
            </a:r>
            <a:r>
              <a:rPr sz="1100" b="0">
                <a:solidFill>
                  <a:srgbClr val="A9A5B4"/>
                </a:solidFill>
                <a:latin typeface="Segoe UI"/>
              </a:rPr>
              <a:t> el USD/CLP puede moverse fuerte </a:t>
            </a:r>
            <a:r>
              <a:rPr sz="1100" b="1">
                <a:solidFill>
                  <a:srgbClr val="FFFFFF"/>
                </a:solidFill>
                <a:latin typeface="Segoe UI"/>
              </a:rPr>
              <a:t>sin que salga ningún dato chileno</a:t>
            </a:r>
            <a:r>
              <a:rPr sz="1100" b="0">
                <a:solidFill>
                  <a:srgbClr val="A9A5B4"/>
                </a:solidFill>
                <a:latin typeface="Segoe UI"/>
              </a:rPr>
              <a:t>, solo porque cambió la expectativa sobre la tasa estadounidense.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>
                <a:solidFill>
                  <a:srgbClr val="A9A5B4"/>
                </a:solidFill>
                <a:latin typeface="Segoe UI"/>
              </a:rPr>
              <a:t>Por eso, para operar el dólar en Chile hay que seguir </a:t>
            </a:r>
            <a:r>
              <a:rPr sz="1100" b="1">
                <a:solidFill>
                  <a:srgbClr val="FFFFFF"/>
                </a:solidFill>
                <a:latin typeface="Segoe UI"/>
              </a:rPr>
              <a:t>los datos de Estados Unidos</a:t>
            </a:r>
            <a:r>
              <a:rPr sz="1100" b="0">
                <a:solidFill>
                  <a:srgbClr val="A9A5B4"/>
                </a:solidFill>
                <a:latin typeface="Segoe UI"/>
              </a:rPr>
              <a:t> con la misma atención que los locales.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Indicadores Chile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1965960"/>
            <a:ext cx="1828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00DC82"/>
                </a:solidFill>
                <a:latin typeface="Consolas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95728" y="214884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Cómo los datos deciden las tasas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1448" y="3246120"/>
            <a:ext cx="7863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450" b="0">
                <a:solidFill>
                  <a:srgbClr val="A9A5B4"/>
                </a:solidFill>
                <a:latin typeface="Segoe UI"/>
              </a:rPr>
              <a:t>Todo lo anterior converge acá. Este es el bloque que responde </a:t>
            </a:r>
            <a:r>
              <a:rPr sz="1450" b="1">
                <a:solidFill>
                  <a:srgbClr val="00DC82"/>
                </a:solidFill>
                <a:latin typeface="Segoe UI"/>
              </a:rPr>
              <a:t>por qué</a:t>
            </a:r>
            <a:r>
              <a:rPr sz="1450" b="0">
                <a:solidFill>
                  <a:srgbClr val="A9A5B4"/>
                </a:solidFill>
                <a:latin typeface="Segoe UI"/>
              </a:rPr>
              <a:t> un dato mueve el precio, y no solo </a:t>
            </a:r>
            <a:r>
              <a:rPr sz="1450" b="1">
                <a:solidFill>
                  <a:srgbClr val="00DC82"/>
                </a:solidFill>
                <a:latin typeface="Segoe UI"/>
              </a:rPr>
              <a:t>cuánto</a:t>
            </a:r>
            <a:r>
              <a:rPr sz="1450" b="0">
                <a:solidFill>
                  <a:srgbClr val="A9A5B4"/>
                </a:solidFill>
                <a:latin typeface="Segoe U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Qué es una tasa de política monetaria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Antes de conectar los datos con la tasa, hay que tener claro qué es la tasa y qué puede hacer.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15821"/>
            <a:ext cx="3454298" cy="3230626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615821"/>
            <a:ext cx="3454298" cy="3810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1816989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QUÉ 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91309"/>
            <a:ext cx="308853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El precio del dinero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94229"/>
            <a:ext cx="3088538" cy="20876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Es la tasa de referencia que fija el banco central, y de ella cuelgan todas las demás: créditos, hipotecas, depósitos.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00DC82"/>
                </a:solidFill>
                <a:latin typeface="Segoe UI"/>
              </a:rPr>
              <a:t>No la fija el mercado: la decide un comité</a:t>
            </a:r>
            <a:r>
              <a:rPr sz="1150" b="0">
                <a:solidFill>
                  <a:srgbClr val="A9A5B4"/>
                </a:solidFill>
                <a:latin typeface="Segoe UI"/>
              </a:rPr>
              <a:t>, mirando datos.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En Estados Unidos la decide el comité de la Reserva Federal, ocho veces al año. En Chile, el Consejo del Banco Central, también ocho veces.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615821"/>
            <a:ext cx="3454298" cy="3230626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68698" y="1615821"/>
            <a:ext cx="3454298" cy="381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51578" y="1816989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4C8DFF"/>
                </a:solidFill>
                <a:latin typeface="Segoe UI"/>
              </a:rPr>
              <a:t>CÓMO FUNCIONA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1578" y="2091309"/>
            <a:ext cx="308853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Enfría o calienta la demanda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1578" y="2594229"/>
            <a:ext cx="3088538" cy="20876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4C8DFF"/>
                </a:solidFill>
                <a:latin typeface="Segoe UI"/>
              </a:rPr>
              <a:t>Tasa alta</a:t>
            </a:r>
            <a:r>
              <a:rPr sz="1150" b="0">
                <a:solidFill>
                  <a:srgbClr val="A9A5B4"/>
                </a:solidFill>
                <a:latin typeface="Segoe UI"/>
              </a:rPr>
              <a:t> → el crédito se encarece → se consume e invierte menos → la demanda cae → </a:t>
            </a:r>
            <a:r>
              <a:rPr sz="1150" b="1">
                <a:solidFill>
                  <a:srgbClr val="4C8DFF"/>
                </a:solidFill>
                <a:latin typeface="Segoe UI"/>
              </a:rPr>
              <a:t>los precios dejan de subir tan rápido</a:t>
            </a:r>
            <a:r>
              <a:rPr sz="1150" b="0">
                <a:solidFill>
                  <a:srgbClr val="A9A5B4"/>
                </a:solidFill>
                <a:latin typeface="Segoe UI"/>
              </a:rPr>
              <a:t>. El costo es menos crecimiento y más desempleo.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4C8DFF"/>
                </a:solidFill>
                <a:latin typeface="Segoe UI"/>
              </a:rPr>
              <a:t>Tasa baja</a:t>
            </a:r>
            <a:r>
              <a:rPr sz="1150" b="0">
                <a:solidFill>
                  <a:srgbClr val="A9A5B4"/>
                </a:solidFill>
                <a:latin typeface="Segoe UI"/>
              </a:rPr>
              <a:t> → el crédito se abarata → se consume e invierte más → la economía se activa. El riesgo es </a:t>
            </a:r>
            <a:r>
              <a:rPr sz="1150" b="1">
                <a:solidFill>
                  <a:srgbClr val="4C8DFF"/>
                </a:solidFill>
                <a:latin typeface="Segoe UI"/>
              </a:rPr>
              <a:t>más inflación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Es un balancín: no se puede tener las dos cosas al mismo tiempo.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9028" y="1615821"/>
            <a:ext cx="3454298" cy="3230626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79028" y="1615821"/>
            <a:ext cx="3454298" cy="3810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61908" y="1816989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SU LÍMITE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1908" y="2091309"/>
            <a:ext cx="308853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Actúa con retraso y no lo controla todo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908" y="2594229"/>
            <a:ext cx="3088538" cy="20876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F5A524"/>
                </a:solidFill>
                <a:latin typeface="Segoe UI"/>
              </a:rPr>
              <a:t>Actúa con retraso:</a:t>
            </a:r>
            <a:r>
              <a:rPr sz="1150" b="0">
                <a:solidFill>
                  <a:srgbClr val="A9A5B4"/>
                </a:solidFill>
                <a:latin typeface="Segoe UI"/>
              </a:rPr>
              <a:t> una subida de tasa tarda meses en reflejarse en los precios. El banco central decide </a:t>
            </a:r>
            <a:r>
              <a:rPr sz="1150" b="1">
                <a:solidFill>
                  <a:srgbClr val="F5A524"/>
                </a:solidFill>
                <a:latin typeface="Segoe UI"/>
              </a:rPr>
              <a:t>mirando hacia adelante</a:t>
            </a:r>
            <a:r>
              <a:rPr sz="1150" b="0">
                <a:solidFill>
                  <a:srgbClr val="A9A5B4"/>
                </a:solidFill>
                <a:latin typeface="Segoe UI"/>
              </a:rPr>
              <a:t>, no el dato de hoy.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F5A524"/>
                </a:solidFill>
                <a:latin typeface="Segoe UI"/>
              </a:rPr>
              <a:t>No controla la oferta:</a:t>
            </a:r>
            <a:r>
              <a:rPr sz="1150" b="0">
                <a:solidFill>
                  <a:srgbClr val="A9A5B4"/>
                </a:solidFill>
                <a:latin typeface="Segoe UI"/>
              </a:rPr>
              <a:t> no puede bajar el precio del petróleo ni arreglar una sequía. Solo actúa sobre la demanda.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F5A524"/>
                </a:solidFill>
                <a:latin typeface="Segoe UI"/>
              </a:rPr>
              <a:t>De ahí que mire el subyacente:</a:t>
            </a:r>
            <a:r>
              <a:rPr sz="1150" b="0">
                <a:solidFill>
                  <a:srgbClr val="A9A5B4"/>
                </a:solidFill>
                <a:latin typeface="Segoe UI"/>
              </a:rPr>
              <a:t> es la parte de la inflación sobre la que su herramienta </a:t>
            </a:r>
            <a:r>
              <a:rPr sz="1150" b="1">
                <a:solidFill>
                  <a:srgbClr val="F5A524"/>
                </a:solidFill>
                <a:latin typeface="Segoe UI"/>
              </a:rPr>
              <a:t>sí</a:t>
            </a:r>
            <a:r>
              <a:rPr sz="1150" b="0">
                <a:solidFill>
                  <a:srgbClr val="A9A5B4"/>
                </a:solidFill>
                <a:latin typeface="Segoe UI"/>
              </a:rPr>
              <a:t> tiene efecto.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5047615"/>
            <a:ext cx="10874959" cy="110947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58368" y="5047615"/>
            <a:ext cx="10874959" cy="2857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8" y="5193919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POR QUÉ ESTO EXPLICA LA REACCIÓN DEL MERCADO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486527"/>
            <a:ext cx="10509199" cy="542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Como la tasa actúa con retraso, el mercado no espera la decisión: </a:t>
            </a:r>
            <a:r>
              <a:rPr sz="1200" b="1">
                <a:solidFill>
                  <a:srgbClr val="FFFFFF"/>
                </a:solidFill>
                <a:latin typeface="Segoe UI"/>
              </a:rPr>
              <a:t>cotiza la probabilidad</a:t>
            </a:r>
            <a:r>
              <a:rPr sz="1200" b="0">
                <a:solidFill>
                  <a:srgbClr val="A9A5B4"/>
                </a:solidFill>
                <a:latin typeface="Segoe UI"/>
              </a:rPr>
              <a:t> de que ocurra. Cada dato mueve esa probabilidad, y ese movimiento es lo que ves en el precio </a:t>
            </a:r>
            <a:r>
              <a:rPr sz="1200" b="1">
                <a:solidFill>
                  <a:srgbClr val="FFFFFF"/>
                </a:solidFill>
                <a:latin typeface="Segoe UI"/>
              </a:rPr>
              <a:t>el mismo día del dato</a:t>
            </a:r>
            <a:r>
              <a:rPr sz="1200" b="0">
                <a:solidFill>
                  <a:srgbClr val="A9A5B4"/>
                </a:solidFill>
                <a:latin typeface="Segoe UI"/>
              </a:rPr>
              <a:t>, meses antes de la reunión.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Política monetaria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El doble mandato, y por qué genera tensión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43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La Reserva Federal persigue </a:t>
            </a:r>
            <a:r>
              <a:rPr sz="1350" b="1">
                <a:solidFill>
                  <a:srgbClr val="00DC82"/>
                </a:solidFill>
                <a:latin typeface="Segoe UI"/>
              </a:rPr>
              <a:t>dos objetivos a la vez</a:t>
            </a:r>
            <a:r>
              <a:rPr sz="1350" b="0">
                <a:solidFill>
                  <a:srgbClr val="A9A5B4"/>
                </a:solidFill>
                <a:latin typeface="Segoe UI"/>
              </a:rPr>
              <a:t>, y a veces se contradicen. Ahí es donde la lectura de datos se vuelve interesante.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31848"/>
            <a:ext cx="3454298" cy="3480816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831848"/>
            <a:ext cx="3454298" cy="3810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2033016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MANDATO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07336"/>
            <a:ext cx="3088538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Máximo empleo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04516"/>
            <a:ext cx="3088538" cy="25435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Que haya el mayor nivel de empleo </a:t>
            </a:r>
            <a:r>
              <a:rPr sz="1150" b="1">
                <a:solidFill>
                  <a:srgbClr val="00DC82"/>
                </a:solidFill>
                <a:latin typeface="Segoe UI"/>
              </a:rPr>
              <a:t>sostenible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Se vigila con: nóminas, tasa de desempleo, participación, vacantes, peticiones de subsidio.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No hay una cifra objetivo pública, a diferencia de la inflación.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831848"/>
            <a:ext cx="3454298" cy="3480816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68698" y="1831848"/>
            <a:ext cx="3454298" cy="381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51578" y="2033016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4C8DFF"/>
                </a:solidFill>
                <a:latin typeface="Segoe UI"/>
              </a:rPr>
              <a:t>MANDATO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1578" y="2307336"/>
            <a:ext cx="3088538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Precios estables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1578" y="2604516"/>
            <a:ext cx="3088538" cy="25435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Meta explícita: </a:t>
            </a:r>
            <a:r>
              <a:rPr sz="1150" b="1">
                <a:solidFill>
                  <a:srgbClr val="4C8DFF"/>
                </a:solidFill>
                <a:latin typeface="Segoe UI"/>
              </a:rPr>
              <a:t>2% anual</a:t>
            </a:r>
            <a:r>
              <a:rPr sz="1150" b="0">
                <a:solidFill>
                  <a:srgbClr val="A9A5B4"/>
                </a:solidFill>
                <a:latin typeface="Segoe UI"/>
              </a:rPr>
              <a:t> medido en el gasto en consumo personal subyacente.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Se vigila con: PCE, IPC, IPP, salarios, expectativas de inflación.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Es el mandato </a:t>
            </a:r>
            <a:r>
              <a:rPr sz="1150" b="1">
                <a:solidFill>
                  <a:srgbClr val="4C8DFF"/>
                </a:solidFill>
                <a:latin typeface="Segoe UI"/>
              </a:rPr>
              <a:t>con número</a:t>
            </a:r>
            <a:r>
              <a:rPr sz="1150" b="0">
                <a:solidFill>
                  <a:srgbClr val="A9A5B4"/>
                </a:solidFill>
                <a:latin typeface="Segoe UI"/>
              </a:rPr>
              <a:t>, y por eso el más fácil de evaluar desde fuera.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9028" y="1831848"/>
            <a:ext cx="3454298" cy="3480816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79028" y="1831848"/>
            <a:ext cx="3454298" cy="3810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61908" y="2033016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LA TENSIÓN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1908" y="2307336"/>
            <a:ext cx="3088538" cy="20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Los dos objetivos chocan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908" y="2604516"/>
            <a:ext cx="3088538" cy="25435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Para bajar la inflación hay que enfriar la economía… y eso </a:t>
            </a:r>
            <a:r>
              <a:rPr sz="1150" b="1">
                <a:solidFill>
                  <a:srgbClr val="F5A524"/>
                </a:solidFill>
                <a:latin typeface="Segoe UI"/>
              </a:rPr>
              <a:t>destruye empleo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Para proteger el empleo hay que estimular… y eso </a:t>
            </a:r>
            <a:r>
              <a:rPr sz="1150" b="1">
                <a:solidFill>
                  <a:srgbClr val="F5A524"/>
                </a:solidFill>
                <a:latin typeface="Segoe UI"/>
              </a:rPr>
              <a:t>aviva la inflación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F5A524"/>
                </a:solidFill>
                <a:latin typeface="Segoe UI"/>
              </a:rPr>
              <a:t>Lo que hay que leer en cada dato:</a:t>
            </a:r>
            <a:r>
              <a:rPr sz="1150" b="0">
                <a:solidFill>
                  <a:srgbClr val="A9A5B4"/>
                </a:solidFill>
                <a:latin typeface="Segoe UI"/>
              </a:rPr>
              <a:t> a cuál de los dos mandatos le está hablando, y si le da al comité una razón para </a:t>
            </a:r>
            <a:r>
              <a:rPr sz="1150" b="1">
                <a:solidFill>
                  <a:srgbClr val="F5A524"/>
                </a:solidFill>
                <a:latin typeface="Segoe UI"/>
              </a:rPr>
              <a:t>apretar</a:t>
            </a:r>
            <a:r>
              <a:rPr sz="1150" b="0">
                <a:solidFill>
                  <a:srgbClr val="A9A5B4"/>
                </a:solidFill>
                <a:latin typeface="Segoe UI"/>
              </a:rPr>
              <a:t> o para </a:t>
            </a:r>
            <a:r>
              <a:rPr sz="1150" b="1">
                <a:solidFill>
                  <a:srgbClr val="F5A524"/>
                </a:solidFill>
                <a:latin typeface="Segoe UI"/>
              </a:rPr>
              <a:t>aflojar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F5A524"/>
                </a:solidFill>
                <a:latin typeface="Segoe UI"/>
              </a:rPr>
              <a:t>Comparación útil:</a:t>
            </a:r>
            <a:r>
              <a:rPr sz="1150" b="0">
                <a:solidFill>
                  <a:srgbClr val="A9A5B4"/>
                </a:solidFill>
                <a:latin typeface="Segoe UI"/>
              </a:rPr>
              <a:t> el Banco Central de Chile tiene un mandato </a:t>
            </a:r>
            <a:r>
              <a:rPr sz="1150" b="1">
                <a:solidFill>
                  <a:srgbClr val="F5A524"/>
                </a:solidFill>
                <a:latin typeface="Segoe UI"/>
              </a:rPr>
              <a:t>centrado en la inflación</a:t>
            </a:r>
            <a:r>
              <a:rPr sz="1150" b="0">
                <a:solidFill>
                  <a:srgbClr val="A9A5B4"/>
                </a:solidFill>
                <a:latin typeface="Segoe UI"/>
              </a:rPr>
              <a:t> (3%), no un doble mandato simétrico. Por eso reacciona distinto ante los mismos datos.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Política monetaria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De la lectura del dato a la dirección del precio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La tabla de síntesis. </a:t>
            </a:r>
            <a:r>
              <a:rPr sz="1350" b="1">
                <a:solidFill>
                  <a:srgbClr val="00DC82"/>
                </a:solidFill>
                <a:latin typeface="Segoe UI"/>
              </a:rPr>
              <a:t>No la memorices</a:t>
            </a:r>
            <a:r>
              <a:rPr sz="1350" b="0">
                <a:solidFill>
                  <a:srgbClr val="A9A5B4"/>
                </a:solidFill>
                <a:latin typeface="Segoe UI"/>
              </a:rPr>
              <a:t>: verifica que puedas reconstruir cada fila con la cadena de transmisión.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615821"/>
          <a:ext cx="10874956" cy="22044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12935"/>
                <a:gridCol w="2912935"/>
                <a:gridCol w="1165174"/>
                <a:gridCol w="1068076"/>
                <a:gridCol w="1456467"/>
                <a:gridCol w="1359369"/>
              </a:tblGrid>
              <a:tr h="24968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00DC82"/>
                          </a:solidFill>
                          <a:latin typeface="Segoe UI"/>
                        </a:rPr>
                        <a:t>LECTURA DEL DATO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00DC82"/>
                          </a:solidFill>
                          <a:latin typeface="Segoe UI"/>
                        </a:rPr>
                        <a:t>QUÉ IMPLICA PARA LA TASA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00DC82"/>
                          </a:solidFill>
                          <a:latin typeface="Segoe UI"/>
                        </a:rPr>
                        <a:t>DÓLAR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00DC82"/>
                          </a:solidFill>
                          <a:latin typeface="Segoe UI"/>
                        </a:rPr>
                        <a:t>ORO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00DC82"/>
                          </a:solidFill>
                          <a:latin typeface="Segoe UI"/>
                        </a:rPr>
                        <a:t>NASDAQ 100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00DC82"/>
                          </a:solidFill>
                          <a:latin typeface="Segoe UI"/>
                        </a:rPr>
                        <a:t>USD/CLP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Inflación sobre lo esperado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Tasa alta por más tiempo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Sube ⬆️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Baja ⬇️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Baja ⬇️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Sube ⬆️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Inflación bajo lo esperado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Se abre espacio a recortes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Baja ⬇️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Sube ⬆️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Sube ⬆️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Baja ⬇️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  <a:tr h="43383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Empleo muy fuerte
(régimen de inflación)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Retrasa los recortes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Sube ⬆️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Baja ⬇️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Baja ⬇️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Sube ⬆️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43383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Empleo muy débil
(régimen de recesión)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Adelanta los recortes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Baja ⬇️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Sube ⬆️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Mixto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Sube ⬆️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Actividad sobre lo esperado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Menos urgencia de estimular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Sube ⬆️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Baja ⬇️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Sube ⬆️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Sube ⬆️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Cobre o PMI de China al alza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Sin efecto directo en la Fed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Sube ⬆️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Baja ⬇️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58368" y="4021455"/>
            <a:ext cx="10874959" cy="130759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4021455"/>
            <a:ext cx="10874959" cy="2857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1248" y="4167759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LAS DOS FILAS QUE PARECEN INCONSISTENTES, Y NO LO 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460367"/>
            <a:ext cx="10509199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Con </a:t>
            </a:r>
            <a:r>
              <a:rPr sz="1200" b="1">
                <a:solidFill>
                  <a:srgbClr val="FFFFFF"/>
                </a:solidFill>
                <a:latin typeface="Segoe UI"/>
              </a:rPr>
              <a:t>empleo muy débil</a:t>
            </a:r>
            <a:r>
              <a:rPr sz="1200" b="0">
                <a:solidFill>
                  <a:srgbClr val="A9A5B4"/>
                </a:solidFill>
                <a:latin typeface="Segoe UI"/>
              </a:rPr>
              <a:t> el Nasdaq queda «mixto»: la tasa más baja lo favorece, pero una recesión daña las ganancias de las empresas. Y con </a:t>
            </a:r>
            <a:r>
              <a:rPr sz="1200" b="1">
                <a:solidFill>
                  <a:srgbClr val="FFFFFF"/>
                </a:solidFill>
                <a:latin typeface="Segoe UI"/>
              </a:rPr>
              <a:t>actividad fuerte</a:t>
            </a:r>
            <a:r>
              <a:rPr sz="1200" b="0">
                <a:solidFill>
                  <a:srgbClr val="A9A5B4"/>
                </a:solidFill>
                <a:latin typeface="Segoe UI"/>
              </a:rPr>
              <a:t> el Nasdaq sube aunque el dólar también: ahí pesa más la expectativa de mejores resultados. </a:t>
            </a:r>
            <a:r>
              <a:rPr sz="1200" b="1">
                <a:solidFill>
                  <a:srgbClr val="FFFFFF"/>
                </a:solidFill>
                <a:latin typeface="Segoe UI"/>
              </a:rPr>
              <a:t>Cuando dos fuerzas compiten, hay que decidir cuál domina — eso es interpretar.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Política monetaria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Los cuatro escenarios: crecimiento contra inflación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Cualquier combinación de datos cae en uno de estos cuatro cuadrantes. Ubicarlo es </a:t>
            </a:r>
            <a:r>
              <a:rPr sz="1350" b="1">
                <a:solidFill>
                  <a:srgbClr val="00DC82"/>
                </a:solidFill>
                <a:latin typeface="Segoe UI"/>
              </a:rPr>
              <a:t>el resumen ejecutivo</a:t>
            </a:r>
            <a:r>
              <a:rPr sz="1350" b="0">
                <a:solidFill>
                  <a:srgbClr val="A9A5B4"/>
                </a:solidFill>
                <a:latin typeface="Segoe UI"/>
              </a:rPr>
              <a:t> de tu lectura del 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15821"/>
            <a:ext cx="2526715" cy="349669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615821"/>
            <a:ext cx="2526715" cy="3810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1816989"/>
            <a:ext cx="21609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CRECE + INFLACIÓN BAJA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91309"/>
            <a:ext cx="216095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El escenario ideal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94229"/>
            <a:ext cx="2160955" cy="23536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La economía crece </a:t>
            </a:r>
            <a:r>
              <a:rPr sz="1150" b="1">
                <a:solidFill>
                  <a:srgbClr val="00DC82"/>
                </a:solidFill>
                <a:latin typeface="Segoe UI"/>
              </a:rPr>
              <a:t>sin</a:t>
            </a:r>
            <a:r>
              <a:rPr sz="1150" b="0">
                <a:solidFill>
                  <a:srgbClr val="A9A5B4"/>
                </a:solidFill>
                <a:latin typeface="Segoe UI"/>
              </a:rPr>
              <a:t> generar presión de precios. Se le llama «ricitos de oro»: ni muy caliente ni muy frío.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El banco central puede </a:t>
            </a:r>
            <a:r>
              <a:rPr sz="1150" b="1">
                <a:solidFill>
                  <a:srgbClr val="00DC82"/>
                </a:solidFill>
                <a:latin typeface="Segoe UI"/>
              </a:rPr>
              <a:t>recortar sin riesgo</a:t>
            </a:r>
            <a:r>
              <a:rPr sz="11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00DC82"/>
                </a:solidFill>
                <a:latin typeface="Segoe UI"/>
              </a:rPr>
              <a:t>Bolsas:</a:t>
            </a:r>
            <a:r>
              <a:rPr sz="1150" b="0">
                <a:solidFill>
                  <a:srgbClr val="A9A5B4"/>
                </a:solidFill>
                <a:latin typeface="Segoe UI"/>
              </a:rPr>
              <a:t> el mejor de los escenarios ⬆️⬆️.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00DC82"/>
                </a:solidFill>
                <a:latin typeface="Segoe UI"/>
              </a:rPr>
              <a:t>Dólar:</a:t>
            </a:r>
            <a:r>
              <a:rPr sz="1150" b="0">
                <a:solidFill>
                  <a:srgbClr val="A9A5B4"/>
                </a:solidFill>
                <a:latin typeface="Segoe UI"/>
              </a:rPr>
              <a:t> tiende a debilitarse ⬇️. </a:t>
            </a:r>
            <a:r>
              <a:rPr sz="1150" b="1">
                <a:solidFill>
                  <a:srgbClr val="00DC82"/>
                </a:solidFill>
                <a:latin typeface="Segoe UI"/>
              </a:rPr>
              <a:t>Oro:</a:t>
            </a:r>
            <a:r>
              <a:rPr sz="1150" b="0">
                <a:solidFill>
                  <a:srgbClr val="A9A5B4"/>
                </a:solidFill>
                <a:latin typeface="Segoe UI"/>
              </a:rPr>
              <a:t> sube ⬆️. </a:t>
            </a:r>
            <a:r>
              <a:rPr sz="1150" b="1">
                <a:solidFill>
                  <a:srgbClr val="00DC82"/>
                </a:solidFill>
                <a:latin typeface="Segoe UI"/>
              </a:rPr>
              <a:t>USD/CLP:</a:t>
            </a:r>
            <a:r>
              <a:rPr sz="1150" b="0">
                <a:solidFill>
                  <a:srgbClr val="A9A5B4"/>
                </a:solidFill>
                <a:latin typeface="Segoe UI"/>
              </a:rPr>
              <a:t> baja ⬇️.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1115" y="1615821"/>
            <a:ext cx="2526715" cy="349669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441115" y="1615821"/>
            <a:ext cx="2526715" cy="3810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23995" y="1816989"/>
            <a:ext cx="21609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CRECE + INFLACIÓN ALTA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3995" y="2091309"/>
            <a:ext cx="216095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Economía recalentada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3995" y="2594229"/>
            <a:ext cx="2160955" cy="23536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La demanda supera a la oferta y empuja los precios.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El banco central debe </a:t>
            </a:r>
            <a:r>
              <a:rPr sz="1150" b="1">
                <a:solidFill>
                  <a:srgbClr val="F5A524"/>
                </a:solidFill>
                <a:latin typeface="Segoe UI"/>
              </a:rPr>
              <a:t>apretar</a:t>
            </a:r>
            <a:r>
              <a:rPr sz="1150" b="0">
                <a:solidFill>
                  <a:srgbClr val="A9A5B4"/>
                </a:solidFill>
                <a:latin typeface="Segoe UI"/>
              </a:rPr>
              <a:t>: subir la tasa o mantenerla alta más tiempo.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F5A524"/>
                </a:solidFill>
                <a:latin typeface="Segoe UI"/>
              </a:rPr>
              <a:t>Bolsas:</a:t>
            </a:r>
            <a:r>
              <a:rPr sz="1150" b="0">
                <a:solidFill>
                  <a:srgbClr val="A9A5B4"/>
                </a:solidFill>
                <a:latin typeface="Segoe UI"/>
              </a:rPr>
              <a:t> bajo presión ⬇️, aunque las ganancias sean buenas.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F5A524"/>
                </a:solidFill>
                <a:latin typeface="Segoe UI"/>
              </a:rPr>
              <a:t>Dólar:</a:t>
            </a:r>
            <a:r>
              <a:rPr sz="1150" b="0">
                <a:solidFill>
                  <a:srgbClr val="A9A5B4"/>
                </a:solidFill>
                <a:latin typeface="Segoe UI"/>
              </a:rPr>
              <a:t> se fortalece ⬆️. </a:t>
            </a:r>
            <a:r>
              <a:rPr sz="1150" b="1">
                <a:solidFill>
                  <a:srgbClr val="F5A524"/>
                </a:solidFill>
                <a:latin typeface="Segoe UI"/>
              </a:rPr>
              <a:t>Oro:</a:t>
            </a:r>
            <a:r>
              <a:rPr sz="1150" b="0">
                <a:solidFill>
                  <a:srgbClr val="A9A5B4"/>
                </a:solidFill>
                <a:latin typeface="Segoe UI"/>
              </a:rPr>
              <a:t> baja ⬇️. </a:t>
            </a:r>
            <a:r>
              <a:rPr sz="1150" b="1">
                <a:solidFill>
                  <a:srgbClr val="F5A524"/>
                </a:solidFill>
                <a:latin typeface="Segoe UI"/>
              </a:rPr>
              <a:t>USD/CLP:</a:t>
            </a:r>
            <a:r>
              <a:rPr sz="1150" b="0">
                <a:solidFill>
                  <a:srgbClr val="A9A5B4"/>
                </a:solidFill>
                <a:latin typeface="Segoe UI"/>
              </a:rPr>
              <a:t> sube ⬆️.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3863" y="1615821"/>
            <a:ext cx="2526715" cy="349669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23863" y="1615821"/>
            <a:ext cx="2526715" cy="381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6743" y="1816989"/>
            <a:ext cx="21609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4C8DFF"/>
                </a:solidFill>
                <a:latin typeface="Segoe UI"/>
              </a:rPr>
              <a:t>SE CONTRAE + INFLACIÓN BAJA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6743" y="2091309"/>
            <a:ext cx="216095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Recesión con desinflación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6743" y="2594229"/>
            <a:ext cx="2160955" cy="23536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La actividad cae y arrastra los precios con ella.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El banco central </a:t>
            </a:r>
            <a:r>
              <a:rPr sz="1150" b="1">
                <a:solidFill>
                  <a:srgbClr val="4C8DFF"/>
                </a:solidFill>
                <a:latin typeface="Segoe UI"/>
              </a:rPr>
              <a:t>recorta rápido</a:t>
            </a:r>
            <a:r>
              <a:rPr sz="1150" b="0">
                <a:solidFill>
                  <a:srgbClr val="A9A5B4"/>
                </a:solidFill>
                <a:latin typeface="Segoe UI"/>
              </a:rPr>
              <a:t> para reactivar.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4C8DFF"/>
                </a:solidFill>
                <a:latin typeface="Segoe UI"/>
              </a:rPr>
              <a:t>Bolsas:</a:t>
            </a:r>
            <a:r>
              <a:rPr sz="1150" b="0">
                <a:solidFill>
                  <a:srgbClr val="A9A5B4"/>
                </a:solidFill>
                <a:latin typeface="Segoe UI"/>
              </a:rPr>
              <a:t> primero caen por las ganancias, luego suben por la tasa. Secuencia en dos tiempos.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4C8DFF"/>
                </a:solidFill>
                <a:latin typeface="Segoe UI"/>
              </a:rPr>
              <a:t>Dólar:</a:t>
            </a:r>
            <a:r>
              <a:rPr sz="1150" b="0">
                <a:solidFill>
                  <a:srgbClr val="A9A5B4"/>
                </a:solidFill>
                <a:latin typeface="Segoe UI"/>
              </a:rPr>
              <a:t> baja ⬇️, aunque puede subir por refugio. </a:t>
            </a:r>
            <a:r>
              <a:rPr sz="1150" b="1">
                <a:solidFill>
                  <a:srgbClr val="4C8DFF"/>
                </a:solidFill>
                <a:latin typeface="Segoe UI"/>
              </a:rPr>
              <a:t>Oro:</a:t>
            </a:r>
            <a:r>
              <a:rPr sz="1150" b="0">
                <a:solidFill>
                  <a:srgbClr val="A9A5B4"/>
                </a:solidFill>
                <a:latin typeface="Segoe UI"/>
              </a:rPr>
              <a:t> sube ⬆️. </a:t>
            </a:r>
            <a:r>
              <a:rPr sz="1150" b="1">
                <a:solidFill>
                  <a:srgbClr val="4C8DFF"/>
                </a:solidFill>
                <a:latin typeface="Segoe UI"/>
              </a:rPr>
              <a:t>USD/CLP:</a:t>
            </a:r>
            <a:r>
              <a:rPr sz="1150" b="0">
                <a:solidFill>
                  <a:srgbClr val="A9A5B4"/>
                </a:solidFill>
                <a:latin typeface="Segoe UI"/>
              </a:rPr>
              <a:t> sube ⬆️ por aversión al riesgo.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611" y="1615821"/>
            <a:ext cx="2526715" cy="349669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9006611" y="1615821"/>
            <a:ext cx="2526715" cy="38100"/>
          </a:xfrm>
          <a:prstGeom prst="rect">
            <a:avLst/>
          </a:prstGeom>
          <a:solidFill>
            <a:srgbClr val="E8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89491" y="1816989"/>
            <a:ext cx="21609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E84040"/>
                </a:solidFill>
                <a:latin typeface="Segoe UI"/>
              </a:rPr>
              <a:t>SE CONTRAE + INFLACIÓN ALTA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491" y="2091309"/>
            <a:ext cx="216095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Estanflación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491" y="2594229"/>
            <a:ext cx="2160955" cy="23536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5B4"/>
                </a:solidFill>
                <a:latin typeface="Segoe UI"/>
              </a:rPr>
              <a:t>El peor cuadrante: actividad débil </a:t>
            </a:r>
            <a:r>
              <a:rPr sz="1150" b="1">
                <a:solidFill>
                  <a:srgbClr val="E84040"/>
                </a:solidFill>
                <a:latin typeface="Segoe UI"/>
              </a:rPr>
              <a:t>y</a:t>
            </a:r>
            <a:r>
              <a:rPr sz="1150" b="0">
                <a:solidFill>
                  <a:srgbClr val="A9A5B4"/>
                </a:solidFill>
                <a:latin typeface="Segoe UI"/>
              </a:rPr>
              <a:t> precios altos.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0">
                <a:solidFill>
                  <a:srgbClr val="A9A5B4"/>
                </a:solidFill>
                <a:latin typeface="Segoe UI"/>
              </a:rPr>
              <a:t>El banco central queda </a:t>
            </a:r>
            <a:r>
              <a:rPr sz="1150" b="1">
                <a:solidFill>
                  <a:srgbClr val="E84040"/>
                </a:solidFill>
                <a:latin typeface="Segoe UI"/>
              </a:rPr>
              <a:t>atrapado</a:t>
            </a:r>
            <a:r>
              <a:rPr sz="1150" b="0">
                <a:solidFill>
                  <a:srgbClr val="A9A5B4"/>
                </a:solidFill>
                <a:latin typeface="Segoe UI"/>
              </a:rPr>
              <a:t>: si recorta, aviva la inflación; si sube, profundiza la recesión.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E84040"/>
                </a:solidFill>
                <a:latin typeface="Segoe UI"/>
              </a:rPr>
              <a:t>Bolsas:</a:t>
            </a:r>
            <a:r>
              <a:rPr sz="1150" b="0">
                <a:solidFill>
                  <a:srgbClr val="A9A5B4"/>
                </a:solidFill>
                <a:latin typeface="Segoe UI"/>
              </a:rPr>
              <a:t> el peor escenario ⬇️⬇️.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50" b="1">
                <a:solidFill>
                  <a:srgbClr val="E84040"/>
                </a:solidFill>
                <a:latin typeface="Segoe UI"/>
              </a:rPr>
              <a:t>Oro:</a:t>
            </a:r>
            <a:r>
              <a:rPr sz="1150" b="0">
                <a:solidFill>
                  <a:srgbClr val="A9A5B4"/>
                </a:solidFill>
                <a:latin typeface="Segoe UI"/>
              </a:rPr>
              <a:t> suele ser el gran beneficiado ⬆️⬆️, por refugio. </a:t>
            </a:r>
            <a:r>
              <a:rPr sz="1150" b="1">
                <a:solidFill>
                  <a:srgbClr val="E84040"/>
                </a:solidFill>
                <a:latin typeface="Segoe UI"/>
              </a:rPr>
              <a:t>USD/CLP:</a:t>
            </a:r>
            <a:r>
              <a:rPr sz="1150" b="0">
                <a:solidFill>
                  <a:srgbClr val="A9A5B4"/>
                </a:solidFill>
                <a:latin typeface="Segoe UI"/>
              </a:rPr>
              <a:t> sube ⬆️.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Política monetaria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El camino a la decisión: cómo se arma el escenario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La idea que hay que transmitirle al cliente: </a:t>
            </a:r>
            <a:r>
              <a:rPr sz="1350" b="1">
                <a:solidFill>
                  <a:srgbClr val="00DC82"/>
                </a:solidFill>
                <a:latin typeface="Segoe UI"/>
              </a:rPr>
              <a:t>cada dato es una pieza de un rompecabezas</a:t>
            </a:r>
            <a:r>
              <a:rPr sz="1350" b="0">
                <a:solidFill>
                  <a:srgbClr val="A9A5B4"/>
                </a:solidFill>
                <a:latin typeface="Segoe UI"/>
              </a:rPr>
              <a:t> que se completa el día de la reunión.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79829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615821"/>
            <a:ext cx="1071036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El mercado no espera la reunión: cotiza su probabilidad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52295"/>
            <a:ext cx="1071036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Existe un mercado de futuros donde se transa la expectativa de tasa. De ahí salen las frases del tipo «el mercado asigna 70% de probabilidad a un recorte».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469007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2404999"/>
            <a:ext cx="1071036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Cada dato mueve esa probabilidad, y la probabilidad mueve el precio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41473"/>
            <a:ext cx="1071036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Un IPC alto puede bajar la probabilidad de recorte de 70% a 40%. Ese cambio </a:t>
            </a:r>
            <a:r>
              <a:rPr sz="1250" b="1">
                <a:solidFill>
                  <a:srgbClr val="00DC82"/>
                </a:solidFill>
                <a:latin typeface="Segoe UI"/>
              </a:rPr>
              <a:t>es</a:t>
            </a:r>
            <a:r>
              <a:rPr sz="1250" b="0">
                <a:solidFill>
                  <a:srgbClr val="A9A5B4"/>
                </a:solidFill>
                <a:latin typeface="Segoe UI"/>
              </a:rPr>
              <a:t> el movimiento del dólar de ese día. No hay que esperar la reunión para verlo.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58185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3194177"/>
            <a:ext cx="1071036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Por eso el orden del mes importa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30651"/>
            <a:ext cx="1071036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Los primeros datos </a:t>
            </a:r>
            <a:r>
              <a:rPr sz="1250" b="1">
                <a:solidFill>
                  <a:srgbClr val="00DC82"/>
                </a:solidFill>
                <a:latin typeface="Segoe UI"/>
              </a:rPr>
              <a:t>instalan</a:t>
            </a:r>
            <a:r>
              <a:rPr sz="1250" b="0">
                <a:solidFill>
                  <a:srgbClr val="A9A5B4"/>
                </a:solidFill>
                <a:latin typeface="Segoe UI"/>
              </a:rPr>
              <a:t> una hipótesis; los siguientes la confirman o la desmienten. Un IPC alto tras un empleo débil pesa distinto que tras un empleo fuerte.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047363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" y="3983355"/>
            <a:ext cx="1071036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Y por eso el comunicado puede mover más que la decisión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19829"/>
            <a:ext cx="1071036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Si la decisión ya estaba descontada al 95%, no queda sorpresa en ella. La sorpresa está en </a:t>
            </a:r>
            <a:r>
              <a:rPr sz="1250" b="1">
                <a:solidFill>
                  <a:srgbClr val="00DC82"/>
                </a:solidFill>
                <a:latin typeface="Segoe UI"/>
              </a:rPr>
              <a:t>lo que se dice sobre lo que viene</a:t>
            </a:r>
            <a:r>
              <a:rPr sz="1250" b="0">
                <a:solidFill>
                  <a:srgbClr val="A9A5B4"/>
                </a:solidFill>
                <a:latin typeface="Segoe UI"/>
              </a:rPr>
              <a:t>: es el mismo principio de «ya está en el precio», aplicado a las palabras.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937125"/>
            <a:ext cx="10874959" cy="112598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58368" y="4937125"/>
            <a:ext cx="10874959" cy="28575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1248" y="5083429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LA FRASE PARA EL CLIENTE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376037"/>
            <a:ext cx="10509199" cy="559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«Los datos económicos son piezas que van armando el camino hacia la decisión de tasas. Por eso los seguimos uno por uno: cuando llega el día de la reunión, el mercado ya se movió.»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Política monetaria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1965960"/>
            <a:ext cx="1828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4C8DFF"/>
                </a:solidFill>
                <a:latin typeface="Consolas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95728" y="214884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Contexto 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1448" y="3246120"/>
            <a:ext cx="7863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450" b="0">
                <a:solidFill>
                  <a:srgbClr val="A9A5B4"/>
                </a:solidFill>
                <a:latin typeface="Segoe UI"/>
              </a:rPr>
              <a:t>Dos referencias que no son datos de un país, sino </a:t>
            </a:r>
            <a:r>
              <a:rPr sz="1450" b="1">
                <a:solidFill>
                  <a:srgbClr val="4C8DFF"/>
                </a:solidFill>
                <a:latin typeface="Segoe UI"/>
              </a:rPr>
              <a:t>termómetros del sistema</a:t>
            </a:r>
            <a:r>
              <a:rPr sz="1450" b="0">
                <a:solidFill>
                  <a:srgbClr val="A9A5B4"/>
                </a:solidFill>
                <a:latin typeface="Segoe UI"/>
              </a:rPr>
              <a:t>: el índice del dólar y la actividad de China.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1">
                <a:solidFill>
                  <a:srgbClr val="4C8DFF"/>
                </a:solidFill>
                <a:latin typeface="Segoe UI"/>
              </a:rPr>
              <a:t>FICHA DEL INDICADOR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Índice del dólar (Dollar Index o DXY)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3490"/>
            <a:ext cx="960120" cy="3175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43637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No es un dato económico: es </a:t>
            </a:r>
            <a:r>
              <a:rPr sz="1350" b="1">
                <a:solidFill>
                  <a:srgbClr val="4C8DFF"/>
                </a:solidFill>
                <a:latin typeface="Segoe UI"/>
              </a:rPr>
              <a:t>un precio</a:t>
            </a:r>
            <a:r>
              <a:rPr sz="1350" b="0">
                <a:solidFill>
                  <a:srgbClr val="A9A5B4"/>
                </a:solidFill>
                <a:latin typeface="Segoe UI"/>
              </a:rPr>
              <a:t>. Y es la variable que conecta todo lo que operamos.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58368" y="1890141"/>
            <a:ext cx="28575" cy="566928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QUÉ 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El valor del dólar contra una canasta de monedas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5687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445687" y="1890141"/>
            <a:ext cx="28575" cy="566928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591991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CUÁNTAS MONEDAS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1991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Seis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33007" y="1890141"/>
            <a:ext cx="28575" cy="566928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79311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REFERENCIA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9311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Base 100 = valor de la canasta en 1973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20327" y="1890141"/>
            <a:ext cx="2512999" cy="56692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20327" y="1890141"/>
            <a:ext cx="28575" cy="566928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66631" y="1972437"/>
            <a:ext cx="2275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>
                <a:solidFill>
                  <a:srgbClr val="6E6A7C"/>
                </a:solidFill>
                <a:latin typeface="Segoe UI"/>
              </a:rPr>
              <a:t>COTIZA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631" y="2155317"/>
            <a:ext cx="22752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En continuo, no en publicaciones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2694813"/>
            <a:ext cx="5300319" cy="339547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58368" y="2694813"/>
            <a:ext cx="5300319" cy="28575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1248" y="2841117"/>
            <a:ext cx="4934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4C8DFF"/>
                </a:solidFill>
                <a:latin typeface="Segoe UI"/>
              </a:rPr>
              <a:t>CÓMO ESTÁ CONSTRUIDO, Y QUÉ IMPLICA ESA CONSTRUCCIÓN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133725"/>
            <a:ext cx="4934559" cy="2828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Mide el dólar contra seis monedas, con pesos </a:t>
            </a:r>
            <a:r>
              <a:rPr sz="1200" b="1">
                <a:solidFill>
                  <a:srgbClr val="FFFFFF"/>
                </a:solidFill>
                <a:latin typeface="Segoe UI"/>
              </a:rPr>
              <a:t>muy desiguales</a:t>
            </a:r>
            <a:r>
              <a:rPr sz="1200" b="0">
                <a:solidFill>
                  <a:srgbClr val="A9A5B4"/>
                </a:solidFill>
                <a:latin typeface="Segoe UI"/>
              </a:rPr>
              <a:t>: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Euro: cerca del 58%.</a:t>
            </a:r>
            <a:r>
              <a:rPr sz="1200" b="0">
                <a:solidFill>
                  <a:srgbClr val="A9A5B4"/>
                </a:solidFill>
                <a:latin typeface="Segoe UI"/>
              </a:rPr>
              <a:t> Yen japonés: 14%. Libra esterlina: 12%. Dólar canadiense: 9%. Corona sueca: 4%. Franco suizo: 4%.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Consecuencia crítica:</a:t>
            </a:r>
            <a:r>
              <a:rPr sz="1200" b="0">
                <a:solidFill>
                  <a:srgbClr val="A9A5B4"/>
                </a:solidFill>
                <a:latin typeface="Segoe UI"/>
              </a:rPr>
              <a:t> el índice es, en la práctica, </a:t>
            </a:r>
            <a:r>
              <a:rPr sz="1200" b="1">
                <a:solidFill>
                  <a:srgbClr val="FFFFFF"/>
                </a:solidFill>
                <a:latin typeface="Segoe UI"/>
              </a:rPr>
              <a:t>tres cuartas partes Europa</a:t>
            </a:r>
            <a:r>
              <a:rPr sz="1200" b="0">
                <a:solidFill>
                  <a:srgbClr val="A9A5B4"/>
                </a:solidFill>
                <a:latin typeface="Segoe UI"/>
              </a:rPr>
              <a:t>. Cuando sube, muchas veces lo que ocurrió es que </a:t>
            </a:r>
            <a:r>
              <a:rPr sz="1200" b="1">
                <a:solidFill>
                  <a:srgbClr val="FFFFFF"/>
                </a:solidFill>
                <a:latin typeface="Segoe UI"/>
              </a:rPr>
              <a:t>el euro se debilitó</a:t>
            </a:r>
            <a:r>
              <a:rPr sz="1200" b="0">
                <a:solidFill>
                  <a:srgbClr val="A9A5B4"/>
                </a:solidFill>
                <a:latin typeface="Segoe UI"/>
              </a:rPr>
              <a:t>, no que el dólar se fortaleciera frente a todo.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Y lo que NO incluye:</a:t>
            </a:r>
            <a:r>
              <a:rPr sz="1200" b="0">
                <a:solidFill>
                  <a:srgbClr val="A9A5B4"/>
                </a:solidFill>
                <a:latin typeface="Segoe UI"/>
              </a:rPr>
              <a:t> el yuan chino, el peso mexicano, el real brasileño, el peso chileno. Ninguna moneda emergente.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Por eso puede subir mientras el dólar </a:t>
            </a:r>
            <a:r>
              <a:rPr sz="1200" b="1">
                <a:solidFill>
                  <a:srgbClr val="FFFFFF"/>
                </a:solidFill>
                <a:latin typeface="Segoe UI"/>
              </a:rPr>
              <a:t>cae</a:t>
            </a:r>
            <a:r>
              <a:rPr sz="1200" b="0">
                <a:solidFill>
                  <a:srgbClr val="A9A5B4"/>
                </a:solidFill>
                <a:latin typeface="Segoe UI"/>
              </a:rPr>
              <a:t> frente a las monedas de América Latina. No es una contradicción: mide otra cosa.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2694813"/>
            <a:ext cx="5300319" cy="3395471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33007" y="2694813"/>
            <a:ext cx="5300319" cy="28575"/>
          </a:xfrm>
          <a:prstGeom prst="rect">
            <a:avLst/>
          </a:prstGeom>
          <a:solidFill>
            <a:srgbClr val="A9A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15887" y="2841117"/>
            <a:ext cx="4934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A9A5B4"/>
                </a:solidFill>
                <a:latin typeface="Segoe UI"/>
              </a:rPr>
              <a:t>CÓMO SE INTERPRETA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5887" y="3133725"/>
            <a:ext cx="4934559" cy="2828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Lo que importa es la dirección, no el nivel:</a:t>
            </a:r>
            <a:r>
              <a:rPr sz="1200" b="0">
                <a:solidFill>
                  <a:srgbClr val="A9A5B4"/>
                </a:solidFill>
                <a:latin typeface="Segoe UI"/>
              </a:rPr>
              <a:t> el 100 es un valor histórico de referencia, no una frontera con significado.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La regla del espejo:</a:t>
            </a:r>
            <a:r>
              <a:rPr sz="1200" b="0">
                <a:solidFill>
                  <a:srgbClr val="A9A5B4"/>
                </a:solidFill>
                <a:latin typeface="Segoe UI"/>
              </a:rPr>
              <a:t> casi todo lo que operamos se cotiza en dólares, así que si el dólar vale más, se necesitan </a:t>
            </a:r>
            <a:r>
              <a:rPr sz="1200" b="1">
                <a:solidFill>
                  <a:srgbClr val="FFFFFF"/>
                </a:solidFill>
                <a:latin typeface="Segoe UI"/>
              </a:rPr>
              <a:t>menos</a:t>
            </a:r>
            <a:r>
              <a:rPr sz="1200" b="0">
                <a:solidFill>
                  <a:srgbClr val="A9A5B4"/>
                </a:solidFill>
                <a:latin typeface="Segoe UI"/>
              </a:rPr>
              <a:t> dólares por unidad de activo.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DXY sube</a:t>
            </a:r>
            <a:r>
              <a:rPr sz="1200" b="0">
                <a:solidFill>
                  <a:srgbClr val="A9A5B4"/>
                </a:solidFill>
                <a:latin typeface="Segoe UI"/>
              </a:rPr>
              <a:t> → oro baja ⬇️, petróleo baja ⬇️, cobre baja ⬇️, USD/CLP sube ⬆️, monedas emergentes se debilitan.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DXY baja</a:t>
            </a:r>
            <a:r>
              <a:rPr sz="1200" b="0">
                <a:solidFill>
                  <a:srgbClr val="A9A5B4"/>
                </a:solidFill>
                <a:latin typeface="Segoe UI"/>
              </a:rPr>
              <a:t> → exactamente lo contrario.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Cuándo la regla se rompe:</a:t>
            </a:r>
            <a:r>
              <a:rPr sz="1200" b="0">
                <a:solidFill>
                  <a:srgbClr val="A9A5B4"/>
                </a:solidFill>
                <a:latin typeface="Segoe UI"/>
              </a:rPr>
              <a:t> en episodios de pánico, el dólar y el oro </a:t>
            </a:r>
            <a:r>
              <a:rPr sz="1200" b="1">
                <a:solidFill>
                  <a:srgbClr val="FFFFFF"/>
                </a:solidFill>
                <a:latin typeface="Segoe UI"/>
              </a:rPr>
              <a:t>suben juntos</a:t>
            </a:r>
            <a:r>
              <a:rPr sz="1200" b="0">
                <a:solidFill>
                  <a:srgbClr val="A9A5B4"/>
                </a:solidFill>
                <a:latin typeface="Segoe UI"/>
              </a:rPr>
              <a:t>, porque los dos son refugio. Ahí no manda la mecánica del tipo de cambio, sino el flujo hacia la seguridad. </a:t>
            </a:r>
            <a:r>
              <a:rPr sz="1200" b="1">
                <a:solidFill>
                  <a:srgbClr val="FFFFFF"/>
                </a:solidFill>
                <a:latin typeface="Segoe UI"/>
              </a:rPr>
              <a:t>Reconocer cuándo estás en ese régimen es parte de interpretar bien.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Contexto global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PMI de China: por qué hay dos y qué dice su diferencia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43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Ya sabes leer un índice de difusión. Lo que hay que entender acá es </a:t>
            </a:r>
            <a:r>
              <a:rPr sz="1350" b="1">
                <a:solidFill>
                  <a:srgbClr val="4C8DFF"/>
                </a:solidFill>
                <a:latin typeface="Segoe UI"/>
              </a:rPr>
              <a:t>por qué se publican dos versiones</a:t>
            </a:r>
            <a:r>
              <a:rPr sz="1350" b="0">
                <a:solidFill>
                  <a:srgbClr val="A9A5B4"/>
                </a:solidFill>
                <a:latin typeface="Segoe UI"/>
              </a:rPr>
              <a:t> y qué información hay en el contraste.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31848"/>
            <a:ext cx="3454298" cy="3154807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831848"/>
            <a:ext cx="3454298" cy="38100"/>
          </a:xfrm>
          <a:prstGeom prst="rect">
            <a:avLst/>
          </a:prstGeom>
          <a:solidFill>
            <a:srgbClr val="E8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2033016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E84040"/>
                </a:solidFill>
                <a:latin typeface="Segoe UI"/>
              </a:rPr>
              <a:t>VERSIÓN OFICIAL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07336"/>
            <a:ext cx="308853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PMI de la Oficina Nacional de Estadísticas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55392"/>
            <a:ext cx="3088538" cy="20666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A9A5B4"/>
                </a:solidFill>
                <a:latin typeface="Segoe UI"/>
              </a:rPr>
              <a:t>Lo publica </a:t>
            </a:r>
            <a:r>
              <a:rPr sz="950" b="1">
                <a:solidFill>
                  <a:srgbClr val="E84040"/>
                </a:solidFill>
                <a:latin typeface="Segoe UI"/>
              </a:rPr>
              <a:t>el Estado chino</a:t>
            </a:r>
            <a:r>
              <a:rPr sz="9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50" b="0">
                <a:solidFill>
                  <a:srgbClr val="A9A5B4"/>
                </a:solidFill>
                <a:latin typeface="Segoe UI"/>
              </a:rPr>
              <a:t>Su muestra se concentra en </a:t>
            </a:r>
            <a:r>
              <a:rPr sz="950" b="1">
                <a:solidFill>
                  <a:srgbClr val="E84040"/>
                </a:solidFill>
                <a:latin typeface="Segoe UI"/>
              </a:rPr>
              <a:t>empresas grandes y estatales</a:t>
            </a:r>
            <a:r>
              <a:rPr sz="9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50" b="0">
                <a:solidFill>
                  <a:srgbClr val="A9A5B4"/>
                </a:solidFill>
                <a:latin typeface="Segoe UI"/>
              </a:rPr>
              <a:t>Sale a fin de mes o el día 1, a las </a:t>
            </a:r>
            <a:r>
              <a:rPr sz="950" b="1">
                <a:solidFill>
                  <a:srgbClr val="E84040"/>
                </a:solidFill>
                <a:latin typeface="Segoe UI"/>
              </a:rPr>
              <a:t>21:30 de Chile</a:t>
            </a:r>
            <a:r>
              <a:rPr sz="9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50" b="0">
                <a:solidFill>
                  <a:srgbClr val="A9A5B4"/>
                </a:solidFill>
                <a:latin typeface="Segoe UI"/>
              </a:rPr>
              <a:t>Refleja bien el efecto del </a:t>
            </a:r>
            <a:r>
              <a:rPr sz="950" b="1">
                <a:solidFill>
                  <a:srgbClr val="E84040"/>
                </a:solidFill>
                <a:latin typeface="Segoe UI"/>
              </a:rPr>
              <a:t>estímulo público</a:t>
            </a:r>
            <a:r>
              <a:rPr sz="950" b="0">
                <a:solidFill>
                  <a:srgbClr val="A9A5B4"/>
                </a:solidFill>
                <a:latin typeface="Segoe UI"/>
              </a:rPr>
              <a:t>, que llega primero a las empresas grandes.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831848"/>
            <a:ext cx="3454298" cy="3154807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68698" y="1831848"/>
            <a:ext cx="3454298" cy="3810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51578" y="2033016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VERSIÓN PRIVADA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1578" y="2307336"/>
            <a:ext cx="308853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PMI Caixin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1578" y="2755392"/>
            <a:ext cx="3088538" cy="20666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A9A5B4"/>
                </a:solidFill>
                <a:latin typeface="Segoe UI"/>
              </a:rPr>
              <a:t>Lo publica un medio financiero privado.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50" b="0">
                <a:solidFill>
                  <a:srgbClr val="A9A5B4"/>
                </a:solidFill>
                <a:latin typeface="Segoe UI"/>
              </a:rPr>
              <a:t>Su muestra se concentra en </a:t>
            </a:r>
            <a:r>
              <a:rPr sz="950" b="1">
                <a:solidFill>
                  <a:srgbClr val="F5A524"/>
                </a:solidFill>
                <a:latin typeface="Segoe UI"/>
              </a:rPr>
              <a:t>empresas medianas, pequeñas y exportadoras</a:t>
            </a:r>
            <a:r>
              <a:rPr sz="9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50" b="0">
                <a:solidFill>
                  <a:srgbClr val="A9A5B4"/>
                </a:solidFill>
                <a:latin typeface="Segoe UI"/>
              </a:rPr>
              <a:t>Sale uno o dos días después, a las </a:t>
            </a:r>
            <a:r>
              <a:rPr sz="950" b="1">
                <a:solidFill>
                  <a:srgbClr val="F5A524"/>
                </a:solidFill>
                <a:latin typeface="Segoe UI"/>
              </a:rPr>
              <a:t>21:45 de Chile</a:t>
            </a:r>
            <a:r>
              <a:rPr sz="9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50" b="0">
                <a:solidFill>
                  <a:srgbClr val="A9A5B4"/>
                </a:solidFill>
                <a:latin typeface="Segoe UI"/>
              </a:rPr>
              <a:t>Refleja mejor la </a:t>
            </a:r>
            <a:r>
              <a:rPr sz="950" b="1">
                <a:solidFill>
                  <a:srgbClr val="F5A524"/>
                </a:solidFill>
                <a:latin typeface="Segoe UI"/>
              </a:rPr>
              <a:t>demanda real de mercado</a:t>
            </a:r>
            <a:r>
              <a:rPr sz="950" b="0">
                <a:solidFill>
                  <a:srgbClr val="A9A5B4"/>
                </a:solidFill>
                <a:latin typeface="Segoe UI"/>
              </a:rPr>
              <a:t> y el pulso exportador.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9028" y="1831848"/>
            <a:ext cx="3454298" cy="3154807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79028" y="1831848"/>
            <a:ext cx="3454298" cy="3810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61908" y="2033016"/>
            <a:ext cx="30885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LA LECTURA CONJUNTA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1908" y="2307336"/>
            <a:ext cx="3088538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El contraste es la información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908" y="2755392"/>
            <a:ext cx="3088538" cy="20666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Los dos sobre 50</a:t>
            </a:r>
            <a:r>
              <a:rPr sz="950" b="0">
                <a:solidFill>
                  <a:srgbClr val="A9A5B4"/>
                </a:solidFill>
                <a:latin typeface="Segoe UI"/>
              </a:rPr>
              <a:t> → expansión amplia y creíble.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50" b="1">
                <a:solidFill>
                  <a:srgbClr val="00DC82"/>
                </a:solidFill>
                <a:latin typeface="Segoe UI"/>
              </a:rPr>
              <a:t>Los dos bajo 50</a:t>
            </a:r>
            <a:r>
              <a:rPr sz="950" b="0">
                <a:solidFill>
                  <a:srgbClr val="A9A5B4"/>
                </a:solidFill>
                <a:latin typeface="Segoe UI"/>
              </a:rPr>
              <a:t> → contracción confirmada. Señal fuerte.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50" b="1">
                <a:solidFill>
                  <a:srgbClr val="00DC82"/>
                </a:solidFill>
                <a:latin typeface="Segoe UI"/>
              </a:rPr>
              <a:t>Oficial sube y Caixin baja</a:t>
            </a:r>
            <a:r>
              <a:rPr sz="950" b="0">
                <a:solidFill>
                  <a:srgbClr val="A9A5B4"/>
                </a:solidFill>
                <a:latin typeface="Segoe UI"/>
              </a:rPr>
              <a:t> → el estímulo estatal funciona en las grandes, </a:t>
            </a:r>
            <a:r>
              <a:rPr sz="950" b="1">
                <a:solidFill>
                  <a:srgbClr val="00DC82"/>
                </a:solidFill>
                <a:latin typeface="Segoe UI"/>
              </a:rPr>
              <a:t>pero no llega a las pymes</a:t>
            </a:r>
            <a:r>
              <a:rPr sz="950" b="0">
                <a:solidFill>
                  <a:srgbClr val="A9A5B4"/>
                </a:solidFill>
                <a:latin typeface="Segoe UI"/>
              </a:rPr>
              <a:t>. Recuperación frágil.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50" b="1">
                <a:solidFill>
                  <a:srgbClr val="00DC82"/>
                </a:solidFill>
                <a:latin typeface="Segoe UI"/>
              </a:rPr>
              <a:t>Oficial baja y Caixin sube</a:t>
            </a:r>
            <a:r>
              <a:rPr sz="950" b="0">
                <a:solidFill>
                  <a:srgbClr val="A9A5B4"/>
                </a:solidFill>
                <a:latin typeface="Segoe UI"/>
              </a:rPr>
              <a:t> → la demanda de mercado repunta </a:t>
            </a:r>
            <a:r>
              <a:rPr sz="950" b="1">
                <a:solidFill>
                  <a:srgbClr val="00DC82"/>
                </a:solidFill>
                <a:latin typeface="Segoe UI"/>
              </a:rPr>
              <a:t>sin</a:t>
            </a:r>
            <a:r>
              <a:rPr sz="950" b="0">
                <a:solidFill>
                  <a:srgbClr val="A9A5B4"/>
                </a:solidFill>
                <a:latin typeface="Segoe UI"/>
              </a:rPr>
              <a:t> apoyo público. Más sano, aunque menos frecuente.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50" b="0">
                <a:solidFill>
                  <a:srgbClr val="A9A5B4"/>
                </a:solidFill>
                <a:latin typeface="Segoe UI"/>
              </a:rPr>
              <a:t>Leer solo uno de los dos es perder la mitad del mensaje.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5090160"/>
            <a:ext cx="10874959" cy="110947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58368" y="5090160"/>
            <a:ext cx="10874959" cy="2857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8" y="5236464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UN DETALLE DE HORARIO QUE HAY QUE TENER PRESENTE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529072"/>
            <a:ext cx="10509199" cy="542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China está </a:t>
            </a:r>
            <a:r>
              <a:rPr sz="1200" b="1">
                <a:solidFill>
                  <a:srgbClr val="FFFFFF"/>
                </a:solidFill>
                <a:latin typeface="Segoe UI"/>
              </a:rPr>
              <a:t>doce horas adelante</a:t>
            </a:r>
            <a:r>
              <a:rPr sz="1200" b="0">
                <a:solidFill>
                  <a:srgbClr val="A9A5B4"/>
                </a:solidFill>
                <a:latin typeface="Segoe UI"/>
              </a:rPr>
              <a:t> de Chile, así que estos datos salen cerca de las </a:t>
            </a:r>
            <a:r>
              <a:rPr sz="1200" b="1">
                <a:solidFill>
                  <a:srgbClr val="FFFFFF"/>
                </a:solidFill>
                <a:latin typeface="Segoe UI"/>
              </a:rPr>
              <a:t>21:30 de la noche anterior</a:t>
            </a:r>
            <a:r>
              <a:rPr sz="1200" b="0">
                <a:solidFill>
                  <a:srgbClr val="A9A5B4"/>
                </a:solidFill>
                <a:latin typeface="Segoe UI"/>
              </a:rPr>
              <a:t> a la fecha de su calendario. Cuando abrimos la jornada, el movimiento </a:t>
            </a:r>
            <a:r>
              <a:rPr sz="1200" b="1">
                <a:solidFill>
                  <a:srgbClr val="FFFFFF"/>
                </a:solidFill>
                <a:latin typeface="Segoe UI"/>
              </a:rPr>
              <a:t>ya empezó</a:t>
            </a:r>
            <a:r>
              <a:rPr sz="1200" b="0">
                <a:solidFill>
                  <a:srgbClr val="A9A5B4"/>
                </a:solidFill>
                <a:latin typeface="Segoe UI"/>
              </a:rPr>
              <a:t>: nuestro trabajo es evaluar si el mercado ya lo incorporó o si queda recorrido.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Contexto global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Por qué un dato de China mueve el dólar en Chile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43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La cadena completa, eslabón por eslabón. Es el ejemplo más claro de que interpretar es </a:t>
            </a:r>
            <a:r>
              <a:rPr sz="1350" b="1">
                <a:solidFill>
                  <a:srgbClr val="00DC82"/>
                </a:solidFill>
                <a:latin typeface="Segoe UI"/>
              </a:rPr>
              <a:t>seguir un mecanismo</a:t>
            </a:r>
            <a:r>
              <a:rPr sz="1350" b="0">
                <a:solidFill>
                  <a:srgbClr val="A9A5B4"/>
                </a:solidFill>
                <a:latin typeface="Segoe UI"/>
              </a:rPr>
              <a:t>, no memorizar una correlación.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95856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831848"/>
            <a:ext cx="1071036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Eslabón 1 · China es el mayor consumidor de cobre del mundo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68322"/>
            <a:ext cx="10710367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Su construcción, su infraestructura y su manufactura eléctrica absorben una parte enorme de la producción mundial.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481834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2417826"/>
            <a:ext cx="1071036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Eslabón 2 · El PMI anticipa esa demanda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4300"/>
            <a:ext cx="10710367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Si los gerentes de compra chinos reportan menos actividad, van a comprar </a:t>
            </a:r>
            <a:r>
              <a:rPr sz="1250" b="1">
                <a:solidFill>
                  <a:srgbClr val="00DC82"/>
                </a:solidFill>
                <a:latin typeface="Segoe UI"/>
              </a:rPr>
              <a:t>menos insumos</a:t>
            </a:r>
            <a:r>
              <a:rPr sz="1250" b="0">
                <a:solidFill>
                  <a:srgbClr val="A9A5B4"/>
                </a:solidFill>
                <a:latin typeface="Segoe UI"/>
              </a:rPr>
              <a:t>. El cobre es uno de los principales.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067812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3003804"/>
            <a:ext cx="1071036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Eslabón 3 · Menos demanda esperada baja el precio del cobre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40278"/>
            <a:ext cx="10710367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El cobre cotiza globalmente y responde a expectativas, no solo a compras concretadas.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3790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" y="3589782"/>
            <a:ext cx="1071036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Eslabón 4 · Chile recibe menos dólares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26256"/>
            <a:ext cx="10710367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El cobre es cerca de la mitad de las exportaciones chilenas. Si baja de precio, entra menos moneda extranjera al país.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239768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60" y="4175760"/>
            <a:ext cx="1071036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Eslabón 5 · El dólar se encarece frente al peso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12234"/>
            <a:ext cx="1071036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Menos oferta de dólares en el mercado local → </a:t>
            </a:r>
            <a:r>
              <a:rPr sz="1250" b="1">
                <a:solidFill>
                  <a:srgbClr val="00DC82"/>
                </a:solidFill>
                <a:latin typeface="Segoe UI"/>
              </a:rPr>
              <a:t>el USD/CLP sube</a:t>
            </a:r>
            <a:r>
              <a:rPr sz="1250" b="0">
                <a:solidFill>
                  <a:srgbClr val="A9A5B4"/>
                </a:solidFill>
                <a:latin typeface="Segoe UI"/>
              </a:rPr>
              <a:t> ⬆️. Y se suma el efecto de aversión al riesgo, que castiga a las monedas emergentes.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5073650"/>
            <a:ext cx="10874959" cy="112598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58368" y="5073650"/>
            <a:ext cx="10874959" cy="28575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8" y="5219954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LA MISMA CADENA, PARA EL PETRÓLEO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512562"/>
            <a:ext cx="10509199" cy="559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China es también el mayor importador de crudo del mundo. Un PMI chino débil implica </a:t>
            </a:r>
            <a:r>
              <a:rPr sz="1250" b="1">
                <a:solidFill>
                  <a:srgbClr val="FFFFFF"/>
                </a:solidFill>
                <a:latin typeface="Segoe UI"/>
              </a:rPr>
              <a:t>menos demanda de energía</a:t>
            </a:r>
            <a:r>
              <a:rPr sz="1250" b="0">
                <a:solidFill>
                  <a:srgbClr val="A9A5B4"/>
                </a:solidFill>
                <a:latin typeface="Segoe UI"/>
              </a:rPr>
              <a:t> → el petróleo WTI baja ⬇️. Es el mismo mecanismo aplicado a otro insumo: </a:t>
            </a:r>
            <a:r>
              <a:rPr sz="1250" b="1">
                <a:solidFill>
                  <a:srgbClr val="FFFFFF"/>
                </a:solidFill>
                <a:latin typeface="Segoe UI"/>
              </a:rPr>
              <a:t>entendida la cadena, se puede reconstruir para cualquier materia prima</a:t>
            </a:r>
            <a:r>
              <a:rPr sz="1250" b="0">
                <a:solidFill>
                  <a:srgbClr val="A9A5B4"/>
                </a:solidFill>
                <a:latin typeface="Segoe UI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Contexto global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1965960"/>
            <a:ext cx="1828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F5A524"/>
                </a:solidFill>
                <a:latin typeface="Consolas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95728" y="214884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Interpretar en la práctica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1448" y="3246120"/>
            <a:ext cx="7863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450" b="0">
                <a:solidFill>
                  <a:srgbClr val="A9A5B4"/>
                </a:solidFill>
                <a:latin typeface="Segoe UI"/>
              </a:rPr>
              <a:t>Tres publicaciones para leer de principio a fin, el método de lectura en seis pasos y los errores que hay que evitar.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1">
                <a:solidFill>
                  <a:srgbClr val="F5A524"/>
                </a:solidFill>
                <a:latin typeface="Segoe UI"/>
              </a:rPr>
              <a:t>EJERCICIO DE INTERPRETACIÓN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Ejercicio 1 · La inflación sorprende al alza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3490"/>
            <a:ext cx="960120" cy="3175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58368" y="1674114"/>
            <a:ext cx="3931920" cy="461695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674114"/>
            <a:ext cx="3931920" cy="2857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1820418"/>
            <a:ext cx="3566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EL DATO PUBLICADO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113026"/>
            <a:ext cx="3566160" cy="40500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Índice de precios al consumidor de EE.UU.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Subyacente mensual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Anterior: 0,2%  ·  Esperado: 0,2%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Efectivo: 0,4%</a:t>
            </a:r>
            <a:r>
              <a:rPr sz="1200" b="0">
                <a:solidFill>
                  <a:srgbClr val="A9A5B4"/>
                </a:solidFill>
                <a:latin typeface="Segoe UI"/>
              </a:rPr>
              <a:t>  🔥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Subyacente anual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Anterior: 3,1%  ·  Esperado: 3,1%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Efectivo: 3,3%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General mensual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Esperado: 0,3%  ·  Efectivo: 0,4%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Cifras ilustrativas: no corresponden a una publicación real.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64608" y="1674114"/>
            <a:ext cx="6668719" cy="219659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864608" y="1674114"/>
            <a:ext cx="6668719" cy="28575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47488" y="1820418"/>
            <a:ext cx="6302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CÓMO SE INTERPRETA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2113026"/>
            <a:ext cx="6302959" cy="1629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Paso 1 — la sorpresa:</a:t>
            </a:r>
            <a:r>
              <a:rPr sz="950" b="0">
                <a:solidFill>
                  <a:srgbClr val="A9A5B4"/>
                </a:solidFill>
                <a:latin typeface="Segoe UI"/>
              </a:rPr>
              <a:t> el subyacente mensual salió </a:t>
            </a:r>
            <a:r>
              <a:rPr sz="950" b="1">
                <a:solidFill>
                  <a:srgbClr val="FFFFFF"/>
                </a:solidFill>
                <a:latin typeface="Segoe UI"/>
              </a:rPr>
              <a:t>al doble</a:t>
            </a:r>
            <a:r>
              <a:rPr sz="950" b="0">
                <a:solidFill>
                  <a:srgbClr val="A9A5B4"/>
                </a:solidFill>
                <a:latin typeface="Segoe UI"/>
              </a:rPr>
              <a:t> de lo esperado. Es la cifra que más pesa, así que la sorpresa es de las grandes.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950" b="1">
                <a:solidFill>
                  <a:srgbClr val="FFFFFF"/>
                </a:solidFill>
                <a:latin typeface="Segoe UI"/>
              </a:rPr>
              <a:t>Paso 2 — ¿es de fondo?</a:t>
            </a:r>
            <a:r>
              <a:rPr sz="950" b="0">
                <a:solidFill>
                  <a:srgbClr val="A9A5B4"/>
                </a:solidFill>
                <a:latin typeface="Segoe UI"/>
              </a:rPr>
              <a:t> Sí: </a:t>
            </a:r>
            <a:r>
              <a:rPr sz="950" b="1">
                <a:solidFill>
                  <a:srgbClr val="FFFFFF"/>
                </a:solidFill>
                <a:latin typeface="Segoe UI"/>
              </a:rPr>
              <a:t>general y subyacente sorprenden en la misma dirección</a:t>
            </a:r>
            <a:r>
              <a:rPr sz="950" b="0">
                <a:solidFill>
                  <a:srgbClr val="A9A5B4"/>
                </a:solidFill>
                <a:latin typeface="Segoe UI"/>
              </a:rPr>
              <a:t>. No fue energía ni un alimento puntual — la presión está en el núcleo de la canasta.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950" b="1">
                <a:solidFill>
                  <a:srgbClr val="FFFFFF"/>
                </a:solidFill>
                <a:latin typeface="Segoe UI"/>
              </a:rPr>
              <a:t>Paso 3 — el anual confirma:</a:t>
            </a:r>
            <a:r>
              <a:rPr sz="950" b="0">
                <a:solidFill>
                  <a:srgbClr val="A9A5B4"/>
                </a:solidFill>
                <a:latin typeface="Segoe UI"/>
              </a:rPr>
              <a:t> subió en vez de bajar. Aunque hubiera efecto base favorable, no alcanzó a compensar.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950" b="1">
                <a:solidFill>
                  <a:srgbClr val="FFFFFF"/>
                </a:solidFill>
                <a:latin typeface="Segoe UI"/>
              </a:rPr>
              <a:t>Conclusión:</a:t>
            </a:r>
            <a:r>
              <a:rPr sz="950" b="0">
                <a:solidFill>
                  <a:srgbClr val="A9A5B4"/>
                </a:solidFill>
                <a:latin typeface="Segoe UI"/>
              </a:rPr>
              <a:t> la inflación </a:t>
            </a:r>
            <a:r>
              <a:rPr sz="950" b="1">
                <a:solidFill>
                  <a:srgbClr val="FFFFFF"/>
                </a:solidFill>
                <a:latin typeface="Segoe UI"/>
              </a:rPr>
              <a:t>no está cediendo</a:t>
            </a:r>
            <a:r>
              <a:rPr sz="950" b="0">
                <a:solidFill>
                  <a:srgbClr val="A9A5B4"/>
                </a:solidFill>
                <a:latin typeface="Segoe UI"/>
              </a:rPr>
              <a:t>, y la presión es amplia. Se aleja la posibilidad de que el banco central baje la tasa.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4608" y="4053586"/>
            <a:ext cx="6668719" cy="2237485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864608" y="4053586"/>
            <a:ext cx="6668719" cy="28575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47488" y="4199890"/>
            <a:ext cx="6302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4C8DFF"/>
                </a:solidFill>
                <a:latin typeface="Segoe UI"/>
              </a:rPr>
              <a:t>QUÉ DEBERÍA HACER EL PRECIO, Y POR QUÉ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4492498"/>
            <a:ext cx="6302959" cy="167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Dólar (DXY): sube</a:t>
            </a:r>
            <a:r>
              <a:rPr sz="950" b="0">
                <a:solidFill>
                  <a:srgbClr val="A9A5B4"/>
                </a:solidFill>
                <a:latin typeface="Segoe UI"/>
              </a:rPr>
              <a:t> ⬆️ — tasa alta por más tiempo significa mayor rendimiento, y el capital va donde le pagan más.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950" b="1">
                <a:solidFill>
                  <a:srgbClr val="FFFFFF"/>
                </a:solidFill>
                <a:latin typeface="Segoe UI"/>
              </a:rPr>
              <a:t>Oro: baja</a:t>
            </a:r>
            <a:r>
              <a:rPr sz="950" b="0">
                <a:solidFill>
                  <a:srgbClr val="A9A5B4"/>
                </a:solidFill>
                <a:latin typeface="Segoe UI"/>
              </a:rPr>
              <a:t> ⬇️ — no paga interés; si los bonos rinden más, pierde atractivo relativo. Y un dólar más caro lo encarece para el resto del mundo.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950" b="1">
                <a:solidFill>
                  <a:srgbClr val="FFFFFF"/>
                </a:solidFill>
                <a:latin typeface="Segoe UI"/>
              </a:rPr>
              <a:t>Nasdaq 100: baja</a:t>
            </a:r>
            <a:r>
              <a:rPr sz="950" b="0">
                <a:solidFill>
                  <a:srgbClr val="A9A5B4"/>
                </a:solidFill>
                <a:latin typeface="Segoe UI"/>
              </a:rPr>
              <a:t> ⬇️ — vale por ganancias futuras, y a tasa más alta esas ganancias valen menos hoy.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950" b="1">
                <a:solidFill>
                  <a:srgbClr val="FFFFFF"/>
                </a:solidFill>
                <a:latin typeface="Segoe UI"/>
              </a:rPr>
              <a:t>USD/CLP: sube</a:t>
            </a:r>
            <a:r>
              <a:rPr sz="950" b="0">
                <a:solidFill>
                  <a:srgbClr val="A9A5B4"/>
                </a:solidFill>
                <a:latin typeface="Segoe UI"/>
              </a:rPr>
              <a:t> ⬆️ — dólar global fuerte y menos apetito por riesgo emergente.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950" b="1">
                <a:solidFill>
                  <a:srgbClr val="FFFFFF"/>
                </a:solidFill>
                <a:latin typeface="Segoe UI"/>
              </a:rPr>
              <a:t>Temporalidad del impacto:</a:t>
            </a:r>
            <a:r>
              <a:rPr sz="950" b="0">
                <a:solidFill>
                  <a:srgbClr val="A9A5B4"/>
                </a:solidFill>
                <a:latin typeface="Segoe UI"/>
              </a:rPr>
              <a:t> intradía a swing de jornada (uno a tres días).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Interpretar en la práctica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1">
                <a:solidFill>
                  <a:srgbClr val="F5A524"/>
                </a:solidFill>
                <a:latin typeface="Segoe UI"/>
              </a:rPr>
              <a:t>EJERCICIO DE INTERPRETACIÓN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Ejercicio 2 · Un informe de empleo contradictorio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3490"/>
            <a:ext cx="960120" cy="3175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58368" y="1674114"/>
            <a:ext cx="3931920" cy="461695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674114"/>
            <a:ext cx="3931920" cy="2857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1820418"/>
            <a:ext cx="3566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EL DATO PUBLICADO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113026"/>
            <a:ext cx="3566160" cy="40500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Informe de empleo de EE.UU.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000" b="1">
                <a:solidFill>
                  <a:srgbClr val="FFFFFF"/>
                </a:solidFill>
                <a:latin typeface="Segoe UI"/>
              </a:rPr>
              <a:t>Nóminas no agrícolas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000" b="0">
                <a:solidFill>
                  <a:srgbClr val="A9A5B4"/>
                </a:solidFill>
                <a:latin typeface="Segoe UI"/>
              </a:rPr>
              <a:t>Esperado: 160 mil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000" b="1">
                <a:solidFill>
                  <a:srgbClr val="FFFFFF"/>
                </a:solidFill>
                <a:latin typeface="Segoe UI"/>
              </a:rPr>
              <a:t>Efectivo: 250 mil</a:t>
            </a:r>
            <a:r>
              <a:rPr sz="1000" b="0">
                <a:solidFill>
                  <a:srgbClr val="A9A5B4"/>
                </a:solidFill>
                <a:latin typeface="Segoe UI"/>
              </a:rPr>
              <a:t>  🔥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000" b="1">
                <a:solidFill>
                  <a:srgbClr val="FFFFFF"/>
                </a:solidFill>
                <a:latin typeface="Segoe UI"/>
              </a:rPr>
              <a:t>Tasa de desempleo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000" b="0">
                <a:solidFill>
                  <a:srgbClr val="A9A5B4"/>
                </a:solidFill>
                <a:latin typeface="Segoe UI"/>
              </a:rPr>
              <a:t>Anterior: 4,1%  ·  Esperado: 4,1%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000" b="1">
                <a:solidFill>
                  <a:srgbClr val="FFFFFF"/>
                </a:solidFill>
                <a:latin typeface="Segoe UI"/>
              </a:rPr>
              <a:t>Efectivo: 4,3%</a:t>
            </a:r>
            <a:r>
              <a:rPr sz="1000" b="0">
                <a:solidFill>
                  <a:srgbClr val="A9A5B4"/>
                </a:solidFill>
                <a:latin typeface="Segoe UI"/>
              </a:rPr>
              <a:t>  🔥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000" b="1">
                <a:solidFill>
                  <a:srgbClr val="FFFFFF"/>
                </a:solidFill>
                <a:latin typeface="Segoe UI"/>
              </a:rPr>
              <a:t>Salario por hora, anual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000" b="0">
                <a:solidFill>
                  <a:srgbClr val="A9A5B4"/>
                </a:solidFill>
                <a:latin typeface="Segoe UI"/>
              </a:rPr>
              <a:t>Esperado: 3,4%  ·  Efectivo: 3,4%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000" b="1">
                <a:solidFill>
                  <a:srgbClr val="FFFFFF"/>
                </a:solidFill>
                <a:latin typeface="Segoe UI"/>
              </a:rPr>
              <a:t>Tasa de participación:</a:t>
            </a:r>
            <a:r>
              <a:rPr sz="1000" b="0">
                <a:solidFill>
                  <a:srgbClr val="A9A5B4"/>
                </a:solidFill>
                <a:latin typeface="Segoe UI"/>
              </a:rPr>
              <a:t> sube de 62,4% a 62,8%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000" b="0">
                <a:solidFill>
                  <a:srgbClr val="A9A5B4"/>
                </a:solidFill>
                <a:latin typeface="Segoe UI"/>
              </a:rPr>
              <a:t>Cifras ilustrativas: no corresponden a una publicación real.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64608" y="1674114"/>
            <a:ext cx="6668719" cy="213055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864608" y="1674114"/>
            <a:ext cx="6668719" cy="28575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47488" y="1820418"/>
            <a:ext cx="6302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CÓMO SE INTERPRETA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2113026"/>
            <a:ext cx="6302959" cy="1563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FFFFFF"/>
                </a:solidFill>
                <a:latin typeface="Segoe UI"/>
              </a:rPr>
              <a:t>Paso 1 — la contradicción aparente:</a:t>
            </a:r>
            <a:r>
              <a:rPr sz="900" b="0">
                <a:solidFill>
                  <a:srgbClr val="A9A5B4"/>
                </a:solidFill>
                <a:latin typeface="Segoe UI"/>
              </a:rPr>
              <a:t> se crearon muchos más empleos de lo esperado, </a:t>
            </a:r>
            <a:r>
              <a:rPr sz="900" b="1">
                <a:solidFill>
                  <a:srgbClr val="FFFFFF"/>
                </a:solidFill>
                <a:latin typeface="Segoe UI"/>
              </a:rPr>
              <a:t>y sin embargo</a:t>
            </a:r>
            <a:r>
              <a:rPr sz="900" b="0">
                <a:solidFill>
                  <a:srgbClr val="A9A5B4"/>
                </a:solidFill>
                <a:latin typeface="Segoe UI"/>
              </a:rPr>
              <a:t> el desempleo subió. Parece imposible.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900" b="1">
                <a:solidFill>
                  <a:srgbClr val="FFFFFF"/>
                </a:solidFill>
                <a:latin typeface="Segoe UI"/>
              </a:rPr>
              <a:t>Paso 2 — la trampa de la participación, al revés:</a:t>
            </a:r>
            <a:r>
              <a:rPr sz="900" b="0">
                <a:solidFill>
                  <a:srgbClr val="A9A5B4"/>
                </a:solidFill>
                <a:latin typeface="Segoe UI"/>
              </a:rPr>
              <a:t> la participación </a:t>
            </a:r>
            <a:r>
              <a:rPr sz="900" b="1">
                <a:solidFill>
                  <a:srgbClr val="FFFFFF"/>
                </a:solidFill>
                <a:latin typeface="Segoe UI"/>
              </a:rPr>
              <a:t>subió</a:t>
            </a:r>
            <a:r>
              <a:rPr sz="900" b="0">
                <a:solidFill>
                  <a:srgbClr val="A9A5B4"/>
                </a:solidFill>
                <a:latin typeface="Segoe UI"/>
              </a:rPr>
              <a:t> 0,4 puntos. Entró más gente a buscar trabajo, y eso agranda el denominador de la tasa. Por eso sube el desempleo aunque haya más empleos.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900" b="1">
                <a:solidFill>
                  <a:srgbClr val="FFFFFF"/>
                </a:solidFill>
                <a:latin typeface="Segoe UI"/>
              </a:rPr>
              <a:t>Paso 3 — el árbitro son los salarios:</a:t>
            </a:r>
            <a:r>
              <a:rPr sz="900" b="0">
                <a:solidFill>
                  <a:srgbClr val="A9A5B4"/>
                </a:solidFill>
                <a:latin typeface="Segoe UI"/>
              </a:rPr>
              <a:t> salieron </a:t>
            </a:r>
            <a:r>
              <a:rPr sz="900" b="1">
                <a:solidFill>
                  <a:srgbClr val="FFFFFF"/>
                </a:solidFill>
                <a:latin typeface="Segoe UI"/>
              </a:rPr>
              <a:t>exactamente en línea</a:t>
            </a:r>
            <a:r>
              <a:rPr sz="900" b="0">
                <a:solidFill>
                  <a:srgbClr val="A9A5B4"/>
                </a:solidFill>
                <a:latin typeface="Segoe UI"/>
              </a:rPr>
              <a:t>. No hay presión de costos laborales, o sea </a:t>
            </a:r>
            <a:r>
              <a:rPr sz="900" b="1">
                <a:solidFill>
                  <a:srgbClr val="FFFFFF"/>
                </a:solidFill>
                <a:latin typeface="Segoe UI"/>
              </a:rPr>
              <a:t>no hay amenaza inflacionaria</a:t>
            </a:r>
            <a:r>
              <a:rPr sz="90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900" b="1">
                <a:solidFill>
                  <a:srgbClr val="FFFFFF"/>
                </a:solidFill>
                <a:latin typeface="Segoe UI"/>
              </a:rPr>
              <a:t>Conclusión:</a:t>
            </a:r>
            <a:r>
              <a:rPr sz="900" b="0">
                <a:solidFill>
                  <a:srgbClr val="A9A5B4"/>
                </a:solidFill>
                <a:latin typeface="Segoe UI"/>
              </a:rPr>
              <a:t> es </a:t>
            </a:r>
            <a:r>
              <a:rPr sz="900" b="1">
                <a:solidFill>
                  <a:srgbClr val="FFFFFF"/>
                </a:solidFill>
                <a:latin typeface="Segoe UI"/>
              </a:rPr>
              <a:t>crecimiento sin recalentamiento</a:t>
            </a:r>
            <a:r>
              <a:rPr sz="900" b="0">
                <a:solidFill>
                  <a:srgbClr val="A9A5B4"/>
                </a:solidFill>
                <a:latin typeface="Segoe UI"/>
              </a:rPr>
              <a:t> — la economía atrae trabajadores y los absorbe sin empujar los sueldos. Un buen escenario, aunque el titular sugiera lo contrario.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4608" y="3987546"/>
            <a:ext cx="6668719" cy="2303525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864608" y="3987546"/>
            <a:ext cx="6668719" cy="28575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47488" y="4133850"/>
            <a:ext cx="6302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4C8DFF"/>
                </a:solidFill>
                <a:latin typeface="Segoe UI"/>
              </a:rPr>
              <a:t>QUÉ DEBERÍA HACER EL PRECIO, Y POR QUÉ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4426458"/>
            <a:ext cx="6302959" cy="17365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FFFFFF"/>
                </a:solidFill>
                <a:latin typeface="Segoe UI"/>
              </a:rPr>
              <a:t>Reacción de los primeros segundos:</a:t>
            </a:r>
            <a:r>
              <a:rPr sz="900" b="0">
                <a:solidFill>
                  <a:srgbClr val="A9A5B4"/>
                </a:solidFill>
                <a:latin typeface="Segoe UI"/>
              </a:rPr>
              <a:t> el dólar </a:t>
            </a:r>
            <a:r>
              <a:rPr sz="900" b="1">
                <a:solidFill>
                  <a:srgbClr val="FFFFFF"/>
                </a:solidFill>
                <a:latin typeface="Segoe UI"/>
              </a:rPr>
              <a:t>sube</a:t>
            </a:r>
            <a:r>
              <a:rPr sz="900" b="0">
                <a:solidFill>
                  <a:srgbClr val="A9A5B4"/>
                </a:solidFill>
                <a:latin typeface="Segoe UI"/>
              </a:rPr>
              <a:t> ⬆️ y las bolsas </a:t>
            </a:r>
            <a:r>
              <a:rPr sz="900" b="1">
                <a:solidFill>
                  <a:srgbClr val="FFFFFF"/>
                </a:solidFill>
                <a:latin typeface="Segoe UI"/>
              </a:rPr>
              <a:t>bajan</a:t>
            </a:r>
            <a:r>
              <a:rPr sz="900" b="0">
                <a:solidFill>
                  <a:srgbClr val="A9A5B4"/>
                </a:solidFill>
                <a:latin typeface="Segoe UI"/>
              </a:rPr>
              <a:t> ⬇️, porque los algoritmos leen el titular de nóminas.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900" b="1">
                <a:solidFill>
                  <a:srgbClr val="FFFFFF"/>
                </a:solidFill>
                <a:latin typeface="Segoe UI"/>
              </a:rPr>
              <a:t>Reacción al leer el detalle:</a:t>
            </a:r>
            <a:r>
              <a:rPr sz="900" b="0">
                <a:solidFill>
                  <a:srgbClr val="A9A5B4"/>
                </a:solidFill>
                <a:latin typeface="Segoe UI"/>
              </a:rPr>
              <a:t> </a:t>
            </a:r>
            <a:r>
              <a:rPr sz="900" b="1">
                <a:solidFill>
                  <a:srgbClr val="FFFFFF"/>
                </a:solidFill>
                <a:latin typeface="Segoe UI"/>
              </a:rPr>
              <a:t>reversión</a:t>
            </a:r>
            <a:r>
              <a:rPr sz="900" b="0">
                <a:solidFill>
                  <a:srgbClr val="A9A5B4"/>
                </a:solidFill>
                <a:latin typeface="Segoe UI"/>
              </a:rPr>
              <a:t>. El dólar devuelve la subida y las bolsas recuperan, porque los salarios contenidos descartan la amenaza de inflación.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900" b="1">
                <a:solidFill>
                  <a:srgbClr val="FFFFFF"/>
                </a:solidFill>
                <a:latin typeface="Segoe UI"/>
              </a:rPr>
              <a:t>Escenario resultante:</a:t>
            </a:r>
            <a:r>
              <a:rPr sz="900" b="0">
                <a:solidFill>
                  <a:srgbClr val="A9A5B4"/>
                </a:solidFill>
                <a:latin typeface="Segoe UI"/>
              </a:rPr>
              <a:t> favorable para las bolsas ⬆️ y de dólar sin dirección clara.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900" b="1">
                <a:solidFill>
                  <a:srgbClr val="FFFFFF"/>
                </a:solidFill>
                <a:latin typeface="Segoe UI"/>
              </a:rPr>
              <a:t>La enseñanza operativa:</a:t>
            </a:r>
            <a:r>
              <a:rPr sz="900" b="0">
                <a:solidFill>
                  <a:srgbClr val="A9A5B4"/>
                </a:solidFill>
                <a:latin typeface="Segoe UI"/>
              </a:rPr>
              <a:t> con un dato mixto, </a:t>
            </a:r>
            <a:r>
              <a:rPr sz="900" b="1">
                <a:solidFill>
                  <a:srgbClr val="FFFFFF"/>
                </a:solidFill>
                <a:latin typeface="Segoe UI"/>
              </a:rPr>
              <a:t>el primer minuto es ruido</a:t>
            </a:r>
            <a:r>
              <a:rPr sz="900" b="0">
                <a:solidFill>
                  <a:srgbClr val="A9A5B4"/>
                </a:solidFill>
                <a:latin typeface="Segoe UI"/>
              </a:rPr>
              <a:t>. Quien opera el titular queda del lado equivocado de la reversión.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900" b="1">
                <a:solidFill>
                  <a:srgbClr val="FFFFFF"/>
                </a:solidFill>
                <a:latin typeface="Segoe UI"/>
              </a:rPr>
              <a:t>Temporalidad:</a:t>
            </a:r>
            <a:r>
              <a:rPr sz="900" b="0">
                <a:solidFill>
                  <a:srgbClr val="A9A5B4"/>
                </a:solidFill>
                <a:latin typeface="Segoe UI"/>
              </a:rPr>
              <a:t> intradía; la lectura de fondo, swing de jornada.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Interpretar en la práctica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1">
                <a:solidFill>
                  <a:srgbClr val="F5A524"/>
                </a:solidFill>
                <a:latin typeface="Segoe UI"/>
              </a:rPr>
              <a:t>EJERCICIO DE INTERPRETACIÓN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Ejercicio 3 · China se contrae y llega a Chile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3490"/>
            <a:ext cx="960120" cy="3175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58368" y="1674114"/>
            <a:ext cx="3931920" cy="4616958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674114"/>
            <a:ext cx="3931920" cy="2857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1820418"/>
            <a:ext cx="3566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EL DATO PUBLICADO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113026"/>
            <a:ext cx="3566160" cy="40500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Índices de gerentes de compra de China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PMI manufacturero oficial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Anterior: 50,3  ·  Esperado: 50,1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Efectivo: 49,2</a:t>
            </a:r>
            <a:r>
              <a:rPr sz="1200" b="0">
                <a:solidFill>
                  <a:srgbClr val="A9A5B4"/>
                </a:solidFill>
                <a:latin typeface="Segoe UI"/>
              </a:rPr>
              <a:t>  🔥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PMI Caixin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Anterior: 49,8  ·  Esperado: 49,9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Efectivo: 48,8</a:t>
            </a:r>
            <a:r>
              <a:rPr sz="1200" b="0">
                <a:solidFill>
                  <a:srgbClr val="A9A5B4"/>
                </a:solidFill>
                <a:latin typeface="Segoe UI"/>
              </a:rPr>
              <a:t>  🔥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Publicados:</a:t>
            </a:r>
            <a:r>
              <a:rPr sz="1200" b="0">
                <a:solidFill>
                  <a:srgbClr val="A9A5B4"/>
                </a:solidFill>
                <a:latin typeface="Segoe UI"/>
              </a:rPr>
              <a:t> 21:30 y 21:45 de Chile, </a:t>
            </a:r>
            <a:r>
              <a:rPr sz="1200" b="1">
                <a:solidFill>
                  <a:srgbClr val="FFFFFF"/>
                </a:solidFill>
                <a:latin typeface="Segoe UI"/>
              </a:rPr>
              <a:t>la noche anterior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Cifras ilustrativas: no corresponden a una publicación real.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64608" y="1674114"/>
            <a:ext cx="6668719" cy="188290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864608" y="1674114"/>
            <a:ext cx="6668719" cy="28575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47488" y="1820418"/>
            <a:ext cx="6302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CÓMO SE INTERPRETA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2113026"/>
            <a:ext cx="6302959" cy="13159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Paso 1 — los dos bajo 50:</a:t>
            </a:r>
            <a:r>
              <a:rPr sz="950" b="0">
                <a:solidFill>
                  <a:srgbClr val="A9A5B4"/>
                </a:solidFill>
                <a:latin typeface="Segoe UI"/>
              </a:rPr>
              <a:t> más empresas empeoran que mejoran. No es desaceleración: es </a:t>
            </a:r>
            <a:r>
              <a:rPr sz="950" b="1">
                <a:solidFill>
                  <a:srgbClr val="FFFFFF"/>
                </a:solidFill>
                <a:latin typeface="Segoe UI"/>
              </a:rPr>
              <a:t>contracción</a:t>
            </a:r>
            <a:r>
              <a:rPr sz="9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950" b="1">
                <a:solidFill>
                  <a:srgbClr val="FFFFFF"/>
                </a:solidFill>
                <a:latin typeface="Segoe UI"/>
              </a:rPr>
              <a:t>Paso 2 — los dos peor que lo esperado:</a:t>
            </a:r>
            <a:r>
              <a:rPr sz="950" b="0">
                <a:solidFill>
                  <a:srgbClr val="A9A5B4"/>
                </a:solidFill>
                <a:latin typeface="Segoe UI"/>
              </a:rPr>
              <a:t> hay sorpresa negativa genuina, no un resultado ya descontado.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950" b="1">
                <a:solidFill>
                  <a:srgbClr val="FFFFFF"/>
                </a:solidFill>
                <a:latin typeface="Segoe UI"/>
              </a:rPr>
              <a:t>Paso 3 — el contraste no salva nada:</a:t>
            </a:r>
            <a:r>
              <a:rPr sz="950" b="0">
                <a:solidFill>
                  <a:srgbClr val="A9A5B4"/>
                </a:solidFill>
                <a:latin typeface="Segoe UI"/>
              </a:rPr>
              <a:t> cuando ambas versiones caen juntas, el deterioro alcanza </a:t>
            </a:r>
            <a:r>
              <a:rPr sz="950" b="1">
                <a:solidFill>
                  <a:srgbClr val="FFFFFF"/>
                </a:solidFill>
                <a:latin typeface="Segoe UI"/>
              </a:rPr>
              <a:t>tanto a las grandes empresas como a las pymes exportadoras</a:t>
            </a:r>
            <a:r>
              <a:rPr sz="950" b="0">
                <a:solidFill>
                  <a:srgbClr val="A9A5B4"/>
                </a:solidFill>
                <a:latin typeface="Segoe UI"/>
              </a:rPr>
              <a:t>. Es la señal más fuerte que puede dar este par de indicadores.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950" b="1">
                <a:solidFill>
                  <a:srgbClr val="FFFFFF"/>
                </a:solidFill>
                <a:latin typeface="Segoe UI"/>
              </a:rPr>
              <a:t>Conclusión:</a:t>
            </a:r>
            <a:r>
              <a:rPr sz="950" b="0">
                <a:solidFill>
                  <a:srgbClr val="A9A5B4"/>
                </a:solidFill>
                <a:latin typeface="Segoe UI"/>
              </a:rPr>
              <a:t> menor demanda esperada de materias primas y de energía desde el mayor consumidor del mundo.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4608" y="3739896"/>
            <a:ext cx="6668719" cy="2551175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864608" y="3739896"/>
            <a:ext cx="6668719" cy="28575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47488" y="3886200"/>
            <a:ext cx="6302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4C8DFF"/>
                </a:solidFill>
                <a:latin typeface="Segoe UI"/>
              </a:rPr>
              <a:t>QUÉ DEBERÍA HACER EL PRECIO, Y POR QUÉ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4178808"/>
            <a:ext cx="6302959" cy="1984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Cobre: baja</a:t>
            </a:r>
            <a:r>
              <a:rPr sz="950" b="0">
                <a:solidFill>
                  <a:srgbClr val="A9A5B4"/>
                </a:solidFill>
                <a:latin typeface="Segoe UI"/>
              </a:rPr>
              <a:t> ⬇️ — China es el mayor consumidor y el precio responde a expectativas de demanda.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950" b="1">
                <a:solidFill>
                  <a:srgbClr val="FFFFFF"/>
                </a:solidFill>
                <a:latin typeface="Segoe UI"/>
              </a:rPr>
              <a:t>USD/CLP: sube</a:t>
            </a:r>
            <a:r>
              <a:rPr sz="950" b="0">
                <a:solidFill>
                  <a:srgbClr val="A9A5B4"/>
                </a:solidFill>
                <a:latin typeface="Segoe UI"/>
              </a:rPr>
              <a:t> ⬆️ — por dos vías que se suman: menos dólares de exportación llegando a Chile, y aversión al riesgo que castiga a las monedas emergentes.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950" b="1">
                <a:solidFill>
                  <a:srgbClr val="FFFFFF"/>
                </a:solidFill>
                <a:latin typeface="Segoe UI"/>
              </a:rPr>
              <a:t>Petróleo WTI: baja</a:t>
            </a:r>
            <a:r>
              <a:rPr sz="950" b="0">
                <a:solidFill>
                  <a:srgbClr val="A9A5B4"/>
                </a:solidFill>
                <a:latin typeface="Segoe UI"/>
              </a:rPr>
              <a:t> ⬇️ — China es el mayor importador de crudo; menos actividad es menos demanda de energía.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950" b="1">
                <a:solidFill>
                  <a:srgbClr val="FFFFFF"/>
                </a:solidFill>
                <a:latin typeface="Segoe UI"/>
              </a:rPr>
              <a:t>El factor horario:</a:t>
            </a:r>
            <a:r>
              <a:rPr sz="950" b="0">
                <a:solidFill>
                  <a:srgbClr val="A9A5B4"/>
                </a:solidFill>
                <a:latin typeface="Segoe UI"/>
              </a:rPr>
              <a:t> el dato salió </a:t>
            </a:r>
            <a:r>
              <a:rPr sz="950" b="1">
                <a:solidFill>
                  <a:srgbClr val="FFFFFF"/>
                </a:solidFill>
                <a:latin typeface="Segoe UI"/>
              </a:rPr>
              <a:t>21:30 de anoche</a:t>
            </a:r>
            <a:r>
              <a:rPr sz="950" b="0">
                <a:solidFill>
                  <a:srgbClr val="A9A5B4"/>
                </a:solidFill>
                <a:latin typeface="Segoe UI"/>
              </a:rPr>
              <a:t>. Al abrir, parte del movimiento ya ocurrió — la pregunta a resolver es </a:t>
            </a:r>
            <a:r>
              <a:rPr sz="950" b="1">
                <a:solidFill>
                  <a:srgbClr val="FFFFFF"/>
                </a:solidFill>
                <a:latin typeface="Segoe UI"/>
              </a:rPr>
              <a:t>si el mercado ya lo incorporó del todo o queda recorrido</a:t>
            </a:r>
            <a:r>
              <a:rPr sz="950" b="0">
                <a:solidFill>
                  <a:srgbClr val="A9A5B4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950" b="1">
                <a:solidFill>
                  <a:srgbClr val="FFFFFF"/>
                </a:solidFill>
                <a:latin typeface="Segoe UI"/>
              </a:rPr>
              <a:t>Temporalidad:</a:t>
            </a:r>
            <a:r>
              <a:rPr sz="950" b="0">
                <a:solidFill>
                  <a:srgbClr val="A9A5B4"/>
                </a:solidFill>
                <a:latin typeface="Segoe UI"/>
              </a:rPr>
              <a:t> swing de jornada (uno a tres días).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Interpretar en la práctica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El método: seis pasos para leer cualquier publicación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Aplicable a un dato de EE.UU., de Chile o de China. Si lo sigues en orden, no necesitas recordar tablas.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79829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615821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Paso 1 · Antes de que salga, anota el consenso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52295"/>
            <a:ext cx="504428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Sin consenso no hay sorpresa que medir, y sin sorpresa no hay lectura posible. Anótalo </a:t>
            </a:r>
            <a:r>
              <a:rPr sz="1250" b="1">
                <a:solidFill>
                  <a:srgbClr val="00DC82"/>
                </a:solidFill>
                <a:latin typeface="Segoe UI"/>
              </a:rPr>
              <a:t>antes</a:t>
            </a:r>
            <a:r>
              <a:rPr sz="1250" b="0">
                <a:solidFill>
                  <a:srgbClr val="A9A5B4"/>
                </a:solidFill>
                <a:latin typeface="Segoe UI"/>
              </a:rPr>
              <a:t>, nunca después.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469007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2404999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Paso 2 · Define de antemano las tres reacciones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41473"/>
            <a:ext cx="504428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Qué vas a concluir si sale mejor, peor o en línea. Decidirlo antes evita improvisar bajo la volatilidad del momento.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58185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3194177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Paso 3 · Al salir, mide la sorpresa en la cifra que pesa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30651"/>
            <a:ext cx="504428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No en el titular: en la sub-lectura relevante — el subyacente mensual, el grupo de control, el PMI de servicios.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4447" y="1679829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89039" y="1615821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Paso 4 · Verifica coherencia interna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9039" y="1852295"/>
            <a:ext cx="504428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¿Las sub-lecturas apuntan en la misma dirección? ¿Hubo revisiones al pasado? Si el informe se contradice, la señal es débil.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4447" y="2469007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89039" y="2404999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Paso 5 · Traduce a expectativa de tasa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9039" y="2641473"/>
            <a:ext cx="5044287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La pregunta única: </a:t>
            </a:r>
            <a:r>
              <a:rPr sz="1250" b="1">
                <a:solidFill>
                  <a:srgbClr val="00DC82"/>
                </a:solidFill>
                <a:latin typeface="Segoe UI"/>
              </a:rPr>
              <a:t>¿esto le da al banco central una razón para apretar o para aflojar?</a:t>
            </a:r>
            <a:r>
              <a:rPr sz="1250" b="0">
                <a:solidFill>
                  <a:srgbClr val="A9A5B4"/>
                </a:solidFill>
                <a:latin typeface="Segoe UI"/>
              </a:rPr>
              <a:t> De la respuesta se deduce la dirección del precio.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4447" y="3461385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89039" y="3397377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Paso 6 · Recién ahí mira el gráfico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3633851"/>
            <a:ext cx="504428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El nivel técnico dice </a:t>
            </a:r>
            <a:r>
              <a:rPr sz="1250" b="1">
                <a:solidFill>
                  <a:srgbClr val="00DC82"/>
                </a:solidFill>
                <a:latin typeface="Segoe UI"/>
              </a:rPr>
              <a:t>dónde</a:t>
            </a:r>
            <a:r>
              <a:rPr sz="1250" b="0">
                <a:solidFill>
                  <a:srgbClr val="A9A5B4"/>
                </a:solidFill>
                <a:latin typeface="Segoe UI"/>
              </a:rPr>
              <a:t>; el fundamental dice </a:t>
            </a:r>
            <a:r>
              <a:rPr sz="1250" b="1">
                <a:solidFill>
                  <a:srgbClr val="00DC82"/>
                </a:solidFill>
                <a:latin typeface="Segoe UI"/>
              </a:rPr>
              <a:t>por qué</a:t>
            </a:r>
            <a:r>
              <a:rPr sz="1250" b="0">
                <a:solidFill>
                  <a:srgbClr val="A9A5B4"/>
                </a:solidFill>
                <a:latin typeface="Segoe UI"/>
              </a:rPr>
              <a:t> y </a:t>
            </a:r>
            <a:r>
              <a:rPr sz="1250" b="1">
                <a:solidFill>
                  <a:srgbClr val="00DC82"/>
                </a:solidFill>
                <a:latin typeface="Segoe UI"/>
              </a:rPr>
              <a:t>hacia dónde</a:t>
            </a:r>
            <a:r>
              <a:rPr sz="1250" b="0">
                <a:solidFill>
                  <a:srgbClr val="A9A5B4"/>
                </a:solidFill>
                <a:latin typeface="Segoe UI"/>
              </a:rPr>
              <a:t>. Los dos juntos son un análisis; cada uno solo, la mitad.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351147"/>
            <a:ext cx="10874959" cy="1332357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58368" y="4351147"/>
            <a:ext cx="10874959" cy="28575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41248" y="4497451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REGLA DE PRUDENCIA OPERATIVA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4790059"/>
            <a:ext cx="10509199" cy="7654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En los minutos previos a un dato de alto impacto, la liquidez baja y la diferencia entre precio de compra y de venta se abre. El movimiento de los primeros segundos es en buena medida aleatorio: </a:t>
            </a:r>
            <a:r>
              <a:rPr sz="1250" b="1">
                <a:solidFill>
                  <a:srgbClr val="FFFFFF"/>
                </a:solidFill>
                <a:latin typeface="Segoe UI"/>
              </a:rPr>
              <a:t>conviene esperar el cierre de la primera vela de 15 minutos antes de concluir algo</a:t>
            </a:r>
            <a:r>
              <a:rPr sz="1250" b="0">
                <a:solidFill>
                  <a:srgbClr val="A9A5B4"/>
                </a:solidFill>
                <a:latin typeface="Segoe UI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Interpretar en la práctica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Ocho errores de interpretación que hay que evitar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E8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Todos son fáciles de cometer y todos se corrigen con los conceptos del bloque 0.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615821"/>
          <a:ext cx="10874958" cy="27480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62487"/>
                <a:gridCol w="3914985"/>
                <a:gridCol w="3697486"/>
              </a:tblGrid>
              <a:tr h="24968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E84040"/>
                          </a:solidFill>
                          <a:latin typeface="Segoe UI"/>
                        </a:rPr>
                        <a:t>EL ERROR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E84040"/>
                          </a:solidFill>
                          <a:latin typeface="Segoe UI"/>
                        </a:rPr>
                        <a:t>POR QUÉ FALLA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E84040"/>
                          </a:solidFill>
                          <a:latin typeface="Segoe UI"/>
                        </a:rPr>
                        <a:t>LA CORRECCIÓN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Leer solo la cifra efectiva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Un número sin referencia no significa nada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Compararla </a:t>
                      </a: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siempre</a:t>
                      </a: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 contra el consenso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Quedarse en el titular anual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Arrastra el efecto base, que ya era conocido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Mirar la </a:t>
                      </a: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variación mensual subyacente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  <a:tr h="43383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Asumir que buena noticia económica es buena para la bolsa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Depende de si obliga a mantener la tasa alta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Preguntarse antes </a:t>
                      </a: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qué problema le preocupa hoy al mercado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43383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Leer la tasa de desempleo sin la participación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Puede bajar porque la gente dejó de buscar trabajo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Revisar siempre la </a:t>
                      </a: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tasa de participación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Ignorar las revisiones del empleo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Cambian la foto más que el dato del mes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Leer los dos meses corregidos antes de concluir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Convertir horas con un desfase fijo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Chile y EE.UU. cambian de horario en meses distintos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Confirmar la hora </a:t>
                      </a: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en el calendario</a:t>
                      </a: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, cada vez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Operar el primer minuto de un dato mixto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El mercado reacciona al titular y luego revierte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Esperar a que cierre la primera vela de 15 minutos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Tratar la correlación como una ley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Dólar y oro suben juntos en episodios de refugio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Identificar en qué </a:t>
                      </a: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régimen</a:t>
                      </a: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 está el mercado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Interpretar en la práctica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Cómo explicárselo al cliente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El último tramo, y el que define si el análisis sirve. Un dato bien interpretado y mal comunicado </a:t>
            </a:r>
            <a:r>
              <a:rPr sz="1350" b="1">
                <a:solidFill>
                  <a:srgbClr val="00DC82"/>
                </a:solidFill>
                <a:latin typeface="Segoe UI"/>
              </a:rPr>
              <a:t>no llega</a:t>
            </a:r>
            <a:r>
              <a:rPr sz="1350" b="0">
                <a:solidFill>
                  <a:srgbClr val="A9A5B4"/>
                </a:solidFill>
                <a:latin typeface="Segoe UI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79829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615821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La regla de los 30 segundos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52295"/>
            <a:ext cx="5044287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Si un cliente sin experiencia no entiende el mensaje en menos de medio minuto, hay que reescribirlo más simple. «Más simple» </a:t>
            </a:r>
            <a:r>
              <a:rPr sz="1250" b="1">
                <a:solidFill>
                  <a:srgbClr val="00DC82"/>
                </a:solidFill>
                <a:latin typeface="Segoe UI"/>
              </a:rPr>
              <a:t>nunca</a:t>
            </a:r>
            <a:r>
              <a:rPr sz="1250" b="0">
                <a:solidFill>
                  <a:srgbClr val="A9A5B4"/>
                </a:solidFill>
                <a:latin typeface="Segoe UI"/>
              </a:rPr>
              <a:t> significa «sin dirección».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672207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2608199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Toda sigla se explica la primera vez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44673"/>
            <a:ext cx="504428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Nombre en español, sigla entre paréntesis una sola vez, y una línea de explicación. Nunca «el core PCE salió hot».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461385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3397377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Siempre nombra la dirección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3851"/>
            <a:ext cx="5044287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El cliente debe terminar de leer sabiendo </a:t>
            </a:r>
            <a:r>
              <a:rPr sz="1250" b="1">
                <a:solidFill>
                  <a:srgbClr val="00DC82"/>
                </a:solidFill>
                <a:latin typeface="Segoe UI"/>
              </a:rPr>
              <a:t>hacia dónde apunta el activo</a:t>
            </a:r>
            <a:r>
              <a:rPr sz="1250" b="0">
                <a:solidFill>
                  <a:srgbClr val="A9A5B4"/>
                </a:solidFill>
                <a:latin typeface="Segoe UI"/>
              </a:rPr>
              <a:t>. Un análisis que no deja clara la dirección está incompleto.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4447" y="1679829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89039" y="1615821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Estructura de tres líneas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9039" y="1852295"/>
            <a:ext cx="504428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>
                <a:solidFill>
                  <a:srgbClr val="00DC82"/>
                </a:solidFill>
                <a:latin typeface="Segoe UI"/>
              </a:rPr>
              <a:t>Qué pasó</a:t>
            </a:r>
            <a:r>
              <a:rPr sz="1250" b="0">
                <a:solidFill>
                  <a:srgbClr val="A9A5B4"/>
                </a:solidFill>
                <a:latin typeface="Segoe UI"/>
              </a:rPr>
              <a:t> (el dato y su sorpresa) · </a:t>
            </a:r>
            <a:r>
              <a:rPr sz="1250" b="1">
                <a:solidFill>
                  <a:srgbClr val="00DC82"/>
                </a:solidFill>
                <a:latin typeface="Segoe UI"/>
              </a:rPr>
              <a:t>por qué importa</a:t>
            </a:r>
            <a:r>
              <a:rPr sz="1250" b="0">
                <a:solidFill>
                  <a:srgbClr val="A9A5B4"/>
                </a:solidFill>
                <a:latin typeface="Segoe UI"/>
              </a:rPr>
              <a:t> (el efecto en la tasa) · </a:t>
            </a:r>
            <a:r>
              <a:rPr sz="1250" b="1">
                <a:solidFill>
                  <a:srgbClr val="00DC82"/>
                </a:solidFill>
                <a:latin typeface="Segoe UI"/>
              </a:rPr>
              <a:t>qué esperar</a:t>
            </a:r>
            <a:r>
              <a:rPr sz="1250" b="0">
                <a:solidFill>
                  <a:srgbClr val="A9A5B4"/>
                </a:solidFill>
                <a:latin typeface="Segoe UI"/>
              </a:rPr>
              <a:t> (la dirección del activo).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4447" y="2469007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89039" y="2404999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Énfasis direccional sí, dramatización 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9039" y="2641473"/>
            <a:ext cx="5044287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Se dice «sesgo bajista» o «presión vendedora». No se dice «se va a derrumbar» ni se le atribuyen sensaciones al mercado.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4447" y="3258185"/>
            <a:ext cx="22225" cy="173736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89039" y="3194177"/>
            <a:ext cx="5044287" cy="181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Explica el mecanismo, no solo el resultado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3430651"/>
            <a:ext cx="5044287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«El dólar sube porque la inflación alta obliga a mantener las tasas altas, y eso atrae capital» enseña. «El dólar sube» solo informa.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554347"/>
            <a:ext cx="10874959" cy="1332357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58368" y="4554347"/>
            <a:ext cx="10874959" cy="28575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41248" y="4700651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00DC82"/>
                </a:solidFill>
                <a:latin typeface="Segoe UI"/>
              </a:rPr>
              <a:t>EJEMPLO DE UN MISMO DATO, MAL Y BIEN COMUNICADO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4993259"/>
            <a:ext cx="10509199" cy="7654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A9A5B4"/>
                </a:solidFill>
                <a:latin typeface="Segoe UI"/>
              </a:rPr>
              <a:t>❌ «Core CPI hot, 40 puntos base sobre consenso, hawkish para la Fed, largos en DXY.»   ✅ «Los precios en Estados Unidos subieron más de lo esperado. Eso significa que su banco central no podrá abaratar el dinero pronto, y cuando el dinero se mantiene caro el dólar se fortalece. Sesgo alcista para el dólar hoy.»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Interpretar en la práctica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75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Diccionario rápido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9170"/>
            <a:ext cx="960120" cy="3175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162050"/>
            <a:ext cx="10874959" cy="216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A9A5B4"/>
                </a:solidFill>
                <a:latin typeface="Segoe UI"/>
              </a:rPr>
              <a:t>Las siglas y expresiones que aparecieron en esta capacitación, en una sola página para tener a mano.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615821"/>
          <a:ext cx="10874957" cy="32915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7492"/>
                <a:gridCol w="3262487"/>
                <a:gridCol w="5654978"/>
              </a:tblGrid>
              <a:tr h="24968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00DC82"/>
                          </a:solidFill>
                          <a:latin typeface="Segoe UI"/>
                        </a:rPr>
                        <a:t>SIGLA O TÉRMINO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00DC82"/>
                          </a:solidFill>
                          <a:latin typeface="Segoe UI"/>
                        </a:rPr>
                        <a:t>NOMBRE EN ESPAÑOL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950" b="1">
                          <a:solidFill>
                            <a:srgbClr val="00DC82"/>
                          </a:solidFill>
                          <a:latin typeface="Segoe UI"/>
                        </a:rPr>
                        <a:t>EN UNA LÍNEA</a:t>
                      </a:r>
                    </a:p>
                  </a:txBody>
                  <a:tcPr marL="118872" marR="118872" marT="54864" marB="54864" anchor="ctr">
                    <a:solidFill>
                      <a:srgbClr val="1E1E36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IPC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Índice de precios al consumidor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Cuánto subieron los precios que paga la gente. La inflación más conocida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IPP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Índice de precios al productor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Precios de fábrica antes de llegar al consumidor; anticipa la inflación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PCE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Gasto en consumo personal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La medida de inflación que el banco central de EE.UU. usa como meta (2%)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PIB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Producto interno bruto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Todo lo que produce un país; mide si la economía crece o se contrae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  <a:tr h="43383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Subyacente
(core)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Sin alimentos ni energía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La inflación sin los componentes volátiles; muestra la tendencia de fondo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PMI / ISM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Índice de gerentes de compra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Encuesta a empresas; sobre 50 la actividad se expande, bajo 50 se contrae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  <a:tr h="433832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Nóminas
(NFP)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Nóminas no agrícolas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Cuántos empleos creó EE.UU. el mes pasado, sin contar el campo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IMACEC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Índice mensual de actividad económica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El termómetro mensual de la economía chilena, del Banco Central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TPM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Tasa de política monetaria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La tasa de interés que fija el Banco Central de Chile</a:t>
                      </a:r>
                    </a:p>
                  </a:txBody>
                  <a:tcPr marL="118872" marR="118872" marT="54864" marB="54864" anchor="ctr">
                    <a:solidFill>
                      <a:srgbClr val="16162A"/>
                    </a:solidFill>
                  </a:tcPr>
                </a:tc>
              </a:tr>
              <a:tr h="271780"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DXY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Índice del dólar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1100" b="0">
                          <a:solidFill>
                            <a:srgbClr val="A9A5B4"/>
                          </a:solidFill>
                          <a:latin typeface="Segoe UI"/>
                        </a:rPr>
                        <a:t>El valor del dólar contra seis monedas; casi 60% de su peso es el euro</a:t>
                      </a:r>
                    </a:p>
                  </a:txBody>
                  <a:tcPr marL="118872" marR="118872" marT="54864" marB="54864" anchor="ctr">
                    <a:solidFill>
                      <a:srgbClr val="0D0D1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400800"/>
            <a:ext cx="101434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Segoe UI"/>
              </a:rPr>
              <a:t>Área de Estudios y Post-Venta · GI  ·  Interpretar en la práctica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4008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4000"/>
              </a:lnSpc>
            </a:pPr>
            <a:r>
              <a:rPr sz="850" b="0">
                <a:solidFill>
                  <a:srgbClr val="6E6A7C"/>
                </a:solidFill>
                <a:latin typeface="Consola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D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1">
                <a:solidFill>
                  <a:srgbClr val="00DC82"/>
                </a:solidFill>
                <a:latin typeface="Segoe U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6304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Segoe UI"/>
              </a:rPr>
              <a:t>Naturaleza del contenido y proceso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121408"/>
            <a:ext cx="10874959" cy="178003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2121408"/>
            <a:ext cx="10874959" cy="2857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2267712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F5A524"/>
                </a:solidFill>
                <a:latin typeface="Segoe UI"/>
              </a:rPr>
              <a:t>ADVERTENCIA Y NATURALEZA DE ESTE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560320"/>
            <a:ext cx="10509199" cy="1213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Este documento es </a:t>
            </a:r>
            <a:r>
              <a:rPr sz="1200" b="1">
                <a:solidFill>
                  <a:srgbClr val="FFFFFF"/>
                </a:solidFill>
                <a:latin typeface="Segoe UI"/>
              </a:rPr>
              <a:t>material educativo de uso interno</a:t>
            </a:r>
            <a:r>
              <a:rPr sz="1200" b="0">
                <a:solidFill>
                  <a:srgbClr val="A9A5B4"/>
                </a:solidFill>
                <a:latin typeface="Segoe UI"/>
              </a:rPr>
              <a:t>, elaborado para la formación del equipo comercial y de los IBS. </a:t>
            </a:r>
            <a:r>
              <a:rPr sz="1200" b="1">
                <a:solidFill>
                  <a:srgbClr val="FFFFFF"/>
                </a:solidFill>
                <a:latin typeface="Segoe UI"/>
              </a:rPr>
              <a:t>No constituye una recomendación de inversión</a:t>
            </a:r>
            <a:r>
              <a:rPr sz="1200" b="0">
                <a:solidFill>
                  <a:srgbClr val="A9A5B4"/>
                </a:solidFill>
                <a:latin typeface="Segoe UI"/>
              </a:rPr>
              <a:t> ni una asesoría personalizada, y no debe distribuirse a clientes en esta forma.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Todas las cifras usadas en los ejemplos son </a:t>
            </a:r>
            <a:r>
              <a:rPr sz="1200" b="1">
                <a:solidFill>
                  <a:srgbClr val="FFFFFF"/>
                </a:solidFill>
                <a:latin typeface="Segoe UI"/>
              </a:rPr>
              <a:t>ilustrativas</a:t>
            </a:r>
            <a:r>
              <a:rPr sz="1200" b="0">
                <a:solidFill>
                  <a:srgbClr val="A9A5B4"/>
                </a:solidFill>
                <a:latin typeface="Segoe UI"/>
              </a:rPr>
              <a:t> y no corresponden a publicaciones reales. Las referencias de precio describen </a:t>
            </a:r>
            <a:r>
              <a:rPr sz="1200" b="1">
                <a:solidFill>
                  <a:srgbClr val="FFFFFF"/>
                </a:solidFill>
                <a:latin typeface="Segoe UI"/>
              </a:rPr>
              <a:t>mecanismos de mercado</a:t>
            </a:r>
            <a:r>
              <a:rPr sz="1200" b="0">
                <a:solidFill>
                  <a:srgbClr val="A9A5B4"/>
                </a:solidFill>
                <a:latin typeface="Segoe UI"/>
              </a:rPr>
              <a:t>, no pronósticos: el comportamiento efectivo de un activo depende del contexto, del posicionamiento previo y de factores no contenidos en un solo dato.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066032"/>
            <a:ext cx="10874959" cy="1383792"/>
          </a:xfrm>
          <a:prstGeom prst="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58368" y="4066032"/>
            <a:ext cx="10874959" cy="28575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41248" y="4212336"/>
            <a:ext cx="105091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>
                <a:solidFill>
                  <a:srgbClr val="4C8DFF"/>
                </a:solidFill>
                <a:latin typeface="Segoe UI"/>
              </a:rPr>
              <a:t>VALIDACIÓN DE CONTENIDO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504944"/>
            <a:ext cx="10509199" cy="816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Todo análisis de mercado, informe o material que se vaya a difundir —cualquiera sea el canal— pasa por el </a:t>
            </a:r>
            <a:r>
              <a:rPr sz="1200" b="1">
                <a:solidFill>
                  <a:srgbClr val="FFFFFF"/>
                </a:solidFill>
                <a:latin typeface="Segoe UI"/>
              </a:rPr>
              <a:t>Área de Estudios y Post-Venta</a:t>
            </a:r>
            <a:r>
              <a:rPr sz="1200" b="0">
                <a:solidFill>
                  <a:srgbClr val="A9A5B4"/>
                </a:solidFill>
                <a:latin typeface="Segoe UI"/>
              </a:rPr>
              <a:t> para su validación y verificación previa, con el fin de que la naturaleza del contenido quede clara y explícita.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A9A5B4"/>
                </a:solidFill>
                <a:latin typeface="Segoe UI"/>
              </a:rPr>
              <a:t>Cualquier duda sobre qué se puede afirmar, mostrar o recomendar se resuelve directamente con el área.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87568"/>
            <a:ext cx="10874959" cy="472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Benjamín Ignacio Bravo Soza</a:t>
            </a:r>
            <a:r>
              <a:rPr sz="1200" b="0">
                <a:solidFill>
                  <a:srgbClr val="A9A5B4"/>
                </a:solidFill>
                <a:latin typeface="Segoe UI"/>
              </a:rPr>
              <a:t> — Ingeniero en Finanzas · Diplomado en Gestión de Riesgos bajo estándar PMI · Operador Acreditado CMV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A9A5B4"/>
                </a:solidFill>
                <a:latin typeface="Segoe UI"/>
              </a:rPr>
              <a:t>Área de Estudios y Post-Venta · Grupo de Análisis de Mercado — GI · 31 de julio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